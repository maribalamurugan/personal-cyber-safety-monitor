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 name="PlaceHolder 2"/>
          <p:cNvSpPr>
            <a:spLocks noGrp="1"/>
          </p:cNvSpPr>
          <p:nvPr>
            <p:ph type="ftr" idx="2"/>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 name="PlaceHolder 3"/>
          <p:cNvSpPr>
            <a:spLocks noGrp="1"/>
          </p:cNvSpPr>
          <p:nvPr>
            <p:ph type="sldNum" idx="3"/>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5A69E26C-906D-4940-8B9C-C0D6E6A7FAB3}"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
        <p:nvSpPr>
          <p:cNvPr id="5" name="PlaceHolder 4"/>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6" name="PlaceHolder 5"/>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2880"/>
            <a:ext cx="3007440" cy="11613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8" name="PlaceHolder 2"/>
          <p:cNvSpPr>
            <a:spLocks noGrp="1"/>
          </p:cNvSpPr>
          <p:nvPr>
            <p:ph type="body"/>
          </p:nvPr>
        </p:nvSpPr>
        <p:spPr>
          <a:xfrm>
            <a:off x="3575160" y="272880"/>
            <a:ext cx="5110920" cy="585252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9" name="PlaceHolder 3"/>
          <p:cNvSpPr>
            <a:spLocks noGrp="1"/>
          </p:cNvSpPr>
          <p:nvPr>
            <p:ph type="body"/>
          </p:nvPr>
        </p:nvSpPr>
        <p:spPr>
          <a:xfrm>
            <a:off x="457200" y="1434960"/>
            <a:ext cx="3007440" cy="469044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10" name="PlaceHolder 4"/>
          <p:cNvSpPr>
            <a:spLocks noGrp="1"/>
          </p:cNvSpPr>
          <p:nvPr>
            <p:ph type="dt" idx="4"/>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1" name="PlaceHolder 5"/>
          <p:cNvSpPr>
            <a:spLocks noGrp="1"/>
          </p:cNvSpPr>
          <p:nvPr>
            <p:ph type="ftr" idx="5"/>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2" name="PlaceHolder 6"/>
          <p:cNvSpPr>
            <a:spLocks noGrp="1"/>
          </p:cNvSpPr>
          <p:nvPr>
            <p:ph type="sldNum" idx="6"/>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835D1F77-847E-4A41-8FEB-05605E9551F4}"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1792440" y="4800600"/>
            <a:ext cx="5485680" cy="56592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14" name="PlaceHolder 2"/>
          <p:cNvSpPr>
            <a:spLocks noGrp="1"/>
          </p:cNvSpPr>
          <p:nvPr>
            <p:ph type="body"/>
          </p:nvPr>
        </p:nvSpPr>
        <p:spPr>
          <a:xfrm>
            <a:off x="1792440" y="612720"/>
            <a:ext cx="5485680" cy="4114080"/>
          </a:xfrm>
          <a:prstGeom prst="rect">
            <a:avLst/>
          </a:prstGeom>
          <a:noFill/>
          <a:ln w="0">
            <a:noFill/>
          </a:ln>
        </p:spPr>
        <p:txBody>
          <a:bodyPr lIns="90000" tIns="45000" rIns="90000" bIns="45000" anchor="t">
            <a:noAutofit/>
          </a:bodyPr>
          <a:lstStyle>
            <a:lvl1pPr algn="l" defTabSz="457200">
              <a:lnSpc>
                <a:spcPct val="100000"/>
              </a:lnSpc>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7pPr>
          </a:lstStyle>
          <a:p>
            <a:pPr marL="432000" indent="-324000" algn="l" defTabSz="457200">
              <a:lnSpc>
                <a:spcPct val="100000"/>
              </a:lnSpc>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indent="-324000" algn="l" defTabSz="457200">
              <a:lnSpc>
                <a:spcPct val="100000"/>
              </a:lnSpc>
              <a:spcBef>
                <a:spcPts val="561"/>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indent="-288000" algn="l" defTabSz="457200">
              <a:lnSpc>
                <a:spcPct val="100000"/>
              </a:lnSpc>
              <a:spcBef>
                <a:spcPts val="479"/>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indent="-216000" algn="l" defTabSz="457200">
              <a:lnSpc>
                <a:spcPct val="100000"/>
              </a:lnSpc>
              <a:spcBef>
                <a:spcPts val="400"/>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indent="-216000" algn="l" defTabSz="457200">
              <a:lnSpc>
                <a:spcPct val="100000"/>
              </a:lnSpc>
              <a:spcBef>
                <a:spcPts val="400"/>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indent="-216000" algn="l" defTabSz="457200">
              <a:lnSpc>
                <a:spcPct val="10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indent="-216000" algn="l" defTabSz="457200">
              <a:lnSpc>
                <a:spcPct val="10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15" name="PlaceHolder 3"/>
          <p:cNvSpPr>
            <a:spLocks noGrp="1"/>
          </p:cNvSpPr>
          <p:nvPr>
            <p:ph type="body"/>
          </p:nvPr>
        </p:nvSpPr>
        <p:spPr>
          <a:xfrm>
            <a:off x="1792440" y="5367240"/>
            <a:ext cx="5485680" cy="80424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16" name="PlaceHolder 4"/>
          <p:cNvSpPr>
            <a:spLocks noGrp="1"/>
          </p:cNvSpPr>
          <p:nvPr>
            <p:ph type="dt" idx="7"/>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7" name="PlaceHolder 5"/>
          <p:cNvSpPr>
            <a:spLocks noGrp="1"/>
          </p:cNvSpPr>
          <p:nvPr>
            <p:ph type="ftr" idx="8"/>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8" name="PlaceHolder 6"/>
          <p:cNvSpPr>
            <a:spLocks noGrp="1"/>
          </p:cNvSpPr>
          <p:nvPr>
            <p:ph type="sldNum" idx="9"/>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99E4B33F-6F74-4F44-A862-E907989156C2}"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2130480"/>
            <a:ext cx="7771680" cy="14691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0" name="PlaceHolder 2"/>
          <p:cNvSpPr>
            <a:spLocks noGrp="1"/>
          </p:cNvSpPr>
          <p:nvPr>
            <p:ph type="dt" idx="10"/>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21" name="PlaceHolder 3"/>
          <p:cNvSpPr>
            <a:spLocks noGrp="1"/>
          </p:cNvSpPr>
          <p:nvPr>
            <p:ph type="ftr" idx="11"/>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2" name="PlaceHolder 4"/>
          <p:cNvSpPr>
            <a:spLocks noGrp="1"/>
          </p:cNvSpPr>
          <p:nvPr>
            <p:ph type="sldNum" idx="12"/>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513826A7-C846-4F81-90FF-DBE3287EBD9A}"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4" name="PlaceHolder 2"/>
          <p:cNvSpPr>
            <a:spLocks noGrp="1"/>
          </p:cNvSpPr>
          <p:nvPr>
            <p:ph type="body"/>
          </p:nvPr>
        </p:nvSpPr>
        <p:spPr>
          <a:xfrm>
            <a:off x="457200" y="1600200"/>
            <a:ext cx="8228880" cy="452520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25" name="PlaceHolder 3"/>
          <p:cNvSpPr>
            <a:spLocks noGrp="1"/>
          </p:cNvSpPr>
          <p:nvPr>
            <p:ph type="dt" idx="13"/>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26" name="PlaceHolder 4"/>
          <p:cNvSpPr>
            <a:spLocks noGrp="1"/>
          </p:cNvSpPr>
          <p:nvPr>
            <p:ph type="ftr" idx="14"/>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7" name="PlaceHolder 5"/>
          <p:cNvSpPr>
            <a:spLocks noGrp="1"/>
          </p:cNvSpPr>
          <p:nvPr>
            <p:ph type="sldNum" idx="15"/>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E958C941-A85B-48CD-93D6-5660EB4C29A4}"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6629400" y="274680"/>
            <a:ext cx="2056680" cy="5850720"/>
          </a:xfrm>
          <a:prstGeom prst="rect">
            <a:avLst/>
          </a:prstGeom>
          <a:noFill/>
          <a:ln w="0">
            <a:noFill/>
          </a:ln>
        </p:spPr>
        <p:txBody>
          <a:bodyPr lIns="91440" tIns="45720" rIns="91440" bIns="45720" anchor="ctr" vert="eaVert">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9" name="PlaceHolder 2"/>
          <p:cNvSpPr>
            <a:spLocks noGrp="1"/>
          </p:cNvSpPr>
          <p:nvPr>
            <p:ph type="body"/>
          </p:nvPr>
        </p:nvSpPr>
        <p:spPr>
          <a:xfrm>
            <a:off x="457200" y="274680"/>
            <a:ext cx="6019200" cy="585072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30" name="PlaceHolder 3"/>
          <p:cNvSpPr>
            <a:spLocks noGrp="1"/>
          </p:cNvSpPr>
          <p:nvPr>
            <p:ph type="dt" idx="16"/>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1" name="PlaceHolder 4"/>
          <p:cNvSpPr>
            <a:spLocks noGrp="1"/>
          </p:cNvSpPr>
          <p:nvPr>
            <p:ph type="ftr" idx="17"/>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2" name="PlaceHolder 5"/>
          <p:cNvSpPr>
            <a:spLocks noGrp="1"/>
          </p:cNvSpPr>
          <p:nvPr>
            <p:ph type="sldNum" idx="18"/>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D01ADDC5-C609-4EDD-BA82-4C2B018F54E7}"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4" name="PlaceHolder 2"/>
          <p:cNvSpPr>
            <a:spLocks noGrp="1"/>
          </p:cNvSpPr>
          <p:nvPr>
            <p:ph type="body"/>
          </p:nvPr>
        </p:nvSpPr>
        <p:spPr>
          <a:xfrm>
            <a:off x="457200" y="1600200"/>
            <a:ext cx="8228880" cy="452520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35" name="PlaceHolder 3"/>
          <p:cNvSpPr>
            <a:spLocks noGrp="1"/>
          </p:cNvSpPr>
          <p:nvPr>
            <p:ph type="dt" idx="19"/>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6" name="PlaceHolder 4"/>
          <p:cNvSpPr>
            <a:spLocks noGrp="1"/>
          </p:cNvSpPr>
          <p:nvPr>
            <p:ph type="ftr" idx="20"/>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7" name="PlaceHolder 5"/>
          <p:cNvSpPr>
            <a:spLocks noGrp="1"/>
          </p:cNvSpPr>
          <p:nvPr>
            <p:ph type="sldNum" idx="21"/>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67C8FE9D-0452-4B37-8C7F-7B714D4345A6}"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722160" y="4406760"/>
            <a:ext cx="7771680" cy="136152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4000" b="1" u="none" strike="noStrike" cap="all">
                <a:solidFill>
                  <a:schemeClr val="dk1"/>
                </a:solidFill>
                <a:effectLst/>
                <a:uFillTx/>
                <a:latin typeface="Calibri"/>
              </a:defRPr>
            </a:lvl1pPr>
          </a:lstStyle>
          <a:p>
            <a:pPr indent="0" algn="l" defTabSz="457200">
              <a:lnSpc>
                <a:spcPct val="100000"/>
              </a:lnSpc>
              <a:buNone/>
              <a:tabLst>
                <a:tab pos="0" algn="l"/>
              </a:tabLst>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39" name="PlaceHolder 2"/>
          <p:cNvSpPr>
            <a:spLocks noGrp="1"/>
          </p:cNvSpPr>
          <p:nvPr>
            <p:ph type="body"/>
          </p:nvPr>
        </p:nvSpPr>
        <p:spPr>
          <a:xfrm>
            <a:off x="722160" y="2906640"/>
            <a:ext cx="7771680" cy="149940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40" name="PlaceHolder 3"/>
          <p:cNvSpPr>
            <a:spLocks noGrp="1"/>
          </p:cNvSpPr>
          <p:nvPr>
            <p:ph type="dt" idx="22"/>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1" name="PlaceHolder 4"/>
          <p:cNvSpPr>
            <a:spLocks noGrp="1"/>
          </p:cNvSpPr>
          <p:nvPr>
            <p:ph type="ftr" idx="23"/>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2" name="PlaceHolder 5"/>
          <p:cNvSpPr>
            <a:spLocks noGrp="1"/>
          </p:cNvSpPr>
          <p:nvPr>
            <p:ph type="sldNum" idx="24"/>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5CF228F4-6D35-4BA5-8C1A-85155983C06C}"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4" name="PlaceHolder 2"/>
          <p:cNvSpPr>
            <a:spLocks noGrp="1"/>
          </p:cNvSpPr>
          <p:nvPr>
            <p:ph type="body"/>
          </p:nvPr>
        </p:nvSpPr>
        <p:spPr>
          <a:xfrm>
            <a:off x="457200" y="1600200"/>
            <a:ext cx="4037760" cy="452520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5" name="PlaceHolder 3"/>
          <p:cNvSpPr>
            <a:spLocks noGrp="1"/>
          </p:cNvSpPr>
          <p:nvPr>
            <p:ph type="body"/>
          </p:nvPr>
        </p:nvSpPr>
        <p:spPr>
          <a:xfrm>
            <a:off x="4648320" y="1600200"/>
            <a:ext cx="4037760" cy="452520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6" name="PlaceHolder 4"/>
          <p:cNvSpPr>
            <a:spLocks noGrp="1"/>
          </p:cNvSpPr>
          <p:nvPr>
            <p:ph type="dt" idx="25"/>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7" name="PlaceHolder 5"/>
          <p:cNvSpPr>
            <a:spLocks noGrp="1"/>
          </p:cNvSpPr>
          <p:nvPr>
            <p:ph type="ftr" idx="26"/>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8" name="PlaceHolder 6"/>
          <p:cNvSpPr>
            <a:spLocks noGrp="1"/>
          </p:cNvSpPr>
          <p:nvPr>
            <p:ph type="sldNum" idx="27"/>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8264BD1E-7FA4-4CF6-9666-DF7B784C9696}"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0" name="PlaceHolder 2"/>
          <p:cNvSpPr>
            <a:spLocks noGrp="1"/>
          </p:cNvSpPr>
          <p:nvPr>
            <p:ph type="body"/>
          </p:nvPr>
        </p:nvSpPr>
        <p:spPr>
          <a:xfrm>
            <a:off x="457200" y="1535040"/>
            <a:ext cx="4039560" cy="63900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51" name="PlaceHolder 3"/>
          <p:cNvSpPr>
            <a:spLocks noGrp="1"/>
          </p:cNvSpPr>
          <p:nvPr>
            <p:ph type="body"/>
          </p:nvPr>
        </p:nvSpPr>
        <p:spPr>
          <a:xfrm>
            <a:off x="457200" y="2174760"/>
            <a:ext cx="4039560" cy="395064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52" name="PlaceHolder 4"/>
          <p:cNvSpPr>
            <a:spLocks noGrp="1"/>
          </p:cNvSpPr>
          <p:nvPr>
            <p:ph type="body"/>
          </p:nvPr>
        </p:nvSpPr>
        <p:spPr>
          <a:xfrm>
            <a:off x="4645080" y="1535040"/>
            <a:ext cx="4041000" cy="63900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53" name="PlaceHolder 5"/>
          <p:cNvSpPr>
            <a:spLocks noGrp="1"/>
          </p:cNvSpPr>
          <p:nvPr>
            <p:ph type="body"/>
          </p:nvPr>
        </p:nvSpPr>
        <p:spPr>
          <a:xfrm>
            <a:off x="4645080" y="2174760"/>
            <a:ext cx="4041000" cy="395064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54" name="PlaceHolder 6"/>
          <p:cNvSpPr>
            <a:spLocks noGrp="1"/>
          </p:cNvSpPr>
          <p:nvPr>
            <p:ph type="dt" idx="28"/>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5" name="PlaceHolder 7"/>
          <p:cNvSpPr>
            <a:spLocks noGrp="1"/>
          </p:cNvSpPr>
          <p:nvPr>
            <p:ph type="ftr" idx="29"/>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6" name="PlaceHolder 8"/>
          <p:cNvSpPr>
            <a:spLocks noGrp="1"/>
          </p:cNvSpPr>
          <p:nvPr>
            <p:ph type="sldNum" idx="30"/>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FD07DB7A-011A-40FD-A0D4-9CCFBF9871D9}"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8" name="PlaceHolder 2"/>
          <p:cNvSpPr>
            <a:spLocks noGrp="1"/>
          </p:cNvSpPr>
          <p:nvPr>
            <p:ph type="dt" idx="31"/>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9" name="PlaceHolder 3"/>
          <p:cNvSpPr>
            <a:spLocks noGrp="1"/>
          </p:cNvSpPr>
          <p:nvPr>
            <p:ph type="ftr" idx="32"/>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60" name="PlaceHolder 4"/>
          <p:cNvSpPr>
            <a:spLocks noGrp="1"/>
          </p:cNvSpPr>
          <p:nvPr>
            <p:ph type="sldNum" idx="33"/>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3A042AAA-1134-44AE-AC70-A12092A29F3A}"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B"/>
        </a:solidFill>
      </p:bgPr>
    </p:bg>
    <p:spTree>
      <p:nvGrpSpPr>
        <p:cNvPr id="1" name=""/>
        <p:cNvGrpSpPr/>
        <p:nvPr/>
      </p:nvGrpSpPr>
      <p:grpSpPr>
        <a:xfrm>
          <a:off x="0" y="0"/>
          <a:ext cx="0" cy="0"/>
          <a:chOff x="0" y="0"/>
          <a:chExt cx="0" cy="0"/>
        </a:xfrm>
      </p:grpSpPr>
      <p:sp>
        <p:nvSpPr>
          <p:cNvPr id="61" name="Rectangle 1"/>
          <p:cNvSpPr/>
          <p:nvPr/>
        </p:nvSpPr>
        <p:spPr>
          <a:xfrm>
            <a:off x="9000" y="0"/>
            <a:ext cx="4671720" cy="6848280"/>
          </a:xfrm>
          <a:prstGeom prst="rect">
            <a:avLst/>
          </a:prstGeom>
          <a:solidFill>
            <a:srgbClr val="1732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2" name="Rectangle 2"/>
          <p:cNvSpPr/>
          <p:nvPr/>
        </p:nvSpPr>
        <p:spPr>
          <a:xfrm>
            <a:off x="9000" y="0"/>
            <a:ext cx="173160" cy="6848280"/>
          </a:xfrm>
          <a:prstGeom prst="rect">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86760" tIns="45000" rIns="86760" bIns="45000" anchor="ctr">
            <a:noAutofit/>
          </a:bodyPr>
          <a:p>
            <a:endParaRPr lang="en-US" sz="1800" b="0" u="none" strike="noStrike">
              <a:solidFill>
                <a:schemeClr val="lt1"/>
              </a:solidFill>
              <a:effectLst/>
              <a:uFillTx/>
              <a:latin typeface="Calibri"/>
            </a:endParaRPr>
          </a:p>
        </p:txBody>
      </p:sp>
      <p:sp>
        <p:nvSpPr>
          <p:cNvPr id="63" name="Rounded Rectangle 3"/>
          <p:cNvSpPr/>
          <p:nvPr/>
        </p:nvSpPr>
        <p:spPr>
          <a:xfrm>
            <a:off x="530280" y="502920"/>
            <a:ext cx="3245400" cy="291960"/>
          </a:xfrm>
          <a:prstGeom prst="roundRect">
            <a:avLst>
              <a:gd name="adj" fmla="val 16667"/>
            </a:avLst>
          </a:prstGeom>
          <a:solidFill>
            <a:srgbClr val="224766"/>
          </a:solidFill>
          <a:ln w="12700">
            <a:solidFill>
              <a:srgbClr val="22476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4" name="TextBox 4"/>
          <p:cNvSpPr/>
          <p:nvPr/>
        </p:nvSpPr>
        <p:spPr>
          <a:xfrm>
            <a:off x="567000" y="511920"/>
            <a:ext cx="3172320" cy="27360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pPr>
            <a:r>
              <a:rPr lang="en-US" sz="1020" b="1" u="none" strike="noStrike">
                <a:solidFill>
                  <a:srgbClr val="FFFFFF"/>
                </a:solidFill>
                <a:effectLst/>
                <a:uFillTx/>
                <a:latin typeface="Calibri"/>
              </a:rPr>
              <a:t>SoI INNOVATION PROJECTS  |  AY2026-27</a:t>
            </a:r>
            <a:endParaRPr lang="en-IN" sz="1020" b="0" u="none" strike="noStrike">
              <a:solidFill>
                <a:srgbClr val="000000"/>
              </a:solidFill>
              <a:effectLst/>
              <a:uFillTx/>
              <a:latin typeface="Arial"/>
            </a:endParaRPr>
          </a:p>
        </p:txBody>
      </p:sp>
      <p:sp>
        <p:nvSpPr>
          <p:cNvPr id="65" name="TextBox 5"/>
          <p:cNvSpPr/>
          <p:nvPr/>
        </p:nvSpPr>
        <p:spPr>
          <a:xfrm>
            <a:off x="530280" y="1097280"/>
            <a:ext cx="3611160" cy="6577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400" b="1" u="none" strike="noStrike">
                <a:solidFill>
                  <a:srgbClr val="008C95"/>
                </a:solidFill>
                <a:effectLst/>
                <a:uFillTx/>
                <a:latin typeface="Calibri"/>
              </a:rPr>
              <a:t>PHASE 1</a:t>
            </a:r>
            <a:endParaRPr lang="en-IN" sz="3400" b="0" u="none" strike="noStrike">
              <a:solidFill>
                <a:srgbClr val="000000"/>
              </a:solidFill>
              <a:effectLst/>
              <a:uFillTx/>
              <a:latin typeface="Arial"/>
            </a:endParaRPr>
          </a:p>
        </p:txBody>
      </p:sp>
      <p:sp>
        <p:nvSpPr>
          <p:cNvPr id="66" name="TextBox 6"/>
          <p:cNvSpPr/>
          <p:nvPr/>
        </p:nvSpPr>
        <p:spPr>
          <a:xfrm>
            <a:off x="530280" y="1783080"/>
            <a:ext cx="3702600" cy="1334160"/>
          </a:xfrm>
          <a:prstGeom prst="rect">
            <a:avLst/>
          </a:prstGeom>
          <a:noFill/>
          <a:ln w="0">
            <a:noFill/>
          </a:ln>
        </p:spPr>
        <p:style>
          <a:lnRef idx="0"/>
          <a:fillRef idx="0"/>
          <a:effectRef idx="0"/>
          <a:fontRef idx="minor"/>
        </p:style>
        <p:txBody>
          <a:bodyPr lIns="0" tIns="0" rIns="0" bIns="0" anchor="ctr">
            <a:spAutoFit/>
          </a:bodyPr>
          <a:p>
            <a:pPr>
              <a:lnSpc>
                <a:spcPct val="100000"/>
              </a:lnSpc>
            </a:pPr>
            <a:r>
              <a:rPr lang="en-US" sz="2900" b="1" u="none" strike="noStrike">
                <a:solidFill>
                  <a:srgbClr val="FFFFFF"/>
                </a:solidFill>
                <a:effectLst/>
                <a:uFillTx/>
                <a:latin typeface="Calibri"/>
              </a:rPr>
              <a:t>Customer &amp;</a:t>
            </a:r>
            <a:endParaRPr lang="en-IN" sz="2900" b="0" u="none" strike="noStrike">
              <a:solidFill>
                <a:srgbClr val="000000"/>
              </a:solidFill>
              <a:effectLst/>
              <a:uFillTx/>
              <a:latin typeface="Arial"/>
            </a:endParaRPr>
          </a:p>
          <a:p>
            <a:pPr defTabSz="457200">
              <a:lnSpc>
                <a:spcPct val="100000"/>
              </a:lnSpc>
            </a:pPr>
            <a:r>
              <a:rPr lang="en-US" sz="2900" b="1" u="none" strike="noStrike">
                <a:solidFill>
                  <a:srgbClr val="FFFFFF"/>
                </a:solidFill>
                <a:effectLst/>
                <a:uFillTx/>
                <a:latin typeface="Calibri"/>
              </a:rPr>
              <a:t>Problem Validation</a:t>
            </a:r>
            <a:endParaRPr lang="en-IN" sz="2900" b="0" u="none" strike="noStrike">
              <a:solidFill>
                <a:srgbClr val="000000"/>
              </a:solidFill>
              <a:effectLst/>
              <a:uFillTx/>
              <a:latin typeface="Arial"/>
            </a:endParaRPr>
          </a:p>
        </p:txBody>
      </p:sp>
      <p:sp>
        <p:nvSpPr>
          <p:cNvPr id="67" name="TextBox 7"/>
          <p:cNvSpPr/>
          <p:nvPr/>
        </p:nvSpPr>
        <p:spPr>
          <a:xfrm>
            <a:off x="530280" y="3310200"/>
            <a:ext cx="3611160" cy="776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00" b="0" u="none" strike="noStrike">
                <a:solidFill>
                  <a:srgbClr val="DDE9F0"/>
                </a:solidFill>
                <a:effectLst/>
                <a:uFillTx/>
                <a:latin typeface="Calibri"/>
              </a:rPr>
              <a:t>Prove the right customer and a significant pain point before committing to a solution.</a:t>
            </a:r>
            <a:endParaRPr lang="en-IN" sz="1600" b="0" u="none" strike="noStrike">
              <a:solidFill>
                <a:srgbClr val="000000"/>
              </a:solidFill>
              <a:effectLst/>
              <a:uFillTx/>
              <a:latin typeface="Arial"/>
            </a:endParaRPr>
          </a:p>
        </p:txBody>
      </p:sp>
      <p:sp>
        <p:nvSpPr>
          <p:cNvPr id="68" name="Oval 8"/>
          <p:cNvSpPr/>
          <p:nvPr/>
        </p:nvSpPr>
        <p:spPr>
          <a:xfrm>
            <a:off x="621720" y="4663440"/>
            <a:ext cx="456480" cy="456480"/>
          </a:xfrm>
          <a:prstGeom prst="ellipse">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9" name="TextBox 9"/>
          <p:cNvSpPr/>
          <p:nvPr/>
        </p:nvSpPr>
        <p:spPr>
          <a:xfrm>
            <a:off x="621720" y="4658760"/>
            <a:ext cx="456480" cy="45648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400" b="1" u="none" strike="noStrike">
                <a:solidFill>
                  <a:srgbClr val="FFFFFF"/>
                </a:solidFill>
                <a:effectLst/>
                <a:uFillTx/>
                <a:latin typeface="Calibri"/>
              </a:rPr>
              <a:t>1</a:t>
            </a:r>
            <a:endParaRPr lang="en-IN" sz="1400" b="0" u="none" strike="noStrike">
              <a:solidFill>
                <a:srgbClr val="000000"/>
              </a:solidFill>
              <a:effectLst/>
              <a:uFillTx/>
              <a:latin typeface="Arial"/>
            </a:endParaRPr>
          </a:p>
        </p:txBody>
      </p:sp>
      <p:sp>
        <p:nvSpPr>
          <p:cNvPr id="70" name="TextBox 10"/>
          <p:cNvSpPr/>
          <p:nvPr/>
        </p:nvSpPr>
        <p:spPr>
          <a:xfrm>
            <a:off x="511920" y="5230440"/>
            <a:ext cx="676080" cy="23688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950" b="1" u="none" strike="noStrike">
                <a:solidFill>
                  <a:srgbClr val="FFFFFF"/>
                </a:solidFill>
                <a:effectLst/>
                <a:uFillTx/>
                <a:latin typeface="Calibri"/>
              </a:rPr>
              <a:t>DISCOVER</a:t>
            </a:r>
            <a:endParaRPr lang="en-IN" sz="950" b="0" u="none" strike="noStrike">
              <a:solidFill>
                <a:srgbClr val="000000"/>
              </a:solidFill>
              <a:effectLst/>
              <a:uFillTx/>
              <a:latin typeface="Arial"/>
            </a:endParaRPr>
          </a:p>
        </p:txBody>
      </p:sp>
      <p:cxnSp>
        <p:nvCxnSpPr>
          <p:cNvPr id="71" name="Connector 11"/>
          <p:cNvCxnSpPr/>
          <p:nvPr/>
        </p:nvCxnSpPr>
        <p:spPr>
          <a:xfrm>
            <a:off x="1133640" y="4892040"/>
            <a:ext cx="650160" cy="720"/>
          </a:xfrm>
          <a:prstGeom prst="straightConnector1">
            <a:avLst/>
          </a:prstGeom>
          <a:ln w="19050">
            <a:solidFill>
              <a:srgbClr val="5D7890"/>
            </a:solidFill>
            <a:round/>
          </a:ln>
        </p:spPr>
      </p:cxnSp>
      <p:sp>
        <p:nvSpPr>
          <p:cNvPr id="72" name="Oval 12"/>
          <p:cNvSpPr/>
          <p:nvPr/>
        </p:nvSpPr>
        <p:spPr>
          <a:xfrm>
            <a:off x="1883520" y="4663440"/>
            <a:ext cx="456480" cy="456480"/>
          </a:xfrm>
          <a:prstGeom prst="ellipse">
            <a:avLst/>
          </a:prstGeom>
          <a:solidFill>
            <a:srgbClr val="F3A71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3" name="TextBox 13"/>
          <p:cNvSpPr/>
          <p:nvPr/>
        </p:nvSpPr>
        <p:spPr>
          <a:xfrm>
            <a:off x="1883520" y="4658760"/>
            <a:ext cx="456480" cy="45648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400" b="1" u="none" strike="noStrike">
                <a:solidFill>
                  <a:srgbClr val="FFFFFF"/>
                </a:solidFill>
                <a:effectLst/>
                <a:uFillTx/>
                <a:latin typeface="Calibri"/>
              </a:rPr>
              <a:t>2</a:t>
            </a:r>
            <a:endParaRPr lang="en-IN" sz="1400" b="0" u="none" strike="noStrike">
              <a:solidFill>
                <a:srgbClr val="000000"/>
              </a:solidFill>
              <a:effectLst/>
              <a:uFillTx/>
              <a:latin typeface="Arial"/>
            </a:endParaRPr>
          </a:p>
        </p:txBody>
      </p:sp>
      <p:sp>
        <p:nvSpPr>
          <p:cNvPr id="74" name="TextBox 14"/>
          <p:cNvSpPr/>
          <p:nvPr/>
        </p:nvSpPr>
        <p:spPr>
          <a:xfrm>
            <a:off x="1774080" y="5230440"/>
            <a:ext cx="676080" cy="23688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950" b="1" u="none" strike="noStrike">
                <a:solidFill>
                  <a:srgbClr val="FFFFFF"/>
                </a:solidFill>
                <a:effectLst/>
                <a:uFillTx/>
                <a:latin typeface="Calibri"/>
              </a:rPr>
              <a:t>VALIDATE</a:t>
            </a:r>
            <a:endParaRPr lang="en-IN" sz="950" b="0" u="none" strike="noStrike">
              <a:solidFill>
                <a:srgbClr val="000000"/>
              </a:solidFill>
              <a:effectLst/>
              <a:uFillTx/>
              <a:latin typeface="Arial"/>
            </a:endParaRPr>
          </a:p>
        </p:txBody>
      </p:sp>
      <p:cxnSp>
        <p:nvCxnSpPr>
          <p:cNvPr id="75" name="Connector 15"/>
          <p:cNvCxnSpPr/>
          <p:nvPr/>
        </p:nvCxnSpPr>
        <p:spPr>
          <a:xfrm>
            <a:off x="2395440" y="4892040"/>
            <a:ext cx="650160" cy="720"/>
          </a:xfrm>
          <a:prstGeom prst="straightConnector1">
            <a:avLst/>
          </a:prstGeom>
          <a:ln w="19050">
            <a:solidFill>
              <a:srgbClr val="5D7890"/>
            </a:solidFill>
            <a:round/>
          </a:ln>
        </p:spPr>
      </p:cxnSp>
      <p:sp>
        <p:nvSpPr>
          <p:cNvPr id="76" name="Oval 16"/>
          <p:cNvSpPr/>
          <p:nvPr/>
        </p:nvSpPr>
        <p:spPr>
          <a:xfrm>
            <a:off x="3145680" y="4663440"/>
            <a:ext cx="456480" cy="456480"/>
          </a:xfrm>
          <a:prstGeom prst="ellipse">
            <a:avLst/>
          </a:prstGeom>
          <a:solidFill>
            <a:srgbClr val="6E56C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7" name="TextBox 17"/>
          <p:cNvSpPr/>
          <p:nvPr/>
        </p:nvSpPr>
        <p:spPr>
          <a:xfrm>
            <a:off x="3145680" y="4658760"/>
            <a:ext cx="456480" cy="45648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400" b="1" u="none" strike="noStrike">
                <a:solidFill>
                  <a:srgbClr val="FFFFFF"/>
                </a:solidFill>
                <a:effectLst/>
                <a:uFillTx/>
                <a:latin typeface="Calibri"/>
              </a:rPr>
              <a:t>3</a:t>
            </a:r>
            <a:endParaRPr lang="en-IN" sz="1400" b="0" u="none" strike="noStrike">
              <a:solidFill>
                <a:srgbClr val="000000"/>
              </a:solidFill>
              <a:effectLst/>
              <a:uFillTx/>
              <a:latin typeface="Arial"/>
            </a:endParaRPr>
          </a:p>
        </p:txBody>
      </p:sp>
      <p:sp>
        <p:nvSpPr>
          <p:cNvPr id="78" name="TextBox 18"/>
          <p:cNvSpPr/>
          <p:nvPr/>
        </p:nvSpPr>
        <p:spPr>
          <a:xfrm>
            <a:off x="3035880" y="5230440"/>
            <a:ext cx="676080" cy="23688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950" b="1" u="none" strike="noStrike">
                <a:solidFill>
                  <a:srgbClr val="FFFFFF"/>
                </a:solidFill>
                <a:effectLst/>
                <a:uFillTx/>
                <a:latin typeface="Calibri"/>
              </a:rPr>
              <a:t>DECIDE</a:t>
            </a:r>
            <a:endParaRPr lang="en-IN" sz="950" b="0" u="none" strike="noStrike">
              <a:solidFill>
                <a:srgbClr val="000000"/>
              </a:solidFill>
              <a:effectLst/>
              <a:uFillTx/>
              <a:latin typeface="Arial"/>
            </a:endParaRPr>
          </a:p>
        </p:txBody>
      </p:sp>
      <p:sp>
        <p:nvSpPr>
          <p:cNvPr id="79" name="Rounded Rectangle 19"/>
          <p:cNvSpPr/>
          <p:nvPr/>
        </p:nvSpPr>
        <p:spPr>
          <a:xfrm>
            <a:off x="530280" y="5650920"/>
            <a:ext cx="3638520" cy="584640"/>
          </a:xfrm>
          <a:prstGeom prst="roundRect">
            <a:avLst>
              <a:gd name="adj" fmla="val 16667"/>
            </a:avLst>
          </a:prstGeom>
          <a:solidFill>
            <a:srgbClr val="224766"/>
          </a:solidFill>
          <a:ln w="12700">
            <a:solidFill>
              <a:srgbClr val="335A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0" name="TextBox 20"/>
          <p:cNvSpPr/>
          <p:nvPr/>
        </p:nvSpPr>
        <p:spPr>
          <a:xfrm>
            <a:off x="749880" y="5788080"/>
            <a:ext cx="3181320" cy="31032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140" b="1" u="none" strike="noStrike">
                <a:solidFill>
                  <a:srgbClr val="FFFFFF"/>
                </a:solidFill>
                <a:effectLst/>
                <a:uFillTx/>
                <a:latin typeface="Calibri"/>
              </a:rPr>
              <a:t>Rule: no fixed app, AI model, device or platform pitch in Phase 1.</a:t>
            </a:r>
            <a:endParaRPr lang="en-IN" sz="1140" b="0" u="none" strike="noStrike">
              <a:solidFill>
                <a:srgbClr val="000000"/>
              </a:solidFill>
              <a:effectLst/>
              <a:uFillTx/>
              <a:latin typeface="Arial"/>
            </a:endParaRPr>
          </a:p>
        </p:txBody>
      </p:sp>
      <p:sp>
        <p:nvSpPr>
          <p:cNvPr id="81" name="TextBox 21"/>
          <p:cNvSpPr/>
          <p:nvPr/>
        </p:nvSpPr>
        <p:spPr>
          <a:xfrm>
            <a:off x="5139000" y="493920"/>
            <a:ext cx="6354360" cy="4107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400" b="1" u="none" strike="noStrike">
                <a:solidFill>
                  <a:srgbClr val="17324D"/>
                </a:solidFill>
                <a:effectLst/>
                <a:uFillTx/>
                <a:latin typeface="Calibri"/>
              </a:rPr>
              <a:t>Project snapshot</a:t>
            </a:r>
            <a:endParaRPr lang="en-IN" sz="2400" b="0" u="none" strike="noStrike">
              <a:solidFill>
                <a:srgbClr val="000000"/>
              </a:solidFill>
              <a:effectLst/>
              <a:uFillTx/>
              <a:latin typeface="Arial"/>
            </a:endParaRPr>
          </a:p>
        </p:txBody>
      </p:sp>
      <p:sp>
        <p:nvSpPr>
          <p:cNvPr id="82" name="TextBox 22"/>
          <p:cNvSpPr/>
          <p:nvPr/>
        </p:nvSpPr>
        <p:spPr>
          <a:xfrm>
            <a:off x="5139000" y="1078920"/>
            <a:ext cx="6354360" cy="5295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000" b="1" u="none" strike="noStrike">
                <a:solidFill>
                  <a:srgbClr val="006D75"/>
                </a:solidFill>
                <a:effectLst/>
                <a:uFillTx/>
                <a:latin typeface="Calibri"/>
              </a:rPr>
              <a:t>Personal Cyber Threat Detection and Response</a:t>
            </a:r>
            <a:endParaRPr lang="en-IN" sz="2000" b="0" u="none" strike="noStrike">
              <a:solidFill>
                <a:srgbClr val="000000"/>
              </a:solidFill>
              <a:effectLst/>
              <a:uFillTx/>
              <a:latin typeface="Arial"/>
            </a:endParaRPr>
          </a:p>
        </p:txBody>
      </p:sp>
      <p:sp>
        <p:nvSpPr>
          <p:cNvPr id="83" name="TextBox 23"/>
          <p:cNvSpPr/>
          <p:nvPr/>
        </p:nvSpPr>
        <p:spPr>
          <a:xfrm>
            <a:off x="5139000" y="1828800"/>
            <a:ext cx="6354360" cy="456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150" b="0" i="1" u="none" strike="noStrike">
                <a:solidFill>
                  <a:srgbClr val="4F5B62"/>
                </a:solidFill>
                <a:effectLst/>
                <a:uFillTx/>
                <a:latin typeface="Calibri"/>
              </a:rPr>
              <a:t>Everyday digital users are exposed to data breaches, phishing links, malicious QR codes, scam calls and social-engineering attacks, and may not know whether an interaction is safe or how to respond.</a:t>
            </a:r>
            <a:endParaRPr lang="en-IN" sz="1150" b="0" u="none" strike="noStrike">
              <a:solidFill>
                <a:srgbClr val="000000"/>
              </a:solidFill>
              <a:effectLst/>
              <a:uFillTx/>
              <a:latin typeface="Arial"/>
            </a:endParaRPr>
          </a:p>
        </p:txBody>
      </p:sp>
      <p:sp>
        <p:nvSpPr>
          <p:cNvPr id="84" name="Rounded Rectangle 24"/>
          <p:cNvSpPr/>
          <p:nvPr/>
        </p:nvSpPr>
        <p:spPr>
          <a:xfrm>
            <a:off x="5139000" y="2377440"/>
            <a:ext cx="2943720" cy="913680"/>
          </a:xfrm>
          <a:prstGeom prst="roundRect">
            <a:avLst>
              <a:gd name="adj" fmla="val 16667"/>
            </a:avLst>
          </a:prstGeom>
          <a:solidFill>
            <a:srgbClr val="FFFFFF"/>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5" name="Rectangle 25"/>
          <p:cNvSpPr/>
          <p:nvPr/>
        </p:nvSpPr>
        <p:spPr>
          <a:xfrm>
            <a:off x="5139000" y="2377440"/>
            <a:ext cx="72360" cy="913680"/>
          </a:xfrm>
          <a:prstGeom prst="rect">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86" name="TextBox 26"/>
          <p:cNvSpPr/>
          <p:nvPr/>
        </p:nvSpPr>
        <p:spPr>
          <a:xfrm>
            <a:off x="5321880" y="2505600"/>
            <a:ext cx="263268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150" b="1" u="none" strike="noStrike">
                <a:solidFill>
                  <a:srgbClr val="17324D"/>
                </a:solidFill>
                <a:effectLst/>
                <a:uFillTx/>
                <a:latin typeface="Calibri"/>
              </a:rPr>
              <a:t>TEAM ID / TEAM NAME</a:t>
            </a:r>
            <a:endParaRPr lang="en-IN" sz="1150" b="0" u="none" strike="noStrike">
              <a:solidFill>
                <a:srgbClr val="000000"/>
              </a:solidFill>
              <a:effectLst/>
              <a:uFillTx/>
              <a:latin typeface="Arial"/>
            </a:endParaRPr>
          </a:p>
        </p:txBody>
      </p:sp>
      <p:sp>
        <p:nvSpPr>
          <p:cNvPr id="87" name="TextBox 27"/>
          <p:cNvSpPr/>
          <p:nvPr/>
        </p:nvSpPr>
        <p:spPr>
          <a:xfrm>
            <a:off x="5321880" y="2889360"/>
            <a:ext cx="2632680" cy="19656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100" b="0" u="none" strike="noStrike">
                <a:solidFill>
                  <a:srgbClr val="4F5B62"/>
                </a:solidFill>
                <a:effectLst/>
                <a:uFillTx/>
                <a:latin typeface="Calibri"/>
              </a:rPr>
              <a:t>HACKIES  |  [P-2025-29-CS-038-AY-26-27]</a:t>
            </a:r>
            <a:endParaRPr lang="en-IN" sz="1100" b="0" u="none" strike="noStrike">
              <a:solidFill>
                <a:srgbClr val="000000"/>
              </a:solidFill>
              <a:effectLst/>
              <a:uFillTx/>
              <a:latin typeface="Arial"/>
            </a:endParaRPr>
          </a:p>
        </p:txBody>
      </p:sp>
      <p:sp>
        <p:nvSpPr>
          <p:cNvPr id="88" name="Rounded Rectangle 28"/>
          <p:cNvSpPr/>
          <p:nvPr/>
        </p:nvSpPr>
        <p:spPr>
          <a:xfrm>
            <a:off x="8284320" y="2377440"/>
            <a:ext cx="3400920" cy="913680"/>
          </a:xfrm>
          <a:prstGeom prst="roundRect">
            <a:avLst>
              <a:gd name="adj" fmla="val 16667"/>
            </a:avLst>
          </a:prstGeom>
          <a:solidFill>
            <a:srgbClr val="FFFFFF"/>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9" name="Rectangle 29"/>
          <p:cNvSpPr/>
          <p:nvPr/>
        </p:nvSpPr>
        <p:spPr>
          <a:xfrm>
            <a:off x="8284320" y="2377440"/>
            <a:ext cx="72360" cy="913680"/>
          </a:xfrm>
          <a:prstGeom prst="rect">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90" name="TextBox 30"/>
          <p:cNvSpPr/>
          <p:nvPr/>
        </p:nvSpPr>
        <p:spPr>
          <a:xfrm>
            <a:off x="8467200" y="2505600"/>
            <a:ext cx="308988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150" b="1" u="none" strike="noStrike">
                <a:solidFill>
                  <a:srgbClr val="17324D"/>
                </a:solidFill>
                <a:effectLst/>
                <a:uFillTx/>
                <a:latin typeface="Calibri"/>
              </a:rPr>
              <a:t>BATCH / VERTICAL</a:t>
            </a:r>
            <a:endParaRPr lang="en-IN" sz="1150" b="0" u="none" strike="noStrike">
              <a:solidFill>
                <a:srgbClr val="000000"/>
              </a:solidFill>
              <a:effectLst/>
              <a:uFillTx/>
              <a:latin typeface="Arial"/>
            </a:endParaRPr>
          </a:p>
        </p:txBody>
      </p:sp>
      <p:sp>
        <p:nvSpPr>
          <p:cNvPr id="91" name="TextBox 31"/>
          <p:cNvSpPr/>
          <p:nvPr/>
        </p:nvSpPr>
        <p:spPr>
          <a:xfrm>
            <a:off x="8467200" y="2889360"/>
            <a:ext cx="3089880" cy="22536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300" b="0" u="none" strike="noStrike">
                <a:solidFill>
                  <a:srgbClr val="4F5B62"/>
                </a:solidFill>
                <a:effectLst/>
                <a:uFillTx/>
                <a:latin typeface="Calibri"/>
              </a:rPr>
              <a:t>SECOND  |  CS</a:t>
            </a:r>
            <a:endParaRPr lang="en-IN" sz="1300" b="0" u="none" strike="noStrike">
              <a:solidFill>
                <a:srgbClr val="000000"/>
              </a:solidFill>
              <a:effectLst/>
              <a:uFillTx/>
              <a:latin typeface="Arial"/>
            </a:endParaRPr>
          </a:p>
        </p:txBody>
      </p:sp>
      <p:sp>
        <p:nvSpPr>
          <p:cNvPr id="92" name="Rounded Rectangle 32"/>
          <p:cNvSpPr/>
          <p:nvPr/>
        </p:nvSpPr>
        <p:spPr>
          <a:xfrm>
            <a:off x="5139000" y="3493080"/>
            <a:ext cx="2943720" cy="913680"/>
          </a:xfrm>
          <a:prstGeom prst="roundRect">
            <a:avLst>
              <a:gd name="adj" fmla="val 16667"/>
            </a:avLst>
          </a:prstGeom>
          <a:solidFill>
            <a:srgbClr val="FFF4DB"/>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3" name="Rectangle 33"/>
          <p:cNvSpPr/>
          <p:nvPr/>
        </p:nvSpPr>
        <p:spPr>
          <a:xfrm>
            <a:off x="5139000" y="3493080"/>
            <a:ext cx="72360" cy="913680"/>
          </a:xfrm>
          <a:prstGeom prst="rect">
            <a:avLst/>
          </a:prstGeom>
          <a:solidFill>
            <a:srgbClr val="F3A71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94" name="TextBox 34"/>
          <p:cNvSpPr/>
          <p:nvPr/>
        </p:nvSpPr>
        <p:spPr>
          <a:xfrm>
            <a:off x="5321880" y="3620880"/>
            <a:ext cx="263268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150" b="1" u="none" strike="noStrike">
                <a:solidFill>
                  <a:srgbClr val="17324D"/>
                </a:solidFill>
                <a:effectLst/>
                <a:uFillTx/>
                <a:latin typeface="Calibri"/>
              </a:rPr>
              <a:t>MENTOR</a:t>
            </a:r>
            <a:endParaRPr lang="en-IN" sz="1150" b="0" u="none" strike="noStrike">
              <a:solidFill>
                <a:srgbClr val="000000"/>
              </a:solidFill>
              <a:effectLst/>
              <a:uFillTx/>
              <a:latin typeface="Arial"/>
            </a:endParaRPr>
          </a:p>
        </p:txBody>
      </p:sp>
      <p:sp>
        <p:nvSpPr>
          <p:cNvPr id="95" name="TextBox 35"/>
          <p:cNvSpPr/>
          <p:nvPr/>
        </p:nvSpPr>
        <p:spPr>
          <a:xfrm>
            <a:off x="5321880" y="4005000"/>
            <a:ext cx="2632680" cy="22536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300" b="0" u="none" strike="noStrike">
                <a:solidFill>
                  <a:srgbClr val="4F5B62"/>
                </a:solidFill>
                <a:effectLst/>
                <a:uFillTx/>
                <a:latin typeface="Calibri"/>
              </a:rPr>
              <a:t>[NABIN SIL]</a:t>
            </a:r>
            <a:endParaRPr lang="en-IN" sz="1300" b="0" u="none" strike="noStrike">
              <a:solidFill>
                <a:srgbClr val="000000"/>
              </a:solidFill>
              <a:effectLst/>
              <a:uFillTx/>
              <a:latin typeface="Arial"/>
            </a:endParaRPr>
          </a:p>
        </p:txBody>
      </p:sp>
      <p:sp>
        <p:nvSpPr>
          <p:cNvPr id="96" name="Rounded Rectangle 36"/>
          <p:cNvSpPr/>
          <p:nvPr/>
        </p:nvSpPr>
        <p:spPr>
          <a:xfrm>
            <a:off x="8284320" y="3493080"/>
            <a:ext cx="3400920" cy="913680"/>
          </a:xfrm>
          <a:prstGeom prst="roundRect">
            <a:avLst>
              <a:gd name="adj" fmla="val 16667"/>
            </a:avLst>
          </a:prstGeom>
          <a:solidFill>
            <a:srgbClr val="F0ECFF"/>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7" name="Rectangle 37"/>
          <p:cNvSpPr/>
          <p:nvPr/>
        </p:nvSpPr>
        <p:spPr>
          <a:xfrm>
            <a:off x="8284320" y="3493080"/>
            <a:ext cx="72360" cy="913680"/>
          </a:xfrm>
          <a:prstGeom prst="rect">
            <a:avLst/>
          </a:prstGeom>
          <a:solidFill>
            <a:srgbClr val="6E56C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98" name="TextBox 38"/>
          <p:cNvSpPr/>
          <p:nvPr/>
        </p:nvSpPr>
        <p:spPr>
          <a:xfrm>
            <a:off x="8467200" y="3620880"/>
            <a:ext cx="308988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150" b="1" u="none" strike="noStrike">
                <a:solidFill>
                  <a:srgbClr val="17324D"/>
                </a:solidFill>
                <a:effectLst/>
                <a:uFillTx/>
                <a:latin typeface="Calibri"/>
              </a:rPr>
              <a:t>PATHWAY</a:t>
            </a:r>
            <a:endParaRPr lang="en-IN" sz="1150" b="0" u="none" strike="noStrike">
              <a:solidFill>
                <a:srgbClr val="000000"/>
              </a:solidFill>
              <a:effectLst/>
              <a:uFillTx/>
              <a:latin typeface="Arial"/>
            </a:endParaRPr>
          </a:p>
        </p:txBody>
      </p:sp>
      <p:sp>
        <p:nvSpPr>
          <p:cNvPr id="99" name="TextBox 39"/>
          <p:cNvSpPr/>
          <p:nvPr/>
        </p:nvSpPr>
        <p:spPr>
          <a:xfrm>
            <a:off x="8467200" y="4005000"/>
            <a:ext cx="3089880" cy="27360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250" b="0" u="none" strike="noStrike">
                <a:solidFill>
                  <a:srgbClr val="4F5B62"/>
                </a:solidFill>
                <a:effectLst/>
                <a:uFillTx/>
                <a:latin typeface="Calibri"/>
              </a:rPr>
              <a:t>☑ New project</a:t>
            </a:r>
            <a:endParaRPr lang="en-IN" sz="1250" b="0" u="none" strike="noStrike">
              <a:solidFill>
                <a:srgbClr val="000000"/>
              </a:solidFill>
              <a:effectLst/>
              <a:uFillTx/>
              <a:latin typeface="Arial"/>
            </a:endParaRPr>
          </a:p>
          <a:p>
            <a:pPr defTabSz="457200">
              <a:lnSpc>
                <a:spcPct val="95000"/>
              </a:lnSpc>
            </a:pPr>
            <a:r>
              <a:rPr lang="en-US" sz="1250" b="0" u="none" strike="noStrike">
                <a:solidFill>
                  <a:srgbClr val="4F5B62"/>
                </a:solidFill>
                <a:effectLst/>
                <a:uFillTx/>
                <a:latin typeface="Calibri"/>
              </a:rPr>
              <a:t>☐ Continue AY2025-26 project</a:t>
            </a:r>
            <a:endParaRPr lang="en-IN" sz="1250" b="0" u="none" strike="noStrike">
              <a:solidFill>
                <a:srgbClr val="000000"/>
              </a:solidFill>
              <a:effectLst/>
              <a:uFillTx/>
              <a:latin typeface="Arial"/>
            </a:endParaRPr>
          </a:p>
        </p:txBody>
      </p:sp>
      <p:sp>
        <p:nvSpPr>
          <p:cNvPr id="100" name="Rounded Rectangle 40"/>
          <p:cNvSpPr/>
          <p:nvPr/>
        </p:nvSpPr>
        <p:spPr>
          <a:xfrm>
            <a:off x="5139000" y="4626720"/>
            <a:ext cx="6546240" cy="1252080"/>
          </a:xfrm>
          <a:prstGeom prst="roundRect">
            <a:avLst>
              <a:gd name="adj" fmla="val 16667"/>
            </a:avLst>
          </a:prstGeom>
          <a:solidFill>
            <a:srgbClr val="FFFFFF"/>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1" name="Rectangle 41"/>
          <p:cNvSpPr/>
          <p:nvPr/>
        </p:nvSpPr>
        <p:spPr>
          <a:xfrm>
            <a:off x="5139000" y="4626720"/>
            <a:ext cx="72360" cy="1252080"/>
          </a:xfrm>
          <a:prstGeom prst="rect">
            <a:avLst/>
          </a:prstGeom>
          <a:solidFill>
            <a:srgbClr val="6E56C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102" name="TextBox 42"/>
          <p:cNvSpPr/>
          <p:nvPr/>
        </p:nvSpPr>
        <p:spPr>
          <a:xfrm>
            <a:off x="5321880" y="4754880"/>
            <a:ext cx="623556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150" b="1" u="none" strike="noStrike">
                <a:solidFill>
                  <a:srgbClr val="17324D"/>
                </a:solidFill>
                <a:effectLst/>
                <a:uFillTx/>
                <a:latin typeface="Calibri"/>
              </a:rPr>
              <a:t>PROJECT AREA</a:t>
            </a:r>
            <a:endParaRPr lang="en-IN" sz="1150" b="0" u="none" strike="noStrike">
              <a:solidFill>
                <a:srgbClr val="000000"/>
              </a:solidFill>
              <a:effectLst/>
              <a:uFillTx/>
              <a:latin typeface="Arial"/>
            </a:endParaRPr>
          </a:p>
        </p:txBody>
      </p:sp>
      <p:sp>
        <p:nvSpPr>
          <p:cNvPr id="103" name="TextBox 43"/>
          <p:cNvSpPr/>
          <p:nvPr/>
        </p:nvSpPr>
        <p:spPr>
          <a:xfrm>
            <a:off x="5321880" y="5139000"/>
            <a:ext cx="6235560" cy="61200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200" b="0" u="none" strike="noStrike">
                <a:solidFill>
                  <a:srgbClr val="4F5B62"/>
                </a:solidFill>
                <a:effectLst/>
                <a:uFillTx/>
                <a:latin typeface="Calibri"/>
              </a:rPr>
              <a:t>Cyber Security</a:t>
            </a:r>
            <a:endParaRPr lang="en-IN" sz="1200" b="0" u="none" strike="noStrike">
              <a:solidFill>
                <a:srgbClr val="000000"/>
              </a:solidFill>
              <a:effectLst/>
              <a:uFillTx/>
              <a:latin typeface="Arial"/>
            </a:endParaRPr>
          </a:p>
          <a:p>
            <a:pPr defTabSz="457200">
              <a:lnSpc>
                <a:spcPct val="95000"/>
              </a:lnSpc>
            </a:pPr>
            <a:r>
              <a:rPr lang="en-US" sz="1200" b="0" u="none" strike="noStrike">
                <a:solidFill>
                  <a:srgbClr val="4F5B62"/>
                </a:solidFill>
                <a:effectLst/>
                <a:uFillTx/>
                <a:latin typeface="Calibri"/>
              </a:rPr>
              <a:t>Personal Digital Safety</a:t>
            </a:r>
            <a:endParaRPr lang="en-IN" sz="1200" b="0" u="none" strike="noStrike">
              <a:solidFill>
                <a:srgbClr val="000000"/>
              </a:solidFill>
              <a:effectLst/>
              <a:uFillTx/>
              <a:latin typeface="Arial"/>
            </a:endParaRPr>
          </a:p>
          <a:p>
            <a:pPr defTabSz="457200">
              <a:lnSpc>
                <a:spcPct val="95000"/>
              </a:lnSpc>
            </a:pPr>
            <a:r>
              <a:rPr lang="en-US" sz="1200" b="0" u="none" strike="noStrike">
                <a:solidFill>
                  <a:srgbClr val="4F5B62"/>
                </a:solidFill>
                <a:effectLst/>
                <a:uFillTx/>
                <a:latin typeface="Calibri"/>
              </a:rPr>
              <a:t>Team: Mari Balamurugan A (Lead), Giriswar M, Mohamed Anas, Dhayananth AP</a:t>
            </a:r>
            <a:endParaRPr lang="en-IN" sz="1200" b="0" u="none" strike="noStrike">
              <a:solidFill>
                <a:srgbClr val="000000"/>
              </a:solidFill>
              <a:effectLst/>
              <a:uFillTx/>
              <a:latin typeface="Arial"/>
            </a:endParaRPr>
          </a:p>
        </p:txBody>
      </p:sp>
      <p:sp>
        <p:nvSpPr>
          <p:cNvPr id="104" name="TextBox 44"/>
          <p:cNvSpPr/>
          <p:nvPr/>
        </p:nvSpPr>
        <p:spPr>
          <a:xfrm>
            <a:off x="5139000" y="6181200"/>
            <a:ext cx="6546240" cy="255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839" b="0" u="none" strike="noStrike">
                <a:solidFill>
                  <a:srgbClr val="7B878E"/>
                </a:solidFill>
                <a:effectLst/>
                <a:uFillTx/>
                <a:latin typeface="Calibri"/>
              </a:rPr>
              <a:t>10-slide student submission | Due 30 September 2026 | Official review is recorded in the Assessment Workbook</a:t>
            </a:r>
            <a:endParaRPr lang="en-IN" sz="839" b="0" u="none" strike="noStrike">
              <a:solidFill>
                <a:srgbClr val="000000"/>
              </a:solidFill>
              <a:effectLst/>
              <a:uFillTx/>
              <a:latin typeface="Arial"/>
            </a:endParaRPr>
          </a:p>
        </p:txBody>
      </p:sp>
      <p:sp>
        <p:nvSpPr>
          <p:cNvPr id="105" name="Rounded Rectangle 45"/>
          <p:cNvSpPr/>
          <p:nvPr/>
        </p:nvSpPr>
        <p:spPr>
          <a:xfrm>
            <a:off x="8229600" y="5788080"/>
            <a:ext cx="3245400" cy="291960"/>
          </a:xfrm>
          <a:prstGeom prst="roundRect">
            <a:avLst>
              <a:gd name="adj" fmla="val 16667"/>
            </a:avLst>
          </a:prstGeom>
          <a:solidFill>
            <a:srgbClr val="E8F5F5"/>
          </a:solidFill>
          <a:ln>
            <a:solidFill>
              <a:srgbClr val="E8F5F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0" rIns="45720" bIns="0" anchor="ctr">
            <a:noAutofit/>
          </a:bodyPr>
          <a:p>
            <a:pPr algn="ctr" defTabSz="457200">
              <a:lnSpc>
                <a:spcPct val="100000"/>
              </a:lnSpc>
            </a:pPr>
            <a:r>
              <a:rPr lang="en-US" sz="850" b="1" u="none" strike="noStrike">
                <a:solidFill>
                  <a:srgbClr val="006E74"/>
                </a:solidFill>
                <a:effectLst/>
                <a:uFillTx/>
                <a:latin typeface="Aptos"/>
              </a:rPr>
              <a:t>STUDENT TEAM SUBMISSION - 10 SLIDES</a:t>
            </a:r>
            <a:endParaRPr lang="en-IN"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B"/>
        </a:solidFill>
      </p:bgPr>
    </p:bg>
    <p:spTree>
      <p:nvGrpSpPr>
        <p:cNvPr id="1" name=""/>
        <p:cNvGrpSpPr/>
        <p:nvPr/>
      </p:nvGrpSpPr>
      <p:grpSpPr>
        <a:xfrm>
          <a:off x="0" y="0"/>
          <a:ext cx="0" cy="0"/>
          <a:chOff x="0" y="0"/>
          <a:chExt cx="0" cy="0"/>
        </a:xfrm>
      </p:grpSpPr>
      <p:sp>
        <p:nvSpPr>
          <p:cNvPr id="106" name="Rectangle 1"/>
          <p:cNvSpPr/>
          <p:nvPr/>
        </p:nvSpPr>
        <p:spPr>
          <a:xfrm>
            <a:off x="9000" y="0"/>
            <a:ext cx="163800" cy="6848280"/>
          </a:xfrm>
          <a:prstGeom prst="rect">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82080" tIns="45000" rIns="82080" bIns="45000" anchor="ctr">
            <a:noAutofit/>
          </a:bodyPr>
          <a:p>
            <a:endParaRPr lang="en-US" sz="1800" b="0" u="none" strike="noStrike">
              <a:solidFill>
                <a:schemeClr val="lt1"/>
              </a:solidFill>
              <a:effectLst/>
              <a:uFillTx/>
              <a:latin typeface="Calibri"/>
            </a:endParaRPr>
          </a:p>
        </p:txBody>
      </p:sp>
      <p:sp>
        <p:nvSpPr>
          <p:cNvPr id="107" name="Oval 2"/>
          <p:cNvSpPr/>
          <p:nvPr/>
        </p:nvSpPr>
        <p:spPr>
          <a:xfrm>
            <a:off x="420480" y="265320"/>
            <a:ext cx="474840" cy="474840"/>
          </a:xfrm>
          <a:prstGeom prst="ellipse">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8" name="TextBox 3"/>
          <p:cNvSpPr/>
          <p:nvPr/>
        </p:nvSpPr>
        <p:spPr>
          <a:xfrm>
            <a:off x="420480" y="260640"/>
            <a:ext cx="474840" cy="4748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600" b="1" u="none" strike="noStrike">
                <a:solidFill>
                  <a:srgbClr val="FFFFFF"/>
                </a:solidFill>
                <a:effectLst/>
                <a:uFillTx/>
                <a:latin typeface="Calibri"/>
              </a:rPr>
              <a:t>2</a:t>
            </a:r>
            <a:endParaRPr lang="en-IN" sz="1600" b="0" u="none" strike="noStrike">
              <a:solidFill>
                <a:srgbClr val="000000"/>
              </a:solidFill>
              <a:effectLst/>
              <a:uFillTx/>
              <a:latin typeface="Arial"/>
            </a:endParaRPr>
          </a:p>
        </p:txBody>
      </p:sp>
      <p:sp>
        <p:nvSpPr>
          <p:cNvPr id="109" name="TextBox 4"/>
          <p:cNvSpPr/>
          <p:nvPr/>
        </p:nvSpPr>
        <p:spPr>
          <a:xfrm>
            <a:off x="1005840" y="210240"/>
            <a:ext cx="7634520" cy="42912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2300" b="1" u="none" strike="noStrike">
                <a:solidFill>
                  <a:srgbClr val="17324D"/>
                </a:solidFill>
                <a:effectLst/>
                <a:uFillTx/>
                <a:latin typeface="Calibri"/>
              </a:rPr>
              <a:t>Customer ecosystem and access</a:t>
            </a:r>
            <a:endParaRPr lang="en-IN" sz="2300" b="0" u="none" strike="noStrike">
              <a:solidFill>
                <a:srgbClr val="000000"/>
              </a:solidFill>
              <a:effectLst/>
              <a:uFillTx/>
              <a:latin typeface="Arial"/>
            </a:endParaRPr>
          </a:p>
        </p:txBody>
      </p:sp>
      <p:sp>
        <p:nvSpPr>
          <p:cNvPr id="110" name="TextBox 5"/>
          <p:cNvSpPr/>
          <p:nvPr/>
        </p:nvSpPr>
        <p:spPr>
          <a:xfrm>
            <a:off x="1005840" y="667440"/>
            <a:ext cx="763452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070" b="0" u="none" strike="noStrike">
                <a:solidFill>
                  <a:srgbClr val="7B878E"/>
                </a:solidFill>
                <a:effectLst/>
                <a:uFillTx/>
                <a:latin typeface="Calibri"/>
              </a:rPr>
              <a:t>Identify who experiences the problem, who benefits, who decides, and whether the team can keep engaging them.</a:t>
            </a:r>
            <a:endParaRPr lang="en-IN" sz="1070" b="0" u="none" strike="noStrike">
              <a:solidFill>
                <a:srgbClr val="000000"/>
              </a:solidFill>
              <a:effectLst/>
              <a:uFillTx/>
              <a:latin typeface="Arial"/>
            </a:endParaRPr>
          </a:p>
        </p:txBody>
      </p:sp>
      <p:sp>
        <p:nvSpPr>
          <p:cNvPr id="111" name="Rounded Rectangle 6"/>
          <p:cNvSpPr/>
          <p:nvPr/>
        </p:nvSpPr>
        <p:spPr>
          <a:xfrm>
            <a:off x="8796600" y="283320"/>
            <a:ext cx="876960" cy="282600"/>
          </a:xfrm>
          <a:prstGeom prst="roundRect">
            <a:avLst>
              <a:gd name="adj" fmla="val 16667"/>
            </a:avLst>
          </a:prstGeom>
          <a:solidFill>
            <a:srgbClr val="008C95"/>
          </a:solidFill>
          <a:ln w="10160">
            <a:solidFill>
              <a:srgbClr val="008C9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2" name="TextBox 7"/>
          <p:cNvSpPr/>
          <p:nvPr/>
        </p:nvSpPr>
        <p:spPr>
          <a:xfrm>
            <a:off x="879660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FFFFFF"/>
                </a:solidFill>
                <a:effectLst/>
                <a:uFillTx/>
                <a:latin typeface="Calibri"/>
              </a:rPr>
              <a:t>DISCOVER</a:t>
            </a:r>
            <a:endParaRPr lang="en-IN" sz="870" b="0" u="none" strike="noStrike">
              <a:solidFill>
                <a:srgbClr val="000000"/>
              </a:solidFill>
              <a:effectLst/>
              <a:uFillTx/>
              <a:latin typeface="Arial"/>
            </a:endParaRPr>
          </a:p>
        </p:txBody>
      </p:sp>
      <p:sp>
        <p:nvSpPr>
          <p:cNvPr id="113" name="Rounded Rectangle 8"/>
          <p:cNvSpPr/>
          <p:nvPr/>
        </p:nvSpPr>
        <p:spPr>
          <a:xfrm>
            <a:off x="9756720" y="283320"/>
            <a:ext cx="876960" cy="282600"/>
          </a:xfrm>
          <a:prstGeom prst="roundRect">
            <a:avLst>
              <a:gd name="adj" fmla="val 16667"/>
            </a:avLst>
          </a:prstGeom>
          <a:solidFill>
            <a:srgbClr val="F5F7F8"/>
          </a:solidFill>
          <a:ln w="1016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4" name="TextBox 9"/>
          <p:cNvSpPr/>
          <p:nvPr/>
        </p:nvSpPr>
        <p:spPr>
          <a:xfrm>
            <a:off x="975672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7B878E"/>
                </a:solidFill>
                <a:effectLst/>
                <a:uFillTx/>
                <a:latin typeface="Calibri"/>
              </a:rPr>
              <a:t>VALIDATE</a:t>
            </a:r>
            <a:endParaRPr lang="en-IN" sz="870" b="0" u="none" strike="noStrike">
              <a:solidFill>
                <a:srgbClr val="000000"/>
              </a:solidFill>
              <a:effectLst/>
              <a:uFillTx/>
              <a:latin typeface="Arial"/>
            </a:endParaRPr>
          </a:p>
        </p:txBody>
      </p:sp>
      <p:sp>
        <p:nvSpPr>
          <p:cNvPr id="115" name="Rounded Rectangle 10"/>
          <p:cNvSpPr/>
          <p:nvPr/>
        </p:nvSpPr>
        <p:spPr>
          <a:xfrm>
            <a:off x="10716840" y="283320"/>
            <a:ext cx="876960" cy="282600"/>
          </a:xfrm>
          <a:prstGeom prst="roundRect">
            <a:avLst>
              <a:gd name="adj" fmla="val 16667"/>
            </a:avLst>
          </a:prstGeom>
          <a:solidFill>
            <a:srgbClr val="F5F7F8"/>
          </a:solidFill>
          <a:ln w="1016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6" name="TextBox 11"/>
          <p:cNvSpPr/>
          <p:nvPr/>
        </p:nvSpPr>
        <p:spPr>
          <a:xfrm>
            <a:off x="1071684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7B878E"/>
                </a:solidFill>
                <a:effectLst/>
                <a:uFillTx/>
                <a:latin typeface="Calibri"/>
              </a:rPr>
              <a:t>DECIDE</a:t>
            </a:r>
            <a:endParaRPr lang="en-IN" sz="870" b="0" u="none" strike="noStrike">
              <a:solidFill>
                <a:srgbClr val="000000"/>
              </a:solidFill>
              <a:effectLst/>
              <a:uFillTx/>
              <a:latin typeface="Arial"/>
            </a:endParaRPr>
          </a:p>
        </p:txBody>
      </p:sp>
      <p:sp>
        <p:nvSpPr>
          <p:cNvPr id="117" name="Rectangle 12"/>
          <p:cNvSpPr/>
          <p:nvPr/>
        </p:nvSpPr>
        <p:spPr>
          <a:xfrm>
            <a:off x="420480" y="6492240"/>
            <a:ext cx="11337840" cy="17640"/>
          </a:xfrm>
          <a:prstGeom prst="rect">
            <a:avLst/>
          </a:prstGeom>
          <a:solidFill>
            <a:srgbClr val="D9E0E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18" name="TextBox 13"/>
          <p:cNvSpPr/>
          <p:nvPr/>
        </p:nvSpPr>
        <p:spPr>
          <a:xfrm>
            <a:off x="438840" y="6556320"/>
            <a:ext cx="6674400" cy="182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9" b="0" u="none" strike="noStrike">
                <a:solidFill>
                  <a:srgbClr val="7B878E"/>
                </a:solidFill>
                <a:effectLst/>
                <a:uFillTx/>
                <a:latin typeface="Calibri"/>
              </a:rPr>
              <a:t>SoI Innovation Projects AY2026-27  |  Phase 1 due 30 September 2026</a:t>
            </a:r>
            <a:endParaRPr lang="en-IN" sz="889" b="0" u="none" strike="noStrike">
              <a:solidFill>
                <a:srgbClr val="000000"/>
              </a:solidFill>
              <a:effectLst/>
              <a:uFillTx/>
              <a:latin typeface="Arial"/>
            </a:endParaRPr>
          </a:p>
        </p:txBody>
      </p:sp>
      <p:sp>
        <p:nvSpPr>
          <p:cNvPr id="119" name="TextBox 14"/>
          <p:cNvSpPr/>
          <p:nvPr/>
        </p:nvSpPr>
        <p:spPr>
          <a:xfrm>
            <a:off x="11064240" y="6556320"/>
            <a:ext cx="657720" cy="1821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850" b="1" u="none" strike="noStrike">
                <a:solidFill>
                  <a:srgbClr val="7B878E"/>
                </a:solidFill>
                <a:effectLst/>
                <a:uFillTx/>
                <a:latin typeface="Calibri"/>
              </a:rPr>
              <a:t>2/10</a:t>
            </a:r>
            <a:endParaRPr lang="en-IN" sz="850" b="0" u="none" strike="noStrike">
              <a:solidFill>
                <a:srgbClr val="000000"/>
              </a:solidFill>
              <a:effectLst/>
              <a:uFillTx/>
              <a:latin typeface="Arial"/>
            </a:endParaRPr>
          </a:p>
        </p:txBody>
      </p:sp>
      <p:sp>
        <p:nvSpPr>
          <p:cNvPr id="120" name="Rounded Rectangle 15"/>
          <p:cNvSpPr/>
          <p:nvPr/>
        </p:nvSpPr>
        <p:spPr>
          <a:xfrm>
            <a:off x="511920" y="1170360"/>
            <a:ext cx="3108240" cy="2833920"/>
          </a:xfrm>
          <a:prstGeom prst="roundRect">
            <a:avLst>
              <a:gd name="adj" fmla="val 16667"/>
            </a:avLst>
          </a:prstGeom>
          <a:solidFill>
            <a:srgbClr val="E8F5F5"/>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1" name="Rectangle 16"/>
          <p:cNvSpPr/>
          <p:nvPr/>
        </p:nvSpPr>
        <p:spPr>
          <a:xfrm>
            <a:off x="511920" y="1170360"/>
            <a:ext cx="72360" cy="2833920"/>
          </a:xfrm>
          <a:prstGeom prst="rect">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122" name="TextBox 17"/>
          <p:cNvSpPr/>
          <p:nvPr/>
        </p:nvSpPr>
        <p:spPr>
          <a:xfrm>
            <a:off x="694800" y="1298520"/>
            <a:ext cx="279720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550" b="1" u="none" strike="noStrike">
                <a:solidFill>
                  <a:srgbClr val="17324D"/>
                </a:solidFill>
                <a:effectLst/>
                <a:uFillTx/>
                <a:latin typeface="Calibri"/>
              </a:rPr>
              <a:t>PRIMARY END USER</a:t>
            </a:r>
            <a:endParaRPr lang="en-IN" sz="1550" b="0" u="none" strike="noStrike">
              <a:solidFill>
                <a:srgbClr val="000000"/>
              </a:solidFill>
              <a:effectLst/>
              <a:uFillTx/>
              <a:latin typeface="Arial"/>
            </a:endParaRPr>
          </a:p>
        </p:txBody>
      </p:sp>
      <p:sp>
        <p:nvSpPr>
          <p:cNvPr id="123" name="TextBox 18"/>
          <p:cNvSpPr/>
          <p:nvPr/>
        </p:nvSpPr>
        <p:spPr>
          <a:xfrm>
            <a:off x="694800" y="1682640"/>
            <a:ext cx="2797200" cy="219384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100" b="0" u="none" strike="noStrike">
                <a:solidFill>
                  <a:srgbClr val="4F5B62"/>
                </a:solidFill>
                <a:effectLst/>
                <a:uFillTx/>
                <a:latin typeface="Calibri"/>
              </a:rPr>
              <a:t>College students and young digital users of email, messaging, QR payments and social media</a:t>
            </a:r>
            <a:endParaRPr lang="en-IN" sz="1100" b="0" u="none" strike="noStrike">
              <a:solidFill>
                <a:srgbClr val="000000"/>
              </a:solidFill>
              <a:effectLst/>
              <a:uFillTx/>
              <a:latin typeface="Arial"/>
            </a:endParaRPr>
          </a:p>
          <a:p>
            <a:pPr defTabSz="457200">
              <a:lnSpc>
                <a:spcPct val="95000"/>
              </a:lnSpc>
            </a:pPr>
            <a:r>
              <a:rPr lang="en-US" sz="1100" b="0" u="none" strike="noStrike">
                <a:solidFill>
                  <a:srgbClr val="4F5B62"/>
                </a:solidFill>
                <a:effectLst/>
                <a:uFillTx/>
                <a:latin typeface="Calibri"/>
              </a:rPr>
              <a:t>Setting: everyday personal digital use</a:t>
            </a:r>
            <a:endParaRPr lang="en-IN" sz="1100" b="0" u="none" strike="noStrike">
              <a:solidFill>
                <a:srgbClr val="000000"/>
              </a:solidFill>
              <a:effectLst/>
              <a:uFillTx/>
              <a:latin typeface="Arial"/>
            </a:endParaRPr>
          </a:p>
          <a:p>
            <a:pPr defTabSz="457200">
              <a:lnSpc>
                <a:spcPct val="95000"/>
              </a:lnSpc>
            </a:pPr>
            <a:r>
              <a:rPr lang="en-US" sz="1100" b="0" u="none" strike="noStrike">
                <a:solidFill>
                  <a:srgbClr val="4F5B62"/>
                </a:solidFill>
                <a:effectLst/>
                <a:uFillTx/>
                <a:latin typeface="Calibri"/>
              </a:rPr>
              <a:t>When: suspicious message or email, unfamiliar link, unknown QR code, suspicious call, possible data breach</a:t>
            </a:r>
            <a:endParaRPr lang="en-IN" sz="1100" b="0" u="none" strike="noStrike">
              <a:solidFill>
                <a:srgbClr val="000000"/>
              </a:solidFill>
              <a:effectLst/>
              <a:uFillTx/>
              <a:latin typeface="Arial"/>
            </a:endParaRPr>
          </a:p>
          <a:p>
            <a:pPr defTabSz="457200">
              <a:lnSpc>
                <a:spcPct val="95000"/>
              </a:lnSpc>
            </a:pPr>
            <a:r>
              <a:rPr lang="en-US" sz="1100" b="0" u="none" strike="noStrike">
                <a:solidFill>
                  <a:srgbClr val="4F5B62"/>
                </a:solidFill>
                <a:effectLst/>
                <a:uFillTx/>
                <a:latin typeface="Calibri"/>
              </a:rPr>
              <a:t>Constraints: limited cybersecurity awareness; unsure whether an interaction is safe; unsure how to respond or report</a:t>
            </a:r>
            <a:endParaRPr lang="en-IN" sz="1100" b="0" u="none" strike="noStrike">
              <a:solidFill>
                <a:srgbClr val="000000"/>
              </a:solidFill>
              <a:effectLst/>
              <a:uFillTx/>
              <a:latin typeface="Arial"/>
            </a:endParaRPr>
          </a:p>
        </p:txBody>
      </p:sp>
      <p:sp>
        <p:nvSpPr>
          <p:cNvPr id="124" name="Rounded Rectangle 19"/>
          <p:cNvSpPr/>
          <p:nvPr/>
        </p:nvSpPr>
        <p:spPr>
          <a:xfrm>
            <a:off x="3913560" y="1170360"/>
            <a:ext cx="1599480" cy="282600"/>
          </a:xfrm>
          <a:prstGeom prst="roundRect">
            <a:avLst>
              <a:gd name="adj" fmla="val 16667"/>
            </a:avLst>
          </a:prstGeom>
          <a:solidFill>
            <a:srgbClr val="E8F5F5"/>
          </a:solidFill>
          <a:ln w="12700">
            <a:solidFill>
              <a:srgbClr val="E8F5F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5" name="TextBox 20"/>
          <p:cNvSpPr/>
          <p:nvPr/>
        </p:nvSpPr>
        <p:spPr>
          <a:xfrm>
            <a:off x="3950280" y="1179720"/>
            <a:ext cx="1526400" cy="26460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pPr>
            <a:r>
              <a:rPr lang="en-US" sz="1150" b="1" u="none" strike="noStrike">
                <a:solidFill>
                  <a:srgbClr val="006D75"/>
                </a:solidFill>
                <a:effectLst/>
                <a:uFillTx/>
                <a:latin typeface="Calibri"/>
              </a:rPr>
              <a:t>STAKEHOLDER MAP</a:t>
            </a:r>
            <a:endParaRPr lang="en-IN" sz="1150" b="0" u="none" strike="noStrike">
              <a:solidFill>
                <a:srgbClr val="000000"/>
              </a:solidFill>
              <a:effectLst/>
              <a:uFillTx/>
              <a:latin typeface="Arial"/>
            </a:endParaRPr>
          </a:p>
        </p:txBody>
      </p:sp>
      <p:sp>
        <p:nvSpPr>
          <p:cNvPr id="126" name="Oval 21"/>
          <p:cNvSpPr/>
          <p:nvPr/>
        </p:nvSpPr>
        <p:spPr>
          <a:xfrm>
            <a:off x="5865840" y="2313000"/>
            <a:ext cx="1069200" cy="1050840"/>
          </a:xfrm>
          <a:prstGeom prst="ellipse">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7" name="TextBox 22"/>
          <p:cNvSpPr/>
          <p:nvPr/>
        </p:nvSpPr>
        <p:spPr>
          <a:xfrm>
            <a:off x="5878800" y="2287440"/>
            <a:ext cx="1050840" cy="10508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400" b="1" u="none" strike="noStrike">
                <a:solidFill>
                  <a:srgbClr val="FFFFFF"/>
                </a:solidFill>
                <a:effectLst/>
                <a:uFillTx/>
                <a:latin typeface="Calibri"/>
              </a:rPr>
              <a:t>USER</a:t>
            </a:r>
            <a:endParaRPr lang="en-IN" sz="1400" b="0" u="none" strike="noStrike">
              <a:solidFill>
                <a:srgbClr val="000000"/>
              </a:solidFill>
              <a:effectLst/>
              <a:uFillTx/>
              <a:latin typeface="Arial"/>
            </a:endParaRPr>
          </a:p>
        </p:txBody>
      </p:sp>
      <p:sp>
        <p:nvSpPr>
          <p:cNvPr id="128" name="Rounded Rectangle 23"/>
          <p:cNvSpPr/>
          <p:nvPr/>
        </p:nvSpPr>
        <p:spPr>
          <a:xfrm>
            <a:off x="3858840" y="1627560"/>
            <a:ext cx="2120760" cy="858960"/>
          </a:xfrm>
          <a:prstGeom prst="roundRect">
            <a:avLst>
              <a:gd name="adj" fmla="val 16667"/>
            </a:avLst>
          </a:prstGeom>
          <a:solidFill>
            <a:srgbClr val="FFFFFF"/>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9" name="Rectangle 24"/>
          <p:cNvSpPr/>
          <p:nvPr/>
        </p:nvSpPr>
        <p:spPr>
          <a:xfrm>
            <a:off x="3858840" y="1627560"/>
            <a:ext cx="72360" cy="858960"/>
          </a:xfrm>
          <a:prstGeom prst="rect">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130" name="TextBox 25"/>
          <p:cNvSpPr/>
          <p:nvPr/>
        </p:nvSpPr>
        <p:spPr>
          <a:xfrm>
            <a:off x="4041720" y="1755720"/>
            <a:ext cx="180972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170" b="1" u="none" strike="noStrike">
                <a:solidFill>
                  <a:srgbClr val="17324D"/>
                </a:solidFill>
                <a:effectLst/>
                <a:uFillTx/>
                <a:latin typeface="Calibri"/>
              </a:rPr>
              <a:t>Beneficiary</a:t>
            </a:r>
            <a:endParaRPr lang="en-IN" sz="1170" b="0" u="none" strike="noStrike">
              <a:solidFill>
                <a:srgbClr val="000000"/>
              </a:solidFill>
              <a:effectLst/>
              <a:uFillTx/>
              <a:latin typeface="Arial"/>
            </a:endParaRPr>
          </a:p>
        </p:txBody>
      </p:sp>
      <p:sp>
        <p:nvSpPr>
          <p:cNvPr id="131" name="TextBox 26"/>
          <p:cNvSpPr/>
          <p:nvPr/>
        </p:nvSpPr>
        <p:spPr>
          <a:xfrm>
            <a:off x="4041720" y="2139840"/>
            <a:ext cx="1809720" cy="21888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000" b="0" u="none" strike="noStrike">
                <a:solidFill>
                  <a:srgbClr val="4F5B62"/>
                </a:solidFill>
                <a:effectLst/>
                <a:uFillTx/>
                <a:latin typeface="Calibri"/>
              </a:rPr>
              <a:t>Individual and affected family or organization</a:t>
            </a:r>
            <a:endParaRPr lang="en-IN" sz="1000" b="0" u="none" strike="noStrike">
              <a:solidFill>
                <a:srgbClr val="000000"/>
              </a:solidFill>
              <a:effectLst/>
              <a:uFillTx/>
              <a:latin typeface="Arial"/>
            </a:endParaRPr>
          </a:p>
        </p:txBody>
      </p:sp>
      <p:sp>
        <p:nvSpPr>
          <p:cNvPr id="132" name="Rounded Rectangle 27"/>
          <p:cNvSpPr/>
          <p:nvPr/>
        </p:nvSpPr>
        <p:spPr>
          <a:xfrm>
            <a:off x="6821280" y="1627560"/>
            <a:ext cx="2120760" cy="858960"/>
          </a:xfrm>
          <a:prstGeom prst="roundRect">
            <a:avLst>
              <a:gd name="adj" fmla="val 16667"/>
            </a:avLst>
          </a:prstGeom>
          <a:solidFill>
            <a:srgbClr val="FFF4DB"/>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3" name="Rectangle 28"/>
          <p:cNvSpPr/>
          <p:nvPr/>
        </p:nvSpPr>
        <p:spPr>
          <a:xfrm>
            <a:off x="6821280" y="1627560"/>
            <a:ext cx="72360" cy="858960"/>
          </a:xfrm>
          <a:prstGeom prst="rect">
            <a:avLst/>
          </a:prstGeom>
          <a:solidFill>
            <a:srgbClr val="F3A71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134" name="TextBox 29"/>
          <p:cNvSpPr/>
          <p:nvPr/>
        </p:nvSpPr>
        <p:spPr>
          <a:xfrm>
            <a:off x="7004160" y="1755720"/>
            <a:ext cx="180972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170" b="1" u="none" strike="noStrike">
                <a:solidFill>
                  <a:srgbClr val="17324D"/>
                </a:solidFill>
                <a:effectLst/>
                <a:uFillTx/>
                <a:latin typeface="Calibri"/>
              </a:rPr>
              <a:t>Support</a:t>
            </a:r>
            <a:endParaRPr lang="en-IN" sz="1170" b="0" u="none" strike="noStrike">
              <a:solidFill>
                <a:srgbClr val="000000"/>
              </a:solidFill>
              <a:effectLst/>
              <a:uFillTx/>
              <a:latin typeface="Arial"/>
            </a:endParaRPr>
          </a:p>
        </p:txBody>
      </p:sp>
      <p:sp>
        <p:nvSpPr>
          <p:cNvPr id="135" name="TextBox 30"/>
          <p:cNvSpPr/>
          <p:nvPr/>
        </p:nvSpPr>
        <p:spPr>
          <a:xfrm>
            <a:off x="7004160" y="2139840"/>
            <a:ext cx="1809720" cy="21888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950" b="0" u="none" strike="noStrike">
                <a:solidFill>
                  <a:srgbClr val="4F5B62"/>
                </a:solidFill>
                <a:effectLst/>
                <a:uFillTx/>
                <a:latin typeface="Calibri"/>
              </a:rPr>
              <a:t>Cybersecurity-aware person, IT support or institution</a:t>
            </a:r>
            <a:endParaRPr lang="en-IN" sz="950" b="0" u="none" strike="noStrike">
              <a:solidFill>
                <a:srgbClr val="000000"/>
              </a:solidFill>
              <a:effectLst/>
              <a:uFillTx/>
              <a:latin typeface="Arial"/>
            </a:endParaRPr>
          </a:p>
        </p:txBody>
      </p:sp>
      <p:sp>
        <p:nvSpPr>
          <p:cNvPr id="136" name="Rounded Rectangle 31"/>
          <p:cNvSpPr/>
          <p:nvPr/>
        </p:nvSpPr>
        <p:spPr>
          <a:xfrm>
            <a:off x="3858840" y="3163680"/>
            <a:ext cx="2120760" cy="858960"/>
          </a:xfrm>
          <a:prstGeom prst="roundRect">
            <a:avLst>
              <a:gd name="adj" fmla="val 16667"/>
            </a:avLst>
          </a:prstGeom>
          <a:solidFill>
            <a:srgbClr val="FFFFFF"/>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7" name="Rectangle 32"/>
          <p:cNvSpPr/>
          <p:nvPr/>
        </p:nvSpPr>
        <p:spPr>
          <a:xfrm>
            <a:off x="3858840" y="3163680"/>
            <a:ext cx="72360" cy="858960"/>
          </a:xfrm>
          <a:prstGeom prst="rect">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138" name="TextBox 33"/>
          <p:cNvSpPr/>
          <p:nvPr/>
        </p:nvSpPr>
        <p:spPr>
          <a:xfrm>
            <a:off x="4041720" y="3291840"/>
            <a:ext cx="180972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170" b="1" u="none" strike="noStrike">
                <a:solidFill>
                  <a:srgbClr val="17324D"/>
                </a:solidFill>
                <a:effectLst/>
                <a:uFillTx/>
                <a:latin typeface="Calibri"/>
              </a:rPr>
              <a:t>Reporting</a:t>
            </a:r>
            <a:endParaRPr lang="en-IN" sz="1170" b="0" u="none" strike="noStrike">
              <a:solidFill>
                <a:srgbClr val="000000"/>
              </a:solidFill>
              <a:effectLst/>
              <a:uFillTx/>
              <a:latin typeface="Arial"/>
            </a:endParaRPr>
          </a:p>
        </p:txBody>
      </p:sp>
      <p:sp>
        <p:nvSpPr>
          <p:cNvPr id="139" name="TextBox 34"/>
          <p:cNvSpPr/>
          <p:nvPr/>
        </p:nvSpPr>
        <p:spPr>
          <a:xfrm>
            <a:off x="4041720" y="3675960"/>
            <a:ext cx="1809720" cy="21888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000" b="0" u="none" strike="noStrike">
                <a:solidFill>
                  <a:srgbClr val="4F5B62"/>
                </a:solidFill>
                <a:effectLst/>
                <a:uFillTx/>
                <a:latin typeface="Calibri"/>
              </a:rPr>
              <a:t>Appropriate official cybercrime reporting channel</a:t>
            </a:r>
            <a:endParaRPr lang="en-IN" sz="1000" b="0" u="none" strike="noStrike">
              <a:solidFill>
                <a:srgbClr val="000000"/>
              </a:solidFill>
              <a:effectLst/>
              <a:uFillTx/>
              <a:latin typeface="Arial"/>
            </a:endParaRPr>
          </a:p>
        </p:txBody>
      </p:sp>
      <p:sp>
        <p:nvSpPr>
          <p:cNvPr id="140" name="Rounded Rectangle 35"/>
          <p:cNvSpPr/>
          <p:nvPr/>
        </p:nvSpPr>
        <p:spPr>
          <a:xfrm>
            <a:off x="6821280" y="3163680"/>
            <a:ext cx="2120760" cy="858960"/>
          </a:xfrm>
          <a:prstGeom prst="roundRect">
            <a:avLst>
              <a:gd name="adj" fmla="val 16667"/>
            </a:avLst>
          </a:prstGeom>
          <a:solidFill>
            <a:srgbClr val="FFFFFF"/>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1" name="Rectangle 36"/>
          <p:cNvSpPr/>
          <p:nvPr/>
        </p:nvSpPr>
        <p:spPr>
          <a:xfrm>
            <a:off x="6821280" y="3163680"/>
            <a:ext cx="72360" cy="858960"/>
          </a:xfrm>
          <a:prstGeom prst="rect">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142" name="TextBox 37"/>
          <p:cNvSpPr/>
          <p:nvPr/>
        </p:nvSpPr>
        <p:spPr>
          <a:xfrm>
            <a:off x="7004160" y="3291840"/>
            <a:ext cx="180972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170" b="1" u="none" strike="noStrike">
                <a:solidFill>
                  <a:srgbClr val="17324D"/>
                </a:solidFill>
                <a:effectLst/>
                <a:uFillTx/>
                <a:latin typeface="Calibri"/>
              </a:rPr>
              <a:t>Friends / peers</a:t>
            </a:r>
            <a:endParaRPr lang="en-IN" sz="1170" b="0" u="none" strike="noStrike">
              <a:solidFill>
                <a:srgbClr val="000000"/>
              </a:solidFill>
              <a:effectLst/>
              <a:uFillTx/>
              <a:latin typeface="Arial"/>
            </a:endParaRPr>
          </a:p>
        </p:txBody>
      </p:sp>
      <p:sp>
        <p:nvSpPr>
          <p:cNvPr id="143" name="TextBox 38"/>
          <p:cNvSpPr/>
          <p:nvPr/>
        </p:nvSpPr>
        <p:spPr>
          <a:xfrm>
            <a:off x="7004160" y="3675960"/>
            <a:ext cx="1809720" cy="21888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000" b="0" u="none" strike="noStrike">
                <a:solidFill>
                  <a:srgbClr val="4F5B62"/>
                </a:solidFill>
                <a:effectLst/>
                <a:uFillTx/>
                <a:latin typeface="Calibri"/>
              </a:rPr>
              <a:t>Informal advisers asked when users are unsure</a:t>
            </a:r>
            <a:endParaRPr lang="en-IN" sz="1000" b="0" u="none" strike="noStrike">
              <a:solidFill>
                <a:srgbClr val="000000"/>
              </a:solidFill>
              <a:effectLst/>
              <a:uFillTx/>
              <a:latin typeface="Arial"/>
            </a:endParaRPr>
          </a:p>
        </p:txBody>
      </p:sp>
      <p:cxnSp>
        <p:nvCxnSpPr>
          <p:cNvPr id="144" name="Connector 39"/>
          <p:cNvCxnSpPr/>
          <p:nvPr/>
        </p:nvCxnSpPr>
        <p:spPr>
          <a:xfrm>
            <a:off x="5456520" y="2087640"/>
            <a:ext cx="494640" cy="430200"/>
          </a:xfrm>
          <a:prstGeom prst="straightConnector1">
            <a:avLst/>
          </a:prstGeom>
          <a:ln w="15240">
            <a:solidFill>
              <a:srgbClr val="D9E0E4"/>
            </a:solidFill>
            <a:round/>
          </a:ln>
        </p:spPr>
      </p:cxnSp>
      <p:cxnSp>
        <p:nvCxnSpPr>
          <p:cNvPr id="145" name="Connector 40"/>
          <p:cNvCxnSpPr/>
          <p:nvPr/>
        </p:nvCxnSpPr>
        <p:spPr>
          <a:xfrm flipH="1">
            <a:off x="6749280" y="2060280"/>
            <a:ext cx="201960" cy="430560"/>
          </a:xfrm>
          <a:prstGeom prst="straightConnector1">
            <a:avLst/>
          </a:prstGeom>
          <a:ln w="15240">
            <a:solidFill>
              <a:srgbClr val="D9E0E4"/>
            </a:solidFill>
            <a:round/>
          </a:ln>
        </p:spPr>
      </p:cxnSp>
      <p:cxnSp>
        <p:nvCxnSpPr>
          <p:cNvPr id="146" name="Connector 41"/>
          <p:cNvCxnSpPr/>
          <p:nvPr/>
        </p:nvCxnSpPr>
        <p:spPr>
          <a:xfrm flipV="1">
            <a:off x="5406120" y="3120840"/>
            <a:ext cx="494640" cy="430560"/>
          </a:xfrm>
          <a:prstGeom prst="straightConnector1">
            <a:avLst/>
          </a:prstGeom>
          <a:ln w="15240">
            <a:solidFill>
              <a:srgbClr val="D9E0E4"/>
            </a:solidFill>
            <a:round/>
          </a:ln>
        </p:spPr>
      </p:cxnSp>
      <p:cxnSp>
        <p:nvCxnSpPr>
          <p:cNvPr id="147" name="Connector 42"/>
          <p:cNvCxnSpPr/>
          <p:nvPr/>
        </p:nvCxnSpPr>
        <p:spPr>
          <a:xfrm flipH="1" flipV="1">
            <a:off x="6789240" y="3108960"/>
            <a:ext cx="201960" cy="430200"/>
          </a:xfrm>
          <a:prstGeom prst="straightConnector1">
            <a:avLst/>
          </a:prstGeom>
          <a:ln w="15240">
            <a:solidFill>
              <a:srgbClr val="D9E0E4"/>
            </a:solidFill>
            <a:round/>
          </a:ln>
        </p:spPr>
      </p:cxnSp>
      <p:sp>
        <p:nvSpPr>
          <p:cNvPr id="148" name="Rounded Rectangle 43"/>
          <p:cNvSpPr/>
          <p:nvPr/>
        </p:nvSpPr>
        <p:spPr>
          <a:xfrm>
            <a:off x="9290160" y="1170360"/>
            <a:ext cx="2385720" cy="1846440"/>
          </a:xfrm>
          <a:prstGeom prst="roundRect">
            <a:avLst>
              <a:gd name="adj" fmla="val 16667"/>
            </a:avLst>
          </a:prstGeom>
          <a:solidFill>
            <a:srgbClr val="F0ECFF"/>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9" name="Rectangle 44"/>
          <p:cNvSpPr/>
          <p:nvPr/>
        </p:nvSpPr>
        <p:spPr>
          <a:xfrm>
            <a:off x="9290160" y="1170360"/>
            <a:ext cx="72360" cy="1846440"/>
          </a:xfrm>
          <a:prstGeom prst="rect">
            <a:avLst/>
          </a:prstGeom>
          <a:solidFill>
            <a:srgbClr val="6E56C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150" name="TextBox 45"/>
          <p:cNvSpPr/>
          <p:nvPr/>
        </p:nvSpPr>
        <p:spPr>
          <a:xfrm>
            <a:off x="9473040" y="1298520"/>
            <a:ext cx="207504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220" b="1" u="none" strike="noStrike">
                <a:solidFill>
                  <a:srgbClr val="17324D"/>
                </a:solidFill>
                <a:effectLst/>
                <a:uFillTx/>
                <a:latin typeface="Calibri"/>
              </a:rPr>
              <a:t>ACCESS AND PERMISSION</a:t>
            </a:r>
            <a:endParaRPr lang="en-IN" sz="1220" b="0" u="none" strike="noStrike">
              <a:solidFill>
                <a:srgbClr val="000000"/>
              </a:solidFill>
              <a:effectLst/>
              <a:uFillTx/>
              <a:latin typeface="Arial"/>
            </a:endParaRPr>
          </a:p>
        </p:txBody>
      </p:sp>
      <p:sp>
        <p:nvSpPr>
          <p:cNvPr id="151" name="TextBox 46"/>
          <p:cNvSpPr/>
          <p:nvPr/>
        </p:nvSpPr>
        <p:spPr>
          <a:xfrm>
            <a:off x="9473040" y="1682640"/>
            <a:ext cx="2075040" cy="120636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050" b="0" u="none" strike="noStrike">
                <a:solidFill>
                  <a:srgbClr val="4F5B62"/>
                </a:solidFill>
                <a:effectLst/>
                <a:uFillTx/>
                <a:latin typeface="Calibri"/>
              </a:rPr>
              <a:t>Interviews and surveys with consenting participants</a:t>
            </a:r>
            <a:endParaRPr lang="en-IN" sz="1050" b="0" u="none" strike="noStrike">
              <a:solidFill>
                <a:srgbClr val="000000"/>
              </a:solidFill>
              <a:effectLst/>
              <a:uFillTx/>
              <a:latin typeface="Arial"/>
            </a:endParaRPr>
          </a:p>
          <a:p>
            <a:pPr defTabSz="457200">
              <a:lnSpc>
                <a:spcPct val="95000"/>
              </a:lnSpc>
            </a:pPr>
            <a:r>
              <a:rPr lang="en-US" sz="1050" b="0" u="none" strike="noStrike">
                <a:solidFill>
                  <a:srgbClr val="4F5B62"/>
                </a:solidFill>
                <a:effectLst/>
                <a:uFillTx/>
                <a:latin typeface="Calibri"/>
              </a:rPr>
              <a:t>Consent obtained before collecting any message-related evidence</a:t>
            </a:r>
            <a:endParaRPr lang="en-IN" sz="1050" b="0" u="none" strike="noStrike">
              <a:solidFill>
                <a:srgbClr val="000000"/>
              </a:solidFill>
              <a:effectLst/>
              <a:uFillTx/>
              <a:latin typeface="Arial"/>
            </a:endParaRPr>
          </a:p>
          <a:p>
            <a:pPr defTabSz="457200">
              <a:lnSpc>
                <a:spcPct val="95000"/>
              </a:lnSpc>
            </a:pPr>
            <a:r>
              <a:rPr lang="en-US" sz="1050" b="0" u="none" strike="noStrike">
                <a:solidFill>
                  <a:srgbClr val="4F5B62"/>
                </a:solidFill>
                <a:effectLst/>
                <a:uFillTx/>
                <a:latin typeface="Calibri"/>
              </a:rPr>
              <a:t>Contact / access route: college departments, hostel groups, neighbours, IT staff</a:t>
            </a:r>
            <a:endParaRPr lang="en-IN" sz="1050" b="0" u="none" strike="noStrike">
              <a:solidFill>
                <a:srgbClr val="000000"/>
              </a:solidFill>
              <a:effectLst/>
              <a:uFillTx/>
              <a:latin typeface="Arial"/>
            </a:endParaRPr>
          </a:p>
        </p:txBody>
      </p:sp>
      <p:sp>
        <p:nvSpPr>
          <p:cNvPr id="152" name="Rounded Rectangle 47"/>
          <p:cNvSpPr/>
          <p:nvPr/>
        </p:nvSpPr>
        <p:spPr>
          <a:xfrm>
            <a:off x="9290160" y="3218760"/>
            <a:ext cx="2385720" cy="1480680"/>
          </a:xfrm>
          <a:prstGeom prst="roundRect">
            <a:avLst>
              <a:gd name="adj" fmla="val 16667"/>
            </a:avLst>
          </a:prstGeom>
          <a:solidFill>
            <a:srgbClr val="FFFFFF"/>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3" name="Rectangle 48"/>
          <p:cNvSpPr/>
          <p:nvPr/>
        </p:nvSpPr>
        <p:spPr>
          <a:xfrm>
            <a:off x="9290160" y="3218760"/>
            <a:ext cx="72360" cy="1480680"/>
          </a:xfrm>
          <a:prstGeom prst="rect">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154" name="TextBox 49"/>
          <p:cNvSpPr/>
          <p:nvPr/>
        </p:nvSpPr>
        <p:spPr>
          <a:xfrm>
            <a:off x="9473040" y="3346560"/>
            <a:ext cx="207504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220" b="1" u="none" strike="noStrike">
                <a:solidFill>
                  <a:srgbClr val="17324D"/>
                </a:solidFill>
                <a:effectLst/>
                <a:uFillTx/>
                <a:latin typeface="Calibri"/>
              </a:rPr>
              <a:t>REAL CUSTOMER SIGNAL</a:t>
            </a:r>
            <a:endParaRPr lang="en-IN" sz="1220" b="0" u="none" strike="noStrike">
              <a:solidFill>
                <a:srgbClr val="000000"/>
              </a:solidFill>
              <a:effectLst/>
              <a:uFillTx/>
              <a:latin typeface="Arial"/>
            </a:endParaRPr>
          </a:p>
        </p:txBody>
      </p:sp>
      <p:sp>
        <p:nvSpPr>
          <p:cNvPr id="155" name="TextBox 50"/>
          <p:cNvSpPr/>
          <p:nvPr/>
        </p:nvSpPr>
        <p:spPr>
          <a:xfrm>
            <a:off x="9473040" y="3730680"/>
            <a:ext cx="2075040" cy="84060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100" b="0" u="none" strike="noStrike">
                <a:solidFill>
                  <a:srgbClr val="4F5B62"/>
                </a:solidFill>
                <a:effectLst/>
                <a:uFillTx/>
                <a:latin typeface="Calibri"/>
              </a:rPr>
              <a:t>“I got a ‘bank KYC update’ link on WhatsApp and clicked it before thinking. Then I panicked about what to do.” - Student</a:t>
            </a:r>
            <a:endParaRPr lang="en-IN" sz="1100" b="0" u="none" strike="noStrike">
              <a:solidFill>
                <a:srgbClr val="000000"/>
              </a:solidFill>
              <a:effectLst/>
              <a:uFillTx/>
              <a:latin typeface="Arial"/>
            </a:endParaRPr>
          </a:p>
          <a:p>
            <a:pPr defTabSz="457200">
              <a:lnSpc>
                <a:spcPct val="95000"/>
              </a:lnSpc>
            </a:pPr>
            <a:r>
              <a:rPr lang="en-US" sz="1100" b="0" u="none" strike="noStrike">
                <a:solidFill>
                  <a:srgbClr val="4F5B62"/>
                </a:solidFill>
                <a:effectLst/>
                <a:uFillTx/>
                <a:latin typeface="Calibri"/>
              </a:rPr>
              <a:t>Evidence: [E01]</a:t>
            </a:r>
            <a:endParaRPr lang="en-IN" sz="1100" b="0" u="none" strike="noStrike">
              <a:solidFill>
                <a:srgbClr val="000000"/>
              </a:solidFill>
              <a:effectLst/>
              <a:uFillTx/>
              <a:latin typeface="Arial"/>
            </a:endParaRPr>
          </a:p>
        </p:txBody>
      </p:sp>
      <p:sp>
        <p:nvSpPr>
          <p:cNvPr id="156" name="Rounded Rectangle 51"/>
          <p:cNvSpPr/>
          <p:nvPr/>
        </p:nvSpPr>
        <p:spPr>
          <a:xfrm>
            <a:off x="511920" y="4316040"/>
            <a:ext cx="8430120" cy="1389240"/>
          </a:xfrm>
          <a:prstGeom prst="roundRect">
            <a:avLst>
              <a:gd name="adj" fmla="val 16667"/>
            </a:avLst>
          </a:prstGeom>
          <a:solidFill>
            <a:srgbClr val="FFFFFF"/>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7" name="TextBox 52"/>
          <p:cNvSpPr/>
          <p:nvPr/>
        </p:nvSpPr>
        <p:spPr>
          <a:xfrm>
            <a:off x="749880" y="4517280"/>
            <a:ext cx="246816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50" b="1" u="none" strike="noStrike">
                <a:solidFill>
                  <a:srgbClr val="17324D"/>
                </a:solidFill>
                <a:effectLst/>
                <a:uFillTx/>
                <a:latin typeface="Calibri"/>
              </a:rPr>
              <a:t>The job they are trying to complete</a:t>
            </a:r>
            <a:endParaRPr lang="en-IN" sz="1350" b="0" u="none" strike="noStrike">
              <a:solidFill>
                <a:srgbClr val="000000"/>
              </a:solidFill>
              <a:effectLst/>
              <a:uFillTx/>
              <a:latin typeface="Arial"/>
            </a:endParaRPr>
          </a:p>
        </p:txBody>
      </p:sp>
      <p:sp>
        <p:nvSpPr>
          <p:cNvPr id="158" name="TextBox 53"/>
          <p:cNvSpPr/>
          <p:nvPr/>
        </p:nvSpPr>
        <p:spPr>
          <a:xfrm>
            <a:off x="749880" y="4892040"/>
            <a:ext cx="7826400" cy="50220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300" b="1" u="none" strike="noStrike">
                <a:solidFill>
                  <a:srgbClr val="006D75"/>
                </a:solidFill>
                <a:effectLst/>
                <a:uFillTx/>
                <a:latin typeface="Calibri"/>
              </a:rPr>
              <a:t>When a suspicious message, link, QR code or call arrives, the user needs to decide whether it is safe and what action to take.</a:t>
            </a:r>
            <a:endParaRPr lang="en-IN" sz="1300" b="0" u="none" strike="noStrike">
              <a:solidFill>
                <a:srgbClr val="000000"/>
              </a:solidFill>
              <a:effectLst/>
              <a:uFillTx/>
              <a:latin typeface="Arial"/>
            </a:endParaRPr>
          </a:p>
        </p:txBody>
      </p:sp>
      <p:sp>
        <p:nvSpPr>
          <p:cNvPr id="159" name="Rounded Rectangle 54"/>
          <p:cNvSpPr/>
          <p:nvPr/>
        </p:nvSpPr>
        <p:spPr>
          <a:xfrm>
            <a:off x="9290160" y="4846320"/>
            <a:ext cx="2385720" cy="932040"/>
          </a:xfrm>
          <a:prstGeom prst="roundRect">
            <a:avLst>
              <a:gd name="adj" fmla="val 16667"/>
            </a:avLst>
          </a:prstGeom>
          <a:solidFill>
            <a:srgbClr val="FFF4DB"/>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0" name="Rectangle 55"/>
          <p:cNvSpPr/>
          <p:nvPr/>
        </p:nvSpPr>
        <p:spPr>
          <a:xfrm>
            <a:off x="9290160" y="4846320"/>
            <a:ext cx="72360" cy="932040"/>
          </a:xfrm>
          <a:prstGeom prst="rect">
            <a:avLst/>
          </a:prstGeom>
          <a:solidFill>
            <a:srgbClr val="F3A71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161" name="TextBox 56"/>
          <p:cNvSpPr/>
          <p:nvPr/>
        </p:nvSpPr>
        <p:spPr>
          <a:xfrm>
            <a:off x="9473040" y="4974480"/>
            <a:ext cx="207504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150" b="1" u="none" strike="noStrike">
                <a:solidFill>
                  <a:srgbClr val="17324D"/>
                </a:solidFill>
                <a:effectLst/>
                <a:uFillTx/>
                <a:latin typeface="Calibri"/>
              </a:rPr>
              <a:t>SEGMENT CHOICE</a:t>
            </a:r>
            <a:endParaRPr lang="en-IN" sz="1150" b="0" u="none" strike="noStrike">
              <a:solidFill>
                <a:srgbClr val="000000"/>
              </a:solidFill>
              <a:effectLst/>
              <a:uFillTx/>
              <a:latin typeface="Arial"/>
            </a:endParaRPr>
          </a:p>
        </p:txBody>
      </p:sp>
      <p:sp>
        <p:nvSpPr>
          <p:cNvPr id="162" name="TextBox 57"/>
          <p:cNvSpPr/>
          <p:nvPr/>
        </p:nvSpPr>
        <p:spPr>
          <a:xfrm>
            <a:off x="9473040" y="5358240"/>
            <a:ext cx="2075040" cy="29196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900" b="0" u="none" strike="noStrike">
                <a:solidFill>
                  <a:srgbClr val="4F5B62"/>
                </a:solidFill>
                <a:effectLst/>
                <a:uFillTx/>
                <a:latin typeface="Calibri"/>
              </a:rPr>
              <a:t>Young users use email, messaging and QR payments daily with limited security awareness; easy to reach.</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B"/>
        </a:solidFill>
      </p:bgPr>
    </p:bg>
    <p:spTree>
      <p:nvGrpSpPr>
        <p:cNvPr id="1" name=""/>
        <p:cNvGrpSpPr/>
        <p:nvPr/>
      </p:nvGrpSpPr>
      <p:grpSpPr>
        <a:xfrm>
          <a:off x="0" y="0"/>
          <a:ext cx="0" cy="0"/>
          <a:chOff x="0" y="0"/>
          <a:chExt cx="0" cy="0"/>
        </a:xfrm>
      </p:grpSpPr>
      <p:sp>
        <p:nvSpPr>
          <p:cNvPr id="163" name="Rectangle 1"/>
          <p:cNvSpPr/>
          <p:nvPr/>
        </p:nvSpPr>
        <p:spPr>
          <a:xfrm>
            <a:off x="9000" y="0"/>
            <a:ext cx="163800" cy="6848280"/>
          </a:xfrm>
          <a:prstGeom prst="rect">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82080" tIns="45000" rIns="82080" bIns="45000" anchor="ctr">
            <a:noAutofit/>
          </a:bodyPr>
          <a:p>
            <a:endParaRPr lang="en-US" sz="1800" b="0" u="none" strike="noStrike">
              <a:solidFill>
                <a:schemeClr val="lt1"/>
              </a:solidFill>
              <a:effectLst/>
              <a:uFillTx/>
              <a:latin typeface="Calibri"/>
            </a:endParaRPr>
          </a:p>
        </p:txBody>
      </p:sp>
      <p:sp>
        <p:nvSpPr>
          <p:cNvPr id="164" name="Oval 2"/>
          <p:cNvSpPr/>
          <p:nvPr/>
        </p:nvSpPr>
        <p:spPr>
          <a:xfrm>
            <a:off x="420480" y="265320"/>
            <a:ext cx="474840" cy="474840"/>
          </a:xfrm>
          <a:prstGeom prst="ellipse">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5" name="TextBox 3"/>
          <p:cNvSpPr/>
          <p:nvPr/>
        </p:nvSpPr>
        <p:spPr>
          <a:xfrm>
            <a:off x="420480" y="260640"/>
            <a:ext cx="474840" cy="4748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600" b="1" u="none" strike="noStrike">
                <a:solidFill>
                  <a:srgbClr val="FFFFFF"/>
                </a:solidFill>
                <a:effectLst/>
                <a:uFillTx/>
                <a:latin typeface="Calibri"/>
              </a:rPr>
              <a:t>3</a:t>
            </a:r>
            <a:endParaRPr lang="en-IN" sz="1600" b="0" u="none" strike="noStrike">
              <a:solidFill>
                <a:srgbClr val="000000"/>
              </a:solidFill>
              <a:effectLst/>
              <a:uFillTx/>
              <a:latin typeface="Arial"/>
            </a:endParaRPr>
          </a:p>
        </p:txBody>
      </p:sp>
      <p:sp>
        <p:nvSpPr>
          <p:cNvPr id="166" name="TextBox 4"/>
          <p:cNvSpPr/>
          <p:nvPr/>
        </p:nvSpPr>
        <p:spPr>
          <a:xfrm>
            <a:off x="1005840" y="210240"/>
            <a:ext cx="7634520" cy="42912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2300" b="1" u="none" strike="noStrike">
                <a:solidFill>
                  <a:srgbClr val="17324D"/>
                </a:solidFill>
                <a:effectLst/>
                <a:uFillTx/>
                <a:latin typeface="Calibri"/>
              </a:rPr>
              <a:t>Current workflow and pain moment</a:t>
            </a:r>
            <a:endParaRPr lang="en-IN" sz="2300" b="0" u="none" strike="noStrike">
              <a:solidFill>
                <a:srgbClr val="000000"/>
              </a:solidFill>
              <a:effectLst/>
              <a:uFillTx/>
              <a:latin typeface="Arial"/>
            </a:endParaRPr>
          </a:p>
        </p:txBody>
      </p:sp>
      <p:sp>
        <p:nvSpPr>
          <p:cNvPr id="167" name="TextBox 5"/>
          <p:cNvSpPr/>
          <p:nvPr/>
        </p:nvSpPr>
        <p:spPr>
          <a:xfrm>
            <a:off x="1005840" y="667440"/>
            <a:ext cx="763452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070" b="0" u="none" strike="noStrike">
                <a:solidFill>
                  <a:srgbClr val="7B878E"/>
                </a:solidFill>
                <a:effectLst/>
                <a:uFillTx/>
                <a:latin typeface="Calibri"/>
              </a:rPr>
              <a:t>Show what happens today using a real recent occurrence—not a hypothetical future scenario.</a:t>
            </a:r>
            <a:endParaRPr lang="en-IN" sz="1070" b="0" u="none" strike="noStrike">
              <a:solidFill>
                <a:srgbClr val="000000"/>
              </a:solidFill>
              <a:effectLst/>
              <a:uFillTx/>
              <a:latin typeface="Arial"/>
            </a:endParaRPr>
          </a:p>
        </p:txBody>
      </p:sp>
      <p:sp>
        <p:nvSpPr>
          <p:cNvPr id="168" name="Rounded Rectangle 6"/>
          <p:cNvSpPr/>
          <p:nvPr/>
        </p:nvSpPr>
        <p:spPr>
          <a:xfrm>
            <a:off x="8796600" y="283320"/>
            <a:ext cx="876960" cy="282600"/>
          </a:xfrm>
          <a:prstGeom prst="roundRect">
            <a:avLst>
              <a:gd name="adj" fmla="val 16667"/>
            </a:avLst>
          </a:prstGeom>
          <a:solidFill>
            <a:srgbClr val="008C95"/>
          </a:solidFill>
          <a:ln w="10160">
            <a:solidFill>
              <a:srgbClr val="008C9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9" name="TextBox 7"/>
          <p:cNvSpPr/>
          <p:nvPr/>
        </p:nvSpPr>
        <p:spPr>
          <a:xfrm>
            <a:off x="879660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FFFFFF"/>
                </a:solidFill>
                <a:effectLst/>
                <a:uFillTx/>
                <a:latin typeface="Calibri"/>
              </a:rPr>
              <a:t>DISCOVER</a:t>
            </a:r>
            <a:endParaRPr lang="en-IN" sz="870" b="0" u="none" strike="noStrike">
              <a:solidFill>
                <a:srgbClr val="000000"/>
              </a:solidFill>
              <a:effectLst/>
              <a:uFillTx/>
              <a:latin typeface="Arial"/>
            </a:endParaRPr>
          </a:p>
        </p:txBody>
      </p:sp>
      <p:sp>
        <p:nvSpPr>
          <p:cNvPr id="170" name="Rounded Rectangle 8"/>
          <p:cNvSpPr/>
          <p:nvPr/>
        </p:nvSpPr>
        <p:spPr>
          <a:xfrm>
            <a:off x="9756720" y="283320"/>
            <a:ext cx="876960" cy="282600"/>
          </a:xfrm>
          <a:prstGeom prst="roundRect">
            <a:avLst>
              <a:gd name="adj" fmla="val 16667"/>
            </a:avLst>
          </a:prstGeom>
          <a:solidFill>
            <a:srgbClr val="F5F7F8"/>
          </a:solidFill>
          <a:ln w="1016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1" name="TextBox 9"/>
          <p:cNvSpPr/>
          <p:nvPr/>
        </p:nvSpPr>
        <p:spPr>
          <a:xfrm>
            <a:off x="975672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7B878E"/>
                </a:solidFill>
                <a:effectLst/>
                <a:uFillTx/>
                <a:latin typeface="Calibri"/>
              </a:rPr>
              <a:t>VALIDATE</a:t>
            </a:r>
            <a:endParaRPr lang="en-IN" sz="870" b="0" u="none" strike="noStrike">
              <a:solidFill>
                <a:srgbClr val="000000"/>
              </a:solidFill>
              <a:effectLst/>
              <a:uFillTx/>
              <a:latin typeface="Arial"/>
            </a:endParaRPr>
          </a:p>
        </p:txBody>
      </p:sp>
      <p:sp>
        <p:nvSpPr>
          <p:cNvPr id="172" name="Rounded Rectangle 10"/>
          <p:cNvSpPr/>
          <p:nvPr/>
        </p:nvSpPr>
        <p:spPr>
          <a:xfrm>
            <a:off x="10716840" y="283320"/>
            <a:ext cx="876960" cy="282600"/>
          </a:xfrm>
          <a:prstGeom prst="roundRect">
            <a:avLst>
              <a:gd name="adj" fmla="val 16667"/>
            </a:avLst>
          </a:prstGeom>
          <a:solidFill>
            <a:srgbClr val="F5F7F8"/>
          </a:solidFill>
          <a:ln w="1016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3" name="TextBox 11"/>
          <p:cNvSpPr/>
          <p:nvPr/>
        </p:nvSpPr>
        <p:spPr>
          <a:xfrm>
            <a:off x="1071684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7B878E"/>
                </a:solidFill>
                <a:effectLst/>
                <a:uFillTx/>
                <a:latin typeface="Calibri"/>
              </a:rPr>
              <a:t>DECIDE</a:t>
            </a:r>
            <a:endParaRPr lang="en-IN" sz="870" b="0" u="none" strike="noStrike">
              <a:solidFill>
                <a:srgbClr val="000000"/>
              </a:solidFill>
              <a:effectLst/>
              <a:uFillTx/>
              <a:latin typeface="Arial"/>
            </a:endParaRPr>
          </a:p>
        </p:txBody>
      </p:sp>
      <p:sp>
        <p:nvSpPr>
          <p:cNvPr id="174" name="Rectangle 12"/>
          <p:cNvSpPr/>
          <p:nvPr/>
        </p:nvSpPr>
        <p:spPr>
          <a:xfrm>
            <a:off x="420480" y="6492240"/>
            <a:ext cx="11337840" cy="17640"/>
          </a:xfrm>
          <a:prstGeom prst="rect">
            <a:avLst/>
          </a:prstGeom>
          <a:solidFill>
            <a:srgbClr val="D9E0E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75" name="TextBox 13"/>
          <p:cNvSpPr/>
          <p:nvPr/>
        </p:nvSpPr>
        <p:spPr>
          <a:xfrm>
            <a:off x="438840" y="6556320"/>
            <a:ext cx="6674400" cy="182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9" b="0" u="none" strike="noStrike">
                <a:solidFill>
                  <a:srgbClr val="7B878E"/>
                </a:solidFill>
                <a:effectLst/>
                <a:uFillTx/>
                <a:latin typeface="Calibri"/>
              </a:rPr>
              <a:t>SoI Innovation Projects AY2026-27  |  Phase 1 due 30 September 2026</a:t>
            </a:r>
            <a:endParaRPr lang="en-IN" sz="889" b="0" u="none" strike="noStrike">
              <a:solidFill>
                <a:srgbClr val="000000"/>
              </a:solidFill>
              <a:effectLst/>
              <a:uFillTx/>
              <a:latin typeface="Arial"/>
            </a:endParaRPr>
          </a:p>
        </p:txBody>
      </p:sp>
      <p:sp>
        <p:nvSpPr>
          <p:cNvPr id="176" name="TextBox 14"/>
          <p:cNvSpPr/>
          <p:nvPr/>
        </p:nvSpPr>
        <p:spPr>
          <a:xfrm>
            <a:off x="11064240" y="6556320"/>
            <a:ext cx="657720" cy="1821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850" b="1" u="none" strike="noStrike">
                <a:solidFill>
                  <a:srgbClr val="7B878E"/>
                </a:solidFill>
                <a:effectLst/>
                <a:uFillTx/>
                <a:latin typeface="Calibri"/>
              </a:rPr>
              <a:t>3/10</a:t>
            </a:r>
            <a:endParaRPr lang="en-IN" sz="850" b="0" u="none" strike="noStrike">
              <a:solidFill>
                <a:srgbClr val="000000"/>
              </a:solidFill>
              <a:effectLst/>
              <a:uFillTx/>
              <a:latin typeface="Arial"/>
            </a:endParaRPr>
          </a:p>
        </p:txBody>
      </p:sp>
      <p:sp>
        <p:nvSpPr>
          <p:cNvPr id="177" name="Rounded Rectangle 15"/>
          <p:cNvSpPr/>
          <p:nvPr/>
        </p:nvSpPr>
        <p:spPr>
          <a:xfrm>
            <a:off x="530280" y="1298520"/>
            <a:ext cx="2340000" cy="1508040"/>
          </a:xfrm>
          <a:prstGeom prst="roundRect">
            <a:avLst>
              <a:gd name="adj" fmla="val 16667"/>
            </a:avLst>
          </a:prstGeom>
          <a:solidFill>
            <a:srgbClr val="FFFFFF"/>
          </a:solidFill>
          <a:ln w="1016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8" name="Oval 16"/>
          <p:cNvSpPr/>
          <p:nvPr/>
        </p:nvSpPr>
        <p:spPr>
          <a:xfrm>
            <a:off x="694800" y="1463040"/>
            <a:ext cx="383400" cy="383400"/>
          </a:xfrm>
          <a:prstGeom prst="ellipse">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9" name="TextBox 17"/>
          <p:cNvSpPr/>
          <p:nvPr/>
        </p:nvSpPr>
        <p:spPr>
          <a:xfrm>
            <a:off x="694800" y="1458360"/>
            <a:ext cx="383400" cy="38340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200" b="1" u="none" strike="noStrike">
                <a:solidFill>
                  <a:srgbClr val="FFFFFF"/>
                </a:solidFill>
                <a:effectLst/>
                <a:uFillTx/>
                <a:latin typeface="Calibri"/>
              </a:rPr>
              <a:t>1</a:t>
            </a:r>
            <a:endParaRPr lang="en-IN" sz="1200" b="0" u="none" strike="noStrike">
              <a:solidFill>
                <a:srgbClr val="000000"/>
              </a:solidFill>
              <a:effectLst/>
              <a:uFillTx/>
              <a:latin typeface="Arial"/>
            </a:endParaRPr>
          </a:p>
        </p:txBody>
      </p:sp>
      <p:sp>
        <p:nvSpPr>
          <p:cNvPr id="180" name="TextBox 18"/>
          <p:cNvSpPr/>
          <p:nvPr/>
        </p:nvSpPr>
        <p:spPr>
          <a:xfrm>
            <a:off x="1188720" y="1435680"/>
            <a:ext cx="1535400" cy="31032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400" b="1" u="none" strike="noStrike">
                <a:solidFill>
                  <a:srgbClr val="17324D"/>
                </a:solidFill>
                <a:effectLst/>
                <a:uFillTx/>
                <a:latin typeface="Calibri"/>
              </a:rPr>
              <a:t>TRIGGER</a:t>
            </a:r>
            <a:endParaRPr lang="en-IN" sz="1400" b="0" u="none" strike="noStrike">
              <a:solidFill>
                <a:srgbClr val="000000"/>
              </a:solidFill>
              <a:effectLst/>
              <a:uFillTx/>
              <a:latin typeface="Arial"/>
            </a:endParaRPr>
          </a:p>
        </p:txBody>
      </p:sp>
      <p:sp>
        <p:nvSpPr>
          <p:cNvPr id="181" name="TextBox 19"/>
          <p:cNvSpPr/>
          <p:nvPr/>
        </p:nvSpPr>
        <p:spPr>
          <a:xfrm>
            <a:off x="713160" y="1920240"/>
            <a:ext cx="1992600" cy="739800"/>
          </a:xfrm>
          <a:prstGeom prst="rect">
            <a:avLst/>
          </a:prstGeom>
          <a:noFill/>
          <a:ln w="0">
            <a:noFill/>
          </a:ln>
        </p:spPr>
        <p:style>
          <a:lnRef idx="0"/>
          <a:fillRef idx="0"/>
          <a:effectRef idx="0"/>
          <a:fontRef idx="minor"/>
        </p:style>
        <p:txBody>
          <a:bodyPr lIns="9000" tIns="9000" rIns="9000" bIns="9000" anchor="t">
            <a:spAutoFit/>
          </a:bodyPr>
          <a:p>
            <a:pPr defTabSz="457200">
              <a:lnSpc>
                <a:spcPct val="100000"/>
              </a:lnSpc>
            </a:pPr>
            <a:r>
              <a:rPr lang="en-US" sz="1100" b="0" u="none" strike="noStrike">
                <a:solidFill>
                  <a:srgbClr val="4F5B62"/>
                </a:solidFill>
                <a:effectLst/>
                <a:uFillTx/>
                <a:latin typeface="Calibri"/>
              </a:rPr>
              <a:t>A user receives a message, email, link, QR code or phone call that may be legitimate or malicious.</a:t>
            </a:r>
            <a:endParaRPr lang="en-IN" sz="1100" b="0" u="none" strike="noStrike">
              <a:solidFill>
                <a:srgbClr val="000000"/>
              </a:solidFill>
              <a:effectLst/>
              <a:uFillTx/>
              <a:latin typeface="Arial"/>
            </a:endParaRPr>
          </a:p>
        </p:txBody>
      </p:sp>
      <p:cxnSp>
        <p:nvCxnSpPr>
          <p:cNvPr id="182" name="Connector 20"/>
          <p:cNvCxnSpPr/>
          <p:nvPr/>
        </p:nvCxnSpPr>
        <p:spPr>
          <a:xfrm>
            <a:off x="2889360" y="2048040"/>
            <a:ext cx="192600" cy="720"/>
          </a:xfrm>
          <a:prstGeom prst="straightConnector1">
            <a:avLst/>
          </a:prstGeom>
          <a:ln w="22860">
            <a:solidFill>
              <a:srgbClr val="008C95"/>
            </a:solidFill>
            <a:round/>
          </a:ln>
        </p:spPr>
      </p:cxnSp>
      <p:sp>
        <p:nvSpPr>
          <p:cNvPr id="183" name="Rounded Rectangle 21"/>
          <p:cNvSpPr/>
          <p:nvPr/>
        </p:nvSpPr>
        <p:spPr>
          <a:xfrm>
            <a:off x="3173040" y="1298520"/>
            <a:ext cx="2340000" cy="1508040"/>
          </a:xfrm>
          <a:prstGeom prst="roundRect">
            <a:avLst>
              <a:gd name="adj" fmla="val 16667"/>
            </a:avLst>
          </a:prstGeom>
          <a:solidFill>
            <a:srgbClr val="FFFFFF"/>
          </a:solidFill>
          <a:ln w="1016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4" name="Oval 22"/>
          <p:cNvSpPr/>
          <p:nvPr/>
        </p:nvSpPr>
        <p:spPr>
          <a:xfrm>
            <a:off x="3337560" y="1463040"/>
            <a:ext cx="383400" cy="383400"/>
          </a:xfrm>
          <a:prstGeom prst="ellipse">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5" name="TextBox 23"/>
          <p:cNvSpPr/>
          <p:nvPr/>
        </p:nvSpPr>
        <p:spPr>
          <a:xfrm>
            <a:off x="3337560" y="1458360"/>
            <a:ext cx="383400" cy="38340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200" b="1" u="none" strike="noStrike">
                <a:solidFill>
                  <a:srgbClr val="FFFFFF"/>
                </a:solidFill>
                <a:effectLst/>
                <a:uFillTx/>
                <a:latin typeface="Calibri"/>
              </a:rPr>
              <a:t>2</a:t>
            </a:r>
            <a:endParaRPr lang="en-IN" sz="1200" b="0" u="none" strike="noStrike">
              <a:solidFill>
                <a:srgbClr val="000000"/>
              </a:solidFill>
              <a:effectLst/>
              <a:uFillTx/>
              <a:latin typeface="Arial"/>
            </a:endParaRPr>
          </a:p>
        </p:txBody>
      </p:sp>
      <p:sp>
        <p:nvSpPr>
          <p:cNvPr id="186" name="TextBox 24"/>
          <p:cNvSpPr/>
          <p:nvPr/>
        </p:nvSpPr>
        <p:spPr>
          <a:xfrm>
            <a:off x="3831480" y="1435680"/>
            <a:ext cx="1535400" cy="31032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400" b="1" u="none" strike="noStrike">
                <a:solidFill>
                  <a:srgbClr val="17324D"/>
                </a:solidFill>
                <a:effectLst/>
                <a:uFillTx/>
                <a:latin typeface="Calibri"/>
              </a:rPr>
              <a:t>CURRENT ACTION</a:t>
            </a:r>
            <a:endParaRPr lang="en-IN" sz="1400" b="0" u="none" strike="noStrike">
              <a:solidFill>
                <a:srgbClr val="000000"/>
              </a:solidFill>
              <a:effectLst/>
              <a:uFillTx/>
              <a:latin typeface="Arial"/>
            </a:endParaRPr>
          </a:p>
        </p:txBody>
      </p:sp>
      <p:sp>
        <p:nvSpPr>
          <p:cNvPr id="187" name="TextBox 25"/>
          <p:cNvSpPr/>
          <p:nvPr/>
        </p:nvSpPr>
        <p:spPr>
          <a:xfrm>
            <a:off x="3355920" y="1920240"/>
            <a:ext cx="1992600" cy="739800"/>
          </a:xfrm>
          <a:prstGeom prst="rect">
            <a:avLst/>
          </a:prstGeom>
          <a:noFill/>
          <a:ln w="0">
            <a:noFill/>
          </a:ln>
        </p:spPr>
        <p:style>
          <a:lnRef idx="0"/>
          <a:fillRef idx="0"/>
          <a:effectRef idx="0"/>
          <a:fontRef idx="minor"/>
        </p:style>
        <p:txBody>
          <a:bodyPr lIns="9000" tIns="9000" rIns="9000" bIns="9000" anchor="t">
            <a:spAutoFit/>
          </a:bodyPr>
          <a:p>
            <a:pPr defTabSz="457200">
              <a:lnSpc>
                <a:spcPct val="100000"/>
              </a:lnSpc>
            </a:pPr>
            <a:r>
              <a:rPr lang="en-US" sz="1050" b="0" u="none" strike="noStrike">
                <a:solidFill>
                  <a:srgbClr val="4F5B62"/>
                </a:solidFill>
                <a:effectLst/>
                <a:uFillTx/>
                <a:latin typeface="Calibri"/>
              </a:rPr>
              <a:t>Checks the sender, wording, URL, QR destination or other visible clues.</a:t>
            </a:r>
            <a:endParaRPr lang="en-IN" sz="1050" b="0" u="none" strike="noStrike">
              <a:solidFill>
                <a:srgbClr val="000000"/>
              </a:solidFill>
              <a:effectLst/>
              <a:uFillTx/>
              <a:latin typeface="Arial"/>
            </a:endParaRPr>
          </a:p>
        </p:txBody>
      </p:sp>
      <p:cxnSp>
        <p:nvCxnSpPr>
          <p:cNvPr id="188" name="Connector 26"/>
          <p:cNvCxnSpPr/>
          <p:nvPr/>
        </p:nvCxnSpPr>
        <p:spPr>
          <a:xfrm>
            <a:off x="5532120" y="2048040"/>
            <a:ext cx="192600" cy="720"/>
          </a:xfrm>
          <a:prstGeom prst="straightConnector1">
            <a:avLst/>
          </a:prstGeom>
          <a:ln w="22860">
            <a:solidFill>
              <a:srgbClr val="F3A712"/>
            </a:solidFill>
            <a:round/>
          </a:ln>
        </p:spPr>
      </p:cxnSp>
      <p:sp>
        <p:nvSpPr>
          <p:cNvPr id="189" name="Rounded Rectangle 27"/>
          <p:cNvSpPr/>
          <p:nvPr/>
        </p:nvSpPr>
        <p:spPr>
          <a:xfrm>
            <a:off x="5815440" y="1298520"/>
            <a:ext cx="2340000" cy="1508040"/>
          </a:xfrm>
          <a:prstGeom prst="roundRect">
            <a:avLst>
              <a:gd name="adj" fmla="val 16667"/>
            </a:avLst>
          </a:prstGeom>
          <a:solidFill>
            <a:srgbClr val="FFFFFF"/>
          </a:solidFill>
          <a:ln w="1016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0" name="Oval 28"/>
          <p:cNvSpPr/>
          <p:nvPr/>
        </p:nvSpPr>
        <p:spPr>
          <a:xfrm>
            <a:off x="5980320" y="1463040"/>
            <a:ext cx="383400" cy="383400"/>
          </a:xfrm>
          <a:prstGeom prst="ellipse">
            <a:avLst/>
          </a:prstGeom>
          <a:solidFill>
            <a:srgbClr val="F3A71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1" name="TextBox 29"/>
          <p:cNvSpPr/>
          <p:nvPr/>
        </p:nvSpPr>
        <p:spPr>
          <a:xfrm>
            <a:off x="5980320" y="1458360"/>
            <a:ext cx="383400" cy="38340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200" b="1" u="none" strike="noStrike">
                <a:solidFill>
                  <a:srgbClr val="FFFFFF"/>
                </a:solidFill>
                <a:effectLst/>
                <a:uFillTx/>
                <a:latin typeface="Calibri"/>
              </a:rPr>
              <a:t>3</a:t>
            </a:r>
            <a:endParaRPr lang="en-IN" sz="1200" b="0" u="none" strike="noStrike">
              <a:solidFill>
                <a:srgbClr val="000000"/>
              </a:solidFill>
              <a:effectLst/>
              <a:uFillTx/>
              <a:latin typeface="Arial"/>
            </a:endParaRPr>
          </a:p>
        </p:txBody>
      </p:sp>
      <p:sp>
        <p:nvSpPr>
          <p:cNvPr id="192" name="TextBox 30"/>
          <p:cNvSpPr/>
          <p:nvPr/>
        </p:nvSpPr>
        <p:spPr>
          <a:xfrm>
            <a:off x="6473880" y="1435680"/>
            <a:ext cx="1535400" cy="31032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400" b="1" u="none" strike="noStrike">
                <a:solidFill>
                  <a:srgbClr val="17324D"/>
                </a:solidFill>
                <a:effectLst/>
                <a:uFillTx/>
                <a:latin typeface="Calibri"/>
              </a:rPr>
              <a:t>WORKAROUND</a:t>
            </a:r>
            <a:endParaRPr lang="en-IN" sz="1400" b="0" u="none" strike="noStrike">
              <a:solidFill>
                <a:srgbClr val="000000"/>
              </a:solidFill>
              <a:effectLst/>
              <a:uFillTx/>
              <a:latin typeface="Arial"/>
            </a:endParaRPr>
          </a:p>
        </p:txBody>
      </p:sp>
      <p:sp>
        <p:nvSpPr>
          <p:cNvPr id="193" name="TextBox 31"/>
          <p:cNvSpPr/>
          <p:nvPr/>
        </p:nvSpPr>
        <p:spPr>
          <a:xfrm>
            <a:off x="5998320" y="1920240"/>
            <a:ext cx="1992600" cy="739800"/>
          </a:xfrm>
          <a:prstGeom prst="rect">
            <a:avLst/>
          </a:prstGeom>
          <a:noFill/>
          <a:ln w="0">
            <a:noFill/>
          </a:ln>
        </p:spPr>
        <p:style>
          <a:lnRef idx="0"/>
          <a:fillRef idx="0"/>
          <a:effectRef idx="0"/>
          <a:fontRef idx="minor"/>
        </p:style>
        <p:txBody>
          <a:bodyPr lIns="9000" tIns="9000" rIns="9000" bIns="9000" anchor="t">
            <a:spAutoFit/>
          </a:bodyPr>
          <a:p>
            <a:pPr defTabSz="457200">
              <a:lnSpc>
                <a:spcPct val="100000"/>
              </a:lnSpc>
            </a:pPr>
            <a:r>
              <a:rPr lang="en-US" sz="1050" b="0" u="none" strike="noStrike">
                <a:solidFill>
                  <a:srgbClr val="4F5B62"/>
                </a:solidFill>
                <a:effectLst/>
                <a:uFillTx/>
                <a:latin typeface="Calibri"/>
              </a:rPr>
              <a:t>Searches online, asks friends, contacts support or simply ignores the content.</a:t>
            </a:r>
            <a:endParaRPr lang="en-IN" sz="1050" b="0" u="none" strike="noStrike">
              <a:solidFill>
                <a:srgbClr val="000000"/>
              </a:solidFill>
              <a:effectLst/>
              <a:uFillTx/>
              <a:latin typeface="Arial"/>
            </a:endParaRPr>
          </a:p>
        </p:txBody>
      </p:sp>
      <p:cxnSp>
        <p:nvCxnSpPr>
          <p:cNvPr id="194" name="Connector 32"/>
          <p:cNvCxnSpPr/>
          <p:nvPr/>
        </p:nvCxnSpPr>
        <p:spPr>
          <a:xfrm>
            <a:off x="8174520" y="2048040"/>
            <a:ext cx="192960" cy="720"/>
          </a:xfrm>
          <a:prstGeom prst="straightConnector1">
            <a:avLst/>
          </a:prstGeom>
          <a:ln w="22860">
            <a:solidFill>
              <a:srgbClr val="F3A712"/>
            </a:solidFill>
            <a:round/>
          </a:ln>
        </p:spPr>
      </p:cxnSp>
      <p:sp>
        <p:nvSpPr>
          <p:cNvPr id="195" name="Rounded Rectangle 33"/>
          <p:cNvSpPr/>
          <p:nvPr/>
        </p:nvSpPr>
        <p:spPr>
          <a:xfrm>
            <a:off x="8458200" y="1298520"/>
            <a:ext cx="2340000" cy="1508040"/>
          </a:xfrm>
          <a:prstGeom prst="roundRect">
            <a:avLst>
              <a:gd name="adj" fmla="val 16667"/>
            </a:avLst>
          </a:prstGeom>
          <a:solidFill>
            <a:srgbClr val="FBEAEC"/>
          </a:solidFill>
          <a:ln w="19050">
            <a:solidFill>
              <a:srgbClr val="B23A4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6" name="Oval 34"/>
          <p:cNvSpPr/>
          <p:nvPr/>
        </p:nvSpPr>
        <p:spPr>
          <a:xfrm>
            <a:off x="8622720" y="1463040"/>
            <a:ext cx="383400" cy="383400"/>
          </a:xfrm>
          <a:prstGeom prst="ellipse">
            <a:avLst/>
          </a:prstGeom>
          <a:solidFill>
            <a:srgbClr val="B23A4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7" name="TextBox 35"/>
          <p:cNvSpPr/>
          <p:nvPr/>
        </p:nvSpPr>
        <p:spPr>
          <a:xfrm>
            <a:off x="8622720" y="1458360"/>
            <a:ext cx="383400" cy="38340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200" b="1" u="none" strike="noStrike">
                <a:solidFill>
                  <a:srgbClr val="FFFFFF"/>
                </a:solidFill>
                <a:effectLst/>
                <a:uFillTx/>
                <a:latin typeface="Calibri"/>
              </a:rPr>
              <a:t>4</a:t>
            </a:r>
            <a:endParaRPr lang="en-IN" sz="1200" b="0" u="none" strike="noStrike">
              <a:solidFill>
                <a:srgbClr val="000000"/>
              </a:solidFill>
              <a:effectLst/>
              <a:uFillTx/>
              <a:latin typeface="Arial"/>
            </a:endParaRPr>
          </a:p>
        </p:txBody>
      </p:sp>
      <p:sp>
        <p:nvSpPr>
          <p:cNvPr id="198" name="TextBox 36"/>
          <p:cNvSpPr/>
          <p:nvPr/>
        </p:nvSpPr>
        <p:spPr>
          <a:xfrm>
            <a:off x="9116640" y="1435680"/>
            <a:ext cx="1535400" cy="31032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400" b="1" u="none" strike="noStrike">
                <a:solidFill>
                  <a:srgbClr val="17324D"/>
                </a:solidFill>
                <a:effectLst/>
                <a:uFillTx/>
                <a:latin typeface="Calibri"/>
              </a:rPr>
              <a:t>OUTCOME / PAIN</a:t>
            </a:r>
            <a:endParaRPr lang="en-IN" sz="1400" b="0" u="none" strike="noStrike">
              <a:solidFill>
                <a:srgbClr val="000000"/>
              </a:solidFill>
              <a:effectLst/>
              <a:uFillTx/>
              <a:latin typeface="Arial"/>
            </a:endParaRPr>
          </a:p>
        </p:txBody>
      </p:sp>
      <p:sp>
        <p:nvSpPr>
          <p:cNvPr id="199" name="TextBox 37"/>
          <p:cNvSpPr/>
          <p:nvPr/>
        </p:nvSpPr>
        <p:spPr>
          <a:xfrm>
            <a:off x="8641080" y="1920240"/>
            <a:ext cx="1992600" cy="739800"/>
          </a:xfrm>
          <a:prstGeom prst="rect">
            <a:avLst/>
          </a:prstGeom>
          <a:noFill/>
          <a:ln w="0">
            <a:noFill/>
          </a:ln>
        </p:spPr>
        <p:style>
          <a:lnRef idx="0"/>
          <a:fillRef idx="0"/>
          <a:effectRef idx="0"/>
          <a:fontRef idx="minor"/>
        </p:style>
        <p:txBody>
          <a:bodyPr lIns="9000" tIns="9000" rIns="9000" bIns="9000" anchor="t">
            <a:spAutoFit/>
          </a:bodyPr>
          <a:p>
            <a:pPr defTabSz="457200">
              <a:lnSpc>
                <a:spcPct val="100000"/>
              </a:lnSpc>
            </a:pPr>
            <a:r>
              <a:rPr lang="en-US" sz="1000" b="0" u="none" strike="noStrike">
                <a:solidFill>
                  <a:srgbClr val="4F5B62"/>
                </a:solidFill>
                <a:effectLst/>
                <a:uFillTx/>
                <a:latin typeface="Calibri"/>
              </a:rPr>
              <a:t>Uncertainty can lead to unsafe clicking, information sharing, delayed reporting or continued exposure.</a:t>
            </a:r>
            <a:endParaRPr lang="en-IN" sz="1000" b="0" u="none" strike="noStrike">
              <a:solidFill>
                <a:srgbClr val="000000"/>
              </a:solidFill>
              <a:effectLst/>
              <a:uFillTx/>
              <a:latin typeface="Arial"/>
            </a:endParaRPr>
          </a:p>
        </p:txBody>
      </p:sp>
      <p:sp>
        <p:nvSpPr>
          <p:cNvPr id="200" name="Rounded Rectangle 38"/>
          <p:cNvSpPr/>
          <p:nvPr/>
        </p:nvSpPr>
        <p:spPr>
          <a:xfrm>
            <a:off x="530280" y="3145680"/>
            <a:ext cx="3162960" cy="1206360"/>
          </a:xfrm>
          <a:prstGeom prst="roundRect">
            <a:avLst>
              <a:gd name="adj" fmla="val 16667"/>
            </a:avLst>
          </a:prstGeom>
          <a:solidFill>
            <a:srgbClr val="FFFFFF"/>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1" name="Rectangle 39"/>
          <p:cNvSpPr/>
          <p:nvPr/>
        </p:nvSpPr>
        <p:spPr>
          <a:xfrm>
            <a:off x="530280" y="3145680"/>
            <a:ext cx="72360" cy="1206360"/>
          </a:xfrm>
          <a:prstGeom prst="rect">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202" name="TextBox 40"/>
          <p:cNvSpPr/>
          <p:nvPr/>
        </p:nvSpPr>
        <p:spPr>
          <a:xfrm>
            <a:off x="713160" y="3273480"/>
            <a:ext cx="285228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240" b="1" u="none" strike="noStrike">
                <a:solidFill>
                  <a:srgbClr val="17324D"/>
                </a:solidFill>
                <a:effectLst/>
                <a:uFillTx/>
                <a:latin typeface="Calibri"/>
              </a:rPr>
              <a:t>LAST REAL OCCURRENCE</a:t>
            </a:r>
            <a:endParaRPr lang="en-IN" sz="1240" b="0" u="none" strike="noStrike">
              <a:solidFill>
                <a:srgbClr val="000000"/>
              </a:solidFill>
              <a:effectLst/>
              <a:uFillTx/>
              <a:latin typeface="Arial"/>
            </a:endParaRPr>
          </a:p>
        </p:txBody>
      </p:sp>
      <p:sp>
        <p:nvSpPr>
          <p:cNvPr id="203" name="TextBox 41"/>
          <p:cNvSpPr/>
          <p:nvPr/>
        </p:nvSpPr>
        <p:spPr>
          <a:xfrm>
            <a:off x="713160" y="3657600"/>
            <a:ext cx="2852280" cy="56628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100" b="0" u="none" strike="noStrike">
                <a:solidFill>
                  <a:srgbClr val="4F5B62"/>
                </a:solidFill>
                <a:effectLst/>
                <a:uFillTx/>
                <a:latin typeface="Calibri"/>
              </a:rPr>
              <a:t>A student scanned a QR code on a ‘cashback’ poster, felt the payment page looked odd, stopped and asked a friend (near-miss).</a:t>
            </a:r>
            <a:endParaRPr lang="en-IN" sz="1100" b="0" u="none" strike="noStrike">
              <a:solidFill>
                <a:srgbClr val="000000"/>
              </a:solidFill>
              <a:effectLst/>
              <a:uFillTx/>
              <a:latin typeface="Arial"/>
            </a:endParaRPr>
          </a:p>
          <a:p>
            <a:pPr defTabSz="457200">
              <a:lnSpc>
                <a:spcPct val="95000"/>
              </a:lnSpc>
            </a:pPr>
            <a:r>
              <a:rPr lang="en-US" sz="1100" b="0" u="none" strike="noStrike">
                <a:solidFill>
                  <a:srgbClr val="4F5B62"/>
                </a:solidFill>
                <a:effectLst/>
                <a:uFillTx/>
                <a:latin typeface="Calibri"/>
              </a:rPr>
              <a:t>Evidence: [E03]</a:t>
            </a:r>
            <a:endParaRPr lang="en-IN" sz="1100" b="0" u="none" strike="noStrike">
              <a:solidFill>
                <a:srgbClr val="000000"/>
              </a:solidFill>
              <a:effectLst/>
              <a:uFillTx/>
              <a:latin typeface="Arial"/>
            </a:endParaRPr>
          </a:p>
        </p:txBody>
      </p:sp>
      <p:sp>
        <p:nvSpPr>
          <p:cNvPr id="204" name="Rounded Rectangle 42"/>
          <p:cNvSpPr/>
          <p:nvPr/>
        </p:nvSpPr>
        <p:spPr>
          <a:xfrm>
            <a:off x="3913560" y="3145680"/>
            <a:ext cx="3162960" cy="1206360"/>
          </a:xfrm>
          <a:prstGeom prst="roundRect">
            <a:avLst>
              <a:gd name="adj" fmla="val 16667"/>
            </a:avLst>
          </a:prstGeom>
          <a:solidFill>
            <a:srgbClr val="EAF4EA"/>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5" name="Rectangle 43"/>
          <p:cNvSpPr/>
          <p:nvPr/>
        </p:nvSpPr>
        <p:spPr>
          <a:xfrm>
            <a:off x="3913560" y="3145680"/>
            <a:ext cx="72360" cy="1206360"/>
          </a:xfrm>
          <a:prstGeom prst="rect">
            <a:avLst/>
          </a:prstGeom>
          <a:solidFill>
            <a:srgbClr val="2E7D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206" name="TextBox 44"/>
          <p:cNvSpPr/>
          <p:nvPr/>
        </p:nvSpPr>
        <p:spPr>
          <a:xfrm>
            <a:off x="4096440" y="3273480"/>
            <a:ext cx="285228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240" b="1" u="none" strike="noStrike">
                <a:solidFill>
                  <a:srgbClr val="17324D"/>
                </a:solidFill>
                <a:effectLst/>
                <a:uFillTx/>
                <a:latin typeface="Calibri"/>
              </a:rPr>
              <a:t>WHAT WORKS TODAY</a:t>
            </a:r>
            <a:endParaRPr lang="en-IN" sz="1240" b="0" u="none" strike="noStrike">
              <a:solidFill>
                <a:srgbClr val="000000"/>
              </a:solidFill>
              <a:effectLst/>
              <a:uFillTx/>
              <a:latin typeface="Arial"/>
            </a:endParaRPr>
          </a:p>
        </p:txBody>
      </p:sp>
      <p:sp>
        <p:nvSpPr>
          <p:cNvPr id="207" name="TextBox 45"/>
          <p:cNvSpPr/>
          <p:nvPr/>
        </p:nvSpPr>
        <p:spPr>
          <a:xfrm>
            <a:off x="4096440" y="3657600"/>
            <a:ext cx="2852280" cy="56628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100" b="0" u="none" strike="noStrike">
                <a:solidFill>
                  <a:srgbClr val="4F5B62"/>
                </a:solidFill>
                <a:effectLst/>
                <a:uFillTx/>
                <a:latin typeface="Calibri"/>
              </a:rPr>
              <a:t>Security warnings, spam filters, awareness programs, bank alerts, reporting mechanisms and IT support give some protection.</a:t>
            </a:r>
            <a:endParaRPr lang="en-IN" sz="1100" b="0" u="none" strike="noStrike">
              <a:solidFill>
                <a:srgbClr val="000000"/>
              </a:solidFill>
              <a:effectLst/>
              <a:uFillTx/>
              <a:latin typeface="Arial"/>
            </a:endParaRPr>
          </a:p>
        </p:txBody>
      </p:sp>
      <p:sp>
        <p:nvSpPr>
          <p:cNvPr id="208" name="Rounded Rectangle 46"/>
          <p:cNvSpPr/>
          <p:nvPr/>
        </p:nvSpPr>
        <p:spPr>
          <a:xfrm>
            <a:off x="7296840" y="3145680"/>
            <a:ext cx="4415760" cy="1206360"/>
          </a:xfrm>
          <a:prstGeom prst="roundRect">
            <a:avLst>
              <a:gd name="adj" fmla="val 16667"/>
            </a:avLst>
          </a:prstGeom>
          <a:solidFill>
            <a:srgbClr val="FBEAEC"/>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9" name="Rectangle 47"/>
          <p:cNvSpPr/>
          <p:nvPr/>
        </p:nvSpPr>
        <p:spPr>
          <a:xfrm>
            <a:off x="7296840" y="3145680"/>
            <a:ext cx="72360" cy="1206360"/>
          </a:xfrm>
          <a:prstGeom prst="rect">
            <a:avLst/>
          </a:prstGeom>
          <a:solidFill>
            <a:srgbClr val="B23A4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210" name="TextBox 48"/>
          <p:cNvSpPr/>
          <p:nvPr/>
        </p:nvSpPr>
        <p:spPr>
          <a:xfrm>
            <a:off x="7479720" y="3273480"/>
            <a:ext cx="410508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240" b="1" u="none" strike="noStrike">
                <a:solidFill>
                  <a:srgbClr val="17324D"/>
                </a:solidFill>
                <a:effectLst/>
                <a:uFillTx/>
                <a:latin typeface="Calibri"/>
              </a:rPr>
              <a:t>WHAT REMAINS UNSOLVED</a:t>
            </a:r>
            <a:endParaRPr lang="en-IN" sz="1240" b="0" u="none" strike="noStrike">
              <a:solidFill>
                <a:srgbClr val="000000"/>
              </a:solidFill>
              <a:effectLst/>
              <a:uFillTx/>
              <a:latin typeface="Arial"/>
            </a:endParaRPr>
          </a:p>
        </p:txBody>
      </p:sp>
      <p:sp>
        <p:nvSpPr>
          <p:cNvPr id="211" name="TextBox 49"/>
          <p:cNvSpPr/>
          <p:nvPr/>
        </p:nvSpPr>
        <p:spPr>
          <a:xfrm>
            <a:off x="7479720" y="3657600"/>
            <a:ext cx="4105080" cy="56628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100" b="0" u="none" strike="noStrike">
                <a:solidFill>
                  <a:srgbClr val="4F5B62"/>
                </a:solidFill>
                <a:effectLst/>
                <a:uFillTx/>
                <a:latin typeface="Calibri"/>
              </a:rPr>
              <a:t>Users often cannot tell if a link, QR code or call is genuine, and do not know where to report.</a:t>
            </a:r>
            <a:endParaRPr lang="en-IN" sz="1100" b="0" u="none" strike="noStrike">
              <a:solidFill>
                <a:srgbClr val="000000"/>
              </a:solidFill>
              <a:effectLst/>
              <a:uFillTx/>
              <a:latin typeface="Arial"/>
            </a:endParaRPr>
          </a:p>
        </p:txBody>
      </p:sp>
      <p:sp>
        <p:nvSpPr>
          <p:cNvPr id="212" name="Rounded Rectangle 50"/>
          <p:cNvSpPr/>
          <p:nvPr/>
        </p:nvSpPr>
        <p:spPr>
          <a:xfrm>
            <a:off x="530280" y="4443840"/>
            <a:ext cx="2486520" cy="282600"/>
          </a:xfrm>
          <a:prstGeom prst="roundRect">
            <a:avLst>
              <a:gd name="adj" fmla="val 16667"/>
            </a:avLst>
          </a:prstGeom>
          <a:solidFill>
            <a:srgbClr val="E8F5F5"/>
          </a:solidFill>
          <a:ln w="12700">
            <a:solidFill>
              <a:srgbClr val="E8F5F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3" name="TextBox 51"/>
          <p:cNvSpPr/>
          <p:nvPr/>
        </p:nvSpPr>
        <p:spPr>
          <a:xfrm>
            <a:off x="567000" y="4453200"/>
            <a:ext cx="2413440" cy="26460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pPr>
            <a:r>
              <a:rPr lang="en-US" sz="1150" b="1" u="none" strike="noStrike">
                <a:solidFill>
                  <a:srgbClr val="006D75"/>
                </a:solidFill>
                <a:effectLst/>
                <a:uFillTx/>
                <a:latin typeface="Calibri"/>
              </a:rPr>
              <a:t>VALIDATED PROBLEM STATEMENT</a:t>
            </a:r>
            <a:endParaRPr lang="en-IN" sz="1150" b="0" u="none" strike="noStrike">
              <a:solidFill>
                <a:srgbClr val="000000"/>
              </a:solidFill>
              <a:effectLst/>
              <a:uFillTx/>
              <a:latin typeface="Arial"/>
            </a:endParaRPr>
          </a:p>
        </p:txBody>
      </p:sp>
      <p:sp>
        <p:nvSpPr>
          <p:cNvPr id="214" name="Rounded Rectangle 52"/>
          <p:cNvSpPr/>
          <p:nvPr/>
        </p:nvSpPr>
        <p:spPr>
          <a:xfrm>
            <a:off x="530280" y="4800600"/>
            <a:ext cx="11182320" cy="932040"/>
          </a:xfrm>
          <a:prstGeom prst="roundRect">
            <a:avLst>
              <a:gd name="adj" fmla="val 16667"/>
            </a:avLst>
          </a:prstGeom>
          <a:solidFill>
            <a:srgbClr val="E8F5F5"/>
          </a:solidFill>
          <a:ln w="17780">
            <a:solidFill>
              <a:srgbClr val="008C9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5" name="TextBox 53"/>
          <p:cNvSpPr/>
          <p:nvPr/>
        </p:nvSpPr>
        <p:spPr>
          <a:xfrm>
            <a:off x="804600" y="4946760"/>
            <a:ext cx="10633680" cy="63936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pPr>
            <a:r>
              <a:rPr lang="en-US" sz="1300" b="1" u="none" strike="noStrike">
                <a:solidFill>
                  <a:srgbClr val="17324D"/>
                </a:solidFill>
                <a:effectLst/>
                <a:uFillTx/>
                <a:latin typeface="Calibri"/>
              </a:rPr>
              <a:t>Everyday digital users struggle to judge whether an interaction is safe and how to respond because visible cues and available support may not give enough confidence or timely guidance, risking account compromise, financial loss or data exposure.</a:t>
            </a:r>
            <a:endParaRPr lang="en-IN" sz="1300" b="0" u="none" strike="noStrike">
              <a:solidFill>
                <a:srgbClr val="000000"/>
              </a:solidFill>
              <a:effectLst/>
              <a:uFillTx/>
              <a:latin typeface="Arial"/>
            </a:endParaRPr>
          </a:p>
        </p:txBody>
      </p:sp>
      <p:sp>
        <p:nvSpPr>
          <p:cNvPr id="216" name="TextBox 54"/>
          <p:cNvSpPr/>
          <p:nvPr/>
        </p:nvSpPr>
        <p:spPr>
          <a:xfrm>
            <a:off x="530280" y="5934600"/>
            <a:ext cx="11182320" cy="255240"/>
          </a:xfrm>
          <a:prstGeom prst="rect">
            <a:avLst/>
          </a:prstGeom>
          <a:noFill/>
          <a:ln w="0">
            <a:noFill/>
          </a:ln>
        </p:spPr>
        <p:style>
          <a:lnRef idx="0"/>
          <a:fillRef idx="0"/>
          <a:effectRef idx="0"/>
          <a:fontRef idx="minor"/>
        </p:style>
        <p:txBody>
          <a:bodyPr lIns="0" tIns="0" rIns="0" bIns="0" anchor="t">
            <a:spAutoFit/>
          </a:bodyPr>
          <a:p>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B"/>
        </a:solidFill>
      </p:bgPr>
    </p:bg>
    <p:spTree>
      <p:nvGrpSpPr>
        <p:cNvPr id="1" name=""/>
        <p:cNvGrpSpPr/>
        <p:nvPr/>
      </p:nvGrpSpPr>
      <p:grpSpPr>
        <a:xfrm>
          <a:off x="0" y="0"/>
          <a:ext cx="0" cy="0"/>
          <a:chOff x="0" y="0"/>
          <a:chExt cx="0" cy="0"/>
        </a:xfrm>
      </p:grpSpPr>
      <p:sp>
        <p:nvSpPr>
          <p:cNvPr id="217" name="Rectangle 1"/>
          <p:cNvSpPr/>
          <p:nvPr/>
        </p:nvSpPr>
        <p:spPr>
          <a:xfrm>
            <a:off x="9000" y="0"/>
            <a:ext cx="163800" cy="6848280"/>
          </a:xfrm>
          <a:prstGeom prst="rect">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82080" tIns="45000" rIns="82080" bIns="45000" anchor="ctr">
            <a:noAutofit/>
          </a:bodyPr>
          <a:p>
            <a:endParaRPr lang="en-US" sz="1800" b="0" u="none" strike="noStrike">
              <a:solidFill>
                <a:schemeClr val="lt1"/>
              </a:solidFill>
              <a:effectLst/>
              <a:uFillTx/>
              <a:latin typeface="Calibri"/>
            </a:endParaRPr>
          </a:p>
        </p:txBody>
      </p:sp>
      <p:sp>
        <p:nvSpPr>
          <p:cNvPr id="218" name="Oval 2"/>
          <p:cNvSpPr/>
          <p:nvPr/>
        </p:nvSpPr>
        <p:spPr>
          <a:xfrm>
            <a:off x="420480" y="265320"/>
            <a:ext cx="474840" cy="474840"/>
          </a:xfrm>
          <a:prstGeom prst="ellipse">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9" name="TextBox 3"/>
          <p:cNvSpPr/>
          <p:nvPr/>
        </p:nvSpPr>
        <p:spPr>
          <a:xfrm>
            <a:off x="420480" y="260640"/>
            <a:ext cx="474840" cy="4748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600" b="1" u="none" strike="noStrike">
                <a:solidFill>
                  <a:srgbClr val="FFFFFF"/>
                </a:solidFill>
                <a:effectLst/>
                <a:uFillTx/>
                <a:latin typeface="Calibri"/>
              </a:rPr>
              <a:t>4</a:t>
            </a:r>
            <a:endParaRPr lang="en-IN" sz="1600" b="0" u="none" strike="noStrike">
              <a:solidFill>
                <a:srgbClr val="000000"/>
              </a:solidFill>
              <a:effectLst/>
              <a:uFillTx/>
              <a:latin typeface="Arial"/>
            </a:endParaRPr>
          </a:p>
        </p:txBody>
      </p:sp>
      <p:sp>
        <p:nvSpPr>
          <p:cNvPr id="220" name="TextBox 4"/>
          <p:cNvSpPr/>
          <p:nvPr/>
        </p:nvSpPr>
        <p:spPr>
          <a:xfrm>
            <a:off x="1005840" y="210240"/>
            <a:ext cx="7634520" cy="42912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2300" b="1" u="none" strike="noStrike">
                <a:solidFill>
                  <a:srgbClr val="17324D"/>
                </a:solidFill>
                <a:effectLst/>
                <a:uFillTx/>
                <a:latin typeface="Calibri"/>
              </a:rPr>
              <a:t>Customer validation plan and coverage</a:t>
            </a:r>
            <a:endParaRPr lang="en-IN" sz="2300" b="0" u="none" strike="noStrike">
              <a:solidFill>
                <a:srgbClr val="000000"/>
              </a:solidFill>
              <a:effectLst/>
              <a:uFillTx/>
              <a:latin typeface="Arial"/>
            </a:endParaRPr>
          </a:p>
        </p:txBody>
      </p:sp>
      <p:sp>
        <p:nvSpPr>
          <p:cNvPr id="221" name="TextBox 5"/>
          <p:cNvSpPr/>
          <p:nvPr/>
        </p:nvSpPr>
        <p:spPr>
          <a:xfrm>
            <a:off x="1005840" y="667440"/>
            <a:ext cx="763452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070" b="0" u="none" strike="noStrike">
                <a:solidFill>
                  <a:srgbClr val="7B878E"/>
                </a:solidFill>
                <a:effectLst/>
                <a:uFillTx/>
                <a:latin typeface="Calibri"/>
              </a:rPr>
              <a:t>Plan purposeful evidence collection. Quality, diversity and relevance matter more than collecting many convenient responses.</a:t>
            </a:r>
            <a:endParaRPr lang="en-IN" sz="1070" b="0" u="none" strike="noStrike">
              <a:solidFill>
                <a:srgbClr val="000000"/>
              </a:solidFill>
              <a:effectLst/>
              <a:uFillTx/>
              <a:latin typeface="Arial"/>
            </a:endParaRPr>
          </a:p>
        </p:txBody>
      </p:sp>
      <p:sp>
        <p:nvSpPr>
          <p:cNvPr id="222" name="Rounded Rectangle 6"/>
          <p:cNvSpPr/>
          <p:nvPr/>
        </p:nvSpPr>
        <p:spPr>
          <a:xfrm>
            <a:off x="8796600" y="283320"/>
            <a:ext cx="876960" cy="282600"/>
          </a:xfrm>
          <a:prstGeom prst="roundRect">
            <a:avLst>
              <a:gd name="adj" fmla="val 16667"/>
            </a:avLst>
          </a:prstGeom>
          <a:solidFill>
            <a:srgbClr val="008C95"/>
          </a:solidFill>
          <a:ln w="10160">
            <a:solidFill>
              <a:srgbClr val="008C9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3" name="TextBox 7"/>
          <p:cNvSpPr/>
          <p:nvPr/>
        </p:nvSpPr>
        <p:spPr>
          <a:xfrm>
            <a:off x="879660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FFFFFF"/>
                </a:solidFill>
                <a:effectLst/>
                <a:uFillTx/>
                <a:latin typeface="Calibri"/>
              </a:rPr>
              <a:t>DISCOVER</a:t>
            </a:r>
            <a:endParaRPr lang="en-IN" sz="870" b="0" u="none" strike="noStrike">
              <a:solidFill>
                <a:srgbClr val="000000"/>
              </a:solidFill>
              <a:effectLst/>
              <a:uFillTx/>
              <a:latin typeface="Arial"/>
            </a:endParaRPr>
          </a:p>
        </p:txBody>
      </p:sp>
      <p:sp>
        <p:nvSpPr>
          <p:cNvPr id="224" name="Rounded Rectangle 8"/>
          <p:cNvSpPr/>
          <p:nvPr/>
        </p:nvSpPr>
        <p:spPr>
          <a:xfrm>
            <a:off x="9756720" y="283320"/>
            <a:ext cx="876960" cy="282600"/>
          </a:xfrm>
          <a:prstGeom prst="roundRect">
            <a:avLst>
              <a:gd name="adj" fmla="val 16667"/>
            </a:avLst>
          </a:prstGeom>
          <a:solidFill>
            <a:srgbClr val="F5F7F8"/>
          </a:solidFill>
          <a:ln w="1016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5" name="TextBox 9"/>
          <p:cNvSpPr/>
          <p:nvPr/>
        </p:nvSpPr>
        <p:spPr>
          <a:xfrm>
            <a:off x="975672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7B878E"/>
                </a:solidFill>
                <a:effectLst/>
                <a:uFillTx/>
                <a:latin typeface="Calibri"/>
              </a:rPr>
              <a:t>VALIDATE</a:t>
            </a:r>
            <a:endParaRPr lang="en-IN" sz="870" b="0" u="none" strike="noStrike">
              <a:solidFill>
                <a:srgbClr val="000000"/>
              </a:solidFill>
              <a:effectLst/>
              <a:uFillTx/>
              <a:latin typeface="Arial"/>
            </a:endParaRPr>
          </a:p>
        </p:txBody>
      </p:sp>
      <p:sp>
        <p:nvSpPr>
          <p:cNvPr id="226" name="Rounded Rectangle 10"/>
          <p:cNvSpPr/>
          <p:nvPr/>
        </p:nvSpPr>
        <p:spPr>
          <a:xfrm>
            <a:off x="10716840" y="283320"/>
            <a:ext cx="876960" cy="282600"/>
          </a:xfrm>
          <a:prstGeom prst="roundRect">
            <a:avLst>
              <a:gd name="adj" fmla="val 16667"/>
            </a:avLst>
          </a:prstGeom>
          <a:solidFill>
            <a:srgbClr val="F5F7F8"/>
          </a:solidFill>
          <a:ln w="1016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7" name="TextBox 11"/>
          <p:cNvSpPr/>
          <p:nvPr/>
        </p:nvSpPr>
        <p:spPr>
          <a:xfrm>
            <a:off x="1071684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7B878E"/>
                </a:solidFill>
                <a:effectLst/>
                <a:uFillTx/>
                <a:latin typeface="Calibri"/>
              </a:rPr>
              <a:t>DECIDE</a:t>
            </a:r>
            <a:endParaRPr lang="en-IN" sz="870" b="0" u="none" strike="noStrike">
              <a:solidFill>
                <a:srgbClr val="000000"/>
              </a:solidFill>
              <a:effectLst/>
              <a:uFillTx/>
              <a:latin typeface="Arial"/>
            </a:endParaRPr>
          </a:p>
        </p:txBody>
      </p:sp>
      <p:sp>
        <p:nvSpPr>
          <p:cNvPr id="228" name="Rectangle 12"/>
          <p:cNvSpPr/>
          <p:nvPr/>
        </p:nvSpPr>
        <p:spPr>
          <a:xfrm>
            <a:off x="420480" y="6492240"/>
            <a:ext cx="11337840" cy="17640"/>
          </a:xfrm>
          <a:prstGeom prst="rect">
            <a:avLst/>
          </a:prstGeom>
          <a:solidFill>
            <a:srgbClr val="D9E0E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229" name="TextBox 13"/>
          <p:cNvSpPr/>
          <p:nvPr/>
        </p:nvSpPr>
        <p:spPr>
          <a:xfrm>
            <a:off x="438840" y="6556320"/>
            <a:ext cx="6674400" cy="182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9" b="0" u="none" strike="noStrike">
                <a:solidFill>
                  <a:srgbClr val="7B878E"/>
                </a:solidFill>
                <a:effectLst/>
                <a:uFillTx/>
                <a:latin typeface="Calibri"/>
              </a:rPr>
              <a:t>SoI Innovation Projects AY2026-27  |  Phase 1 due 30 September 2026</a:t>
            </a:r>
            <a:endParaRPr lang="en-IN" sz="889" b="0" u="none" strike="noStrike">
              <a:solidFill>
                <a:srgbClr val="000000"/>
              </a:solidFill>
              <a:effectLst/>
              <a:uFillTx/>
              <a:latin typeface="Arial"/>
            </a:endParaRPr>
          </a:p>
        </p:txBody>
      </p:sp>
      <p:sp>
        <p:nvSpPr>
          <p:cNvPr id="230" name="TextBox 14"/>
          <p:cNvSpPr/>
          <p:nvPr/>
        </p:nvSpPr>
        <p:spPr>
          <a:xfrm>
            <a:off x="11064240" y="6556320"/>
            <a:ext cx="657720" cy="1821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850" b="1" u="none" strike="noStrike">
                <a:solidFill>
                  <a:srgbClr val="7B878E"/>
                </a:solidFill>
                <a:effectLst/>
                <a:uFillTx/>
                <a:latin typeface="Calibri"/>
              </a:rPr>
              <a:t>4/10</a:t>
            </a:r>
            <a:endParaRPr lang="en-IN" sz="850" b="0" u="none" strike="noStrike">
              <a:solidFill>
                <a:srgbClr val="000000"/>
              </a:solidFill>
              <a:effectLst/>
              <a:uFillTx/>
              <a:latin typeface="Arial"/>
            </a:endParaRPr>
          </a:p>
        </p:txBody>
      </p:sp>
      <p:graphicFrame>
        <p:nvGraphicFramePr>
          <p:cNvPr id="231" name="Table 15"/>
          <p:cNvGraphicFramePr/>
          <p:nvPr/>
        </p:nvGraphicFramePr>
        <p:xfrm>
          <a:off x="530280" y="1188720"/>
          <a:ext cx="11153880" cy="2304000"/>
        </p:xfrm>
        <a:graphic>
          <a:graphicData uri="http://schemas.openxmlformats.org/drawingml/2006/table">
            <a:tbl>
              <a:tblPr/>
              <a:tblGrid>
                <a:gridCol w="2154240"/>
                <a:gridCol w="1675440"/>
                <a:gridCol w="2010600"/>
                <a:gridCol w="3830040"/>
                <a:gridCol w="1483920"/>
              </a:tblGrid>
              <a:tr h="576000">
                <a:tc>
                  <a:txBody>
                    <a:bodyPr lIns="54720" tIns="36360" rIns="54720" bIns="36360" anchor="ctr">
                      <a:noAutofit/>
                    </a:bodyPr>
                    <a:p>
                      <a:pPr defTabSz="457200">
                        <a:lnSpc>
                          <a:spcPct val="90000"/>
                        </a:lnSpc>
                      </a:pPr>
                      <a:r>
                        <a:rPr lang="en-US" sz="1120" b="1" u="none" strike="noStrike">
                          <a:solidFill>
                            <a:srgbClr val="FFFFFF"/>
                          </a:solidFill>
                          <a:effectLst/>
                          <a:uFillTx/>
                          <a:latin typeface="Calibri"/>
                        </a:rPr>
                        <a:t>Stakeholder group</a:t>
                      </a:r>
                      <a:endParaRPr lang="en-IN" sz="1120" b="0" u="none" strike="noStrike">
                        <a:solidFill>
                          <a:srgbClr val="FFFFFF"/>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7324D"/>
                    </a:solidFill>
                  </a:tcPr>
                </a:tc>
                <a:tc>
                  <a:txBody>
                    <a:bodyPr lIns="54720" tIns="36360" rIns="54720" bIns="36360" anchor="ctr">
                      <a:noAutofit/>
                    </a:bodyPr>
                    <a:p>
                      <a:pPr defTabSz="457200">
                        <a:lnSpc>
                          <a:spcPct val="90000"/>
                        </a:lnSpc>
                      </a:pPr>
                      <a:r>
                        <a:rPr lang="en-US" sz="1120" b="1" u="none" strike="noStrike">
                          <a:solidFill>
                            <a:srgbClr val="FFFFFF"/>
                          </a:solidFill>
                          <a:effectLst/>
                          <a:uFillTx/>
                          <a:latin typeface="Calibri"/>
                        </a:rPr>
                        <a:t>Planned / completed</a:t>
                      </a:r>
                      <a:endParaRPr lang="en-IN" sz="1120" b="0" u="none" strike="noStrike">
                        <a:solidFill>
                          <a:srgbClr val="FFFFFF"/>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7324D"/>
                    </a:solidFill>
                  </a:tcPr>
                </a:tc>
                <a:tc>
                  <a:txBody>
                    <a:bodyPr lIns="54720" tIns="36360" rIns="54720" bIns="36360" anchor="ctr">
                      <a:noAutofit/>
                    </a:bodyPr>
                    <a:p>
                      <a:pPr defTabSz="457200">
                        <a:lnSpc>
                          <a:spcPct val="90000"/>
                        </a:lnSpc>
                      </a:pPr>
                      <a:r>
                        <a:rPr lang="en-US" sz="1120" b="1" u="none" strike="noStrike">
                          <a:solidFill>
                            <a:srgbClr val="FFFFFF"/>
                          </a:solidFill>
                          <a:effectLst/>
                          <a:uFillTx/>
                          <a:latin typeface="Calibri"/>
                        </a:rPr>
                        <a:t>Method</a:t>
                      </a:r>
                      <a:endParaRPr lang="en-IN" sz="1120" b="0" u="none" strike="noStrike">
                        <a:solidFill>
                          <a:srgbClr val="FFFFFF"/>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7324D"/>
                    </a:solidFill>
                  </a:tcPr>
                </a:tc>
                <a:tc>
                  <a:txBody>
                    <a:bodyPr lIns="54720" tIns="36360" rIns="54720" bIns="36360" anchor="ctr">
                      <a:noAutofit/>
                    </a:bodyPr>
                    <a:p>
                      <a:pPr defTabSz="457200">
                        <a:lnSpc>
                          <a:spcPct val="90000"/>
                        </a:lnSpc>
                      </a:pPr>
                      <a:r>
                        <a:rPr lang="en-US" sz="1120" b="1" u="none" strike="noStrike">
                          <a:solidFill>
                            <a:srgbClr val="FFFFFF"/>
                          </a:solidFill>
                          <a:effectLst/>
                          <a:uFillTx/>
                          <a:latin typeface="Calibri"/>
                        </a:rPr>
                        <a:t>Why this group matters</a:t>
                      </a:r>
                      <a:endParaRPr lang="en-IN" sz="1120" b="0" u="none" strike="noStrike">
                        <a:solidFill>
                          <a:srgbClr val="FFFFFF"/>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7324D"/>
                    </a:solidFill>
                  </a:tcPr>
                </a:tc>
                <a:tc>
                  <a:txBody>
                    <a:bodyPr lIns="54720" tIns="36360" rIns="54720" bIns="36360" anchor="ctr">
                      <a:noAutofit/>
                    </a:bodyPr>
                    <a:p>
                      <a:pPr defTabSz="457200">
                        <a:lnSpc>
                          <a:spcPct val="90000"/>
                        </a:lnSpc>
                      </a:pPr>
                      <a:r>
                        <a:rPr lang="en-US" sz="1120" b="1" u="none" strike="noStrike">
                          <a:solidFill>
                            <a:srgbClr val="FFFFFF"/>
                          </a:solidFill>
                          <a:effectLst/>
                          <a:uFillTx/>
                          <a:latin typeface="Calibri"/>
                        </a:rPr>
                        <a:t>Evidence IDs</a:t>
                      </a:r>
                      <a:endParaRPr lang="en-IN" sz="1120" b="0" u="none" strike="noStrike">
                        <a:solidFill>
                          <a:srgbClr val="FFFFFF"/>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7324D"/>
                    </a:solidFill>
                  </a:tcPr>
                </a:tc>
              </a:tr>
              <a:tr h="576000">
                <a:tc>
                  <a:txBody>
                    <a:bodyPr lIns="54720" tIns="36360" rIns="54720" bIns="36360" anchor="ctr">
                      <a:noAutofit/>
                    </a:bodyPr>
                    <a:p>
                      <a:pPr defTabSz="457200">
                        <a:lnSpc>
                          <a:spcPct val="90000"/>
                        </a:lnSpc>
                      </a:pPr>
                      <a:r>
                        <a:rPr lang="en-US" sz="1070" b="0" u="none" strike="noStrike">
                          <a:solidFill>
                            <a:srgbClr val="4F5B62"/>
                          </a:solidFill>
                          <a:effectLst/>
                          <a:uFillTx/>
                          <a:latin typeface="Calibri"/>
                        </a:rPr>
                        <a:t>Primary end users</a:t>
                      </a:r>
                      <a:endParaRPr lang="en-IN" sz="107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tIns="36360" rIns="54720" bIns="36360" anchor="ctr">
                      <a:noAutofit/>
                    </a:bodyPr>
                    <a:p>
                      <a:pPr defTabSz="457200">
                        <a:lnSpc>
                          <a:spcPct val="90000"/>
                        </a:lnSpc>
                      </a:pPr>
                      <a:r>
                        <a:rPr lang="en-US" sz="1070" b="0" u="none" strike="noStrike">
                          <a:solidFill>
                            <a:srgbClr val="4F5B62"/>
                          </a:solidFill>
                          <a:effectLst/>
                          <a:uFillTx/>
                          <a:latin typeface="Calibri"/>
                        </a:rPr>
                        <a:t>4+ users</a:t>
                      </a:r>
                      <a:endParaRPr lang="en-IN" sz="107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tIns="36360" rIns="54720" bIns="36360" anchor="ctr">
                      <a:noAutofit/>
                    </a:bodyPr>
                    <a:p>
                      <a:pPr defTabSz="457200">
                        <a:lnSpc>
                          <a:spcPct val="90000"/>
                        </a:lnSpc>
                      </a:pPr>
                      <a:r>
                        <a:rPr lang="en-US" sz="1070" b="0" u="none" strike="noStrike">
                          <a:solidFill>
                            <a:srgbClr val="4F5B62"/>
                          </a:solidFill>
                          <a:effectLst/>
                          <a:uFillTx/>
                          <a:latin typeface="Calibri"/>
                        </a:rPr>
                        <a:t>Interview + observation / walkthrough</a:t>
                      </a:r>
                      <a:endParaRPr lang="en-IN" sz="107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tIns="36360" rIns="54720" bIns="36360" anchor="ctr">
                      <a:noAutofit/>
                    </a:bodyPr>
                    <a:p>
                      <a:pPr defTabSz="457200">
                        <a:lnSpc>
                          <a:spcPct val="90000"/>
                        </a:lnSpc>
                      </a:pPr>
                      <a:r>
                        <a:rPr lang="en-US" sz="1070" b="0" u="none" strike="noStrike">
                          <a:solidFill>
                            <a:srgbClr val="4F5B62"/>
                          </a:solidFill>
                          <a:effectLst/>
                          <a:uFillTx/>
                          <a:latin typeface="Calibri"/>
                        </a:rPr>
                        <a:t>They directly experience the pain</a:t>
                      </a:r>
                      <a:endParaRPr lang="en-IN" sz="107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tIns="36360" rIns="54720" bIns="36360" anchor="ctr">
                      <a:noAutofit/>
                    </a:bodyPr>
                    <a:p>
                      <a:pPr defTabSz="457200">
                        <a:lnSpc>
                          <a:spcPct val="90000"/>
                        </a:lnSpc>
                      </a:pPr>
                      <a:r>
                        <a:rPr lang="en-US" sz="1070" b="0" u="none" strike="noStrike">
                          <a:solidFill>
                            <a:srgbClr val="4F5B62"/>
                          </a:solidFill>
                          <a:effectLst/>
                          <a:uFillTx/>
                          <a:latin typeface="Calibri"/>
                        </a:rPr>
                        <a:t>E01–E04+</a:t>
                      </a:r>
                      <a:endParaRPr lang="en-IN" sz="107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76000">
                <a:tc>
                  <a:txBody>
                    <a:bodyPr lIns="54720" tIns="36360" rIns="54720" bIns="36360" anchor="ctr">
                      <a:noAutofit/>
                    </a:bodyPr>
                    <a:p>
                      <a:pPr defTabSz="457200">
                        <a:lnSpc>
                          <a:spcPct val="90000"/>
                        </a:lnSpc>
                      </a:pPr>
                      <a:r>
                        <a:rPr lang="en-US" sz="1070" b="0" u="none" strike="noStrike">
                          <a:solidFill>
                            <a:srgbClr val="4F5B62"/>
                          </a:solidFill>
                          <a:effectLst/>
                          <a:uFillTx/>
                          <a:latin typeface="Calibri"/>
                        </a:rPr>
                        <a:t>Digital users</a:t>
                      </a:r>
                      <a:endParaRPr lang="en-IN" sz="107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7F8"/>
                    </a:solidFill>
                  </a:tcPr>
                </a:tc>
                <a:tc>
                  <a:txBody>
                    <a:bodyPr lIns="54720" tIns="36360" rIns="54720" bIns="36360" anchor="ctr">
                      <a:noAutofit/>
                    </a:bodyPr>
                    <a:p>
                      <a:pPr defTabSz="457200">
                        <a:lnSpc>
                          <a:spcPct val="90000"/>
                        </a:lnSpc>
                      </a:pPr>
                      <a:r>
                        <a:rPr lang="en-US" sz="1070" b="0" u="none" strike="noStrike">
                          <a:solidFill>
                            <a:srgbClr val="4F5B62"/>
                          </a:solidFill>
                          <a:effectLst/>
                          <a:uFillTx/>
                          <a:latin typeface="Calibri"/>
                        </a:rPr>
                        <a:t>2+ users</a:t>
                      </a:r>
                      <a:endParaRPr lang="en-IN" sz="107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7F8"/>
                    </a:solidFill>
                  </a:tcPr>
                </a:tc>
                <a:tc>
                  <a:txBody>
                    <a:bodyPr lIns="54720" tIns="36360" rIns="54720" bIns="36360" anchor="ctr">
                      <a:noAutofit/>
                    </a:bodyPr>
                    <a:p>
                      <a:pPr defTabSz="457200">
                        <a:lnSpc>
                          <a:spcPct val="90000"/>
                        </a:lnSpc>
                      </a:pPr>
                      <a:r>
                        <a:rPr lang="en-US" sz="1070" b="0" u="none" strike="noStrike">
                          <a:solidFill>
                            <a:srgbClr val="4F5B62"/>
                          </a:solidFill>
                          <a:effectLst/>
                          <a:uFillTx/>
                          <a:latin typeface="Calibri"/>
                        </a:rPr>
                        <a:t>Interview / survey</a:t>
                      </a:r>
                      <a:endParaRPr lang="en-IN" sz="107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7F8"/>
                    </a:solidFill>
                  </a:tcPr>
                </a:tc>
                <a:tc>
                  <a:txBody>
                    <a:bodyPr lIns="54720" tIns="36360" rIns="54720" bIns="36360" anchor="ctr">
                      <a:noAutofit/>
                    </a:bodyPr>
                    <a:p>
                      <a:pPr defTabSz="457200">
                        <a:lnSpc>
                          <a:spcPct val="90000"/>
                        </a:lnSpc>
                      </a:pPr>
                      <a:r>
                        <a:rPr lang="en-US" sz="1070" b="0" u="none" strike="noStrike">
                          <a:solidFill>
                            <a:srgbClr val="4F5B62"/>
                          </a:solidFill>
                          <a:effectLst/>
                          <a:uFillTx/>
                          <a:latin typeface="Calibri"/>
                        </a:rPr>
                        <a:t>Frequent digital interactions</a:t>
                      </a:r>
                      <a:endParaRPr lang="en-IN" sz="107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7F8"/>
                    </a:solidFill>
                  </a:tcPr>
                </a:tc>
                <a:tc>
                  <a:txBody>
                    <a:bodyPr lIns="54720" tIns="36360" rIns="54720" bIns="36360" anchor="ctr">
                      <a:noAutofit/>
                    </a:bodyPr>
                    <a:p>
                      <a:pPr defTabSz="457200">
                        <a:lnSpc>
                          <a:spcPct val="90000"/>
                        </a:lnSpc>
                      </a:pPr>
                      <a:r>
                        <a:rPr lang="en-US" sz="1070" b="0" u="none" strike="noStrike">
                          <a:solidFill>
                            <a:srgbClr val="4F5B62"/>
                          </a:solidFill>
                          <a:effectLst/>
                          <a:uFillTx/>
                          <a:latin typeface="Calibri"/>
                        </a:rPr>
                        <a:t>E05–E06</a:t>
                      </a:r>
                      <a:endParaRPr lang="en-IN" sz="107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7F8"/>
                    </a:solidFill>
                  </a:tcPr>
                </a:tc>
              </a:tr>
              <a:tr h="576000">
                <a:tc>
                  <a:txBody>
                    <a:bodyPr lIns="54720" tIns="36360" rIns="54720" bIns="36360" anchor="ctr">
                      <a:noAutofit/>
                    </a:bodyPr>
                    <a:p>
                      <a:pPr defTabSz="457200">
                        <a:lnSpc>
                          <a:spcPct val="90000"/>
                        </a:lnSpc>
                      </a:pPr>
                      <a:r>
                        <a:rPr lang="en-US" sz="1070" b="0" u="none" strike="noStrike">
                          <a:solidFill>
                            <a:srgbClr val="4F5B62"/>
                          </a:solidFill>
                          <a:effectLst/>
                          <a:uFillTx/>
                          <a:latin typeface="Calibri"/>
                        </a:rPr>
                        <a:t>Other stakeholders + cyber-aware person</a:t>
                      </a:r>
                      <a:endParaRPr lang="en-IN" sz="107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tIns="36360" rIns="54720" bIns="36360" anchor="ctr">
                      <a:noAutofit/>
                    </a:bodyPr>
                    <a:p>
                      <a:pPr defTabSz="457200">
                        <a:lnSpc>
                          <a:spcPct val="90000"/>
                        </a:lnSpc>
                      </a:pPr>
                      <a:r>
                        <a:rPr lang="en-US" sz="1070" b="0" u="none" strike="noStrike">
                          <a:solidFill>
                            <a:srgbClr val="4F5B62"/>
                          </a:solidFill>
                          <a:effectLst/>
                          <a:uFillTx/>
                          <a:latin typeface="Calibri"/>
                        </a:rPr>
                        <a:t>1–2 + 1</a:t>
                      </a:r>
                      <a:endParaRPr lang="en-IN" sz="107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tIns="36360" rIns="54720" bIns="36360" anchor="ctr">
                      <a:noAutofit/>
                    </a:bodyPr>
                    <a:p>
                      <a:pPr defTabSz="457200">
                        <a:lnSpc>
                          <a:spcPct val="90000"/>
                        </a:lnSpc>
                      </a:pPr>
                      <a:r>
                        <a:rPr lang="en-US" sz="1070" b="0" u="none" strike="noStrike">
                          <a:solidFill>
                            <a:srgbClr val="4F5B62"/>
                          </a:solidFill>
                          <a:effectLst/>
                          <a:uFillTx/>
                          <a:latin typeface="Calibri"/>
                        </a:rPr>
                        <a:t>Interview</a:t>
                      </a:r>
                      <a:endParaRPr lang="en-IN" sz="107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tIns="36360" rIns="54720" bIns="36360" anchor="ctr">
                      <a:noAutofit/>
                    </a:bodyPr>
                    <a:p>
                      <a:pPr defTabSz="457200">
                        <a:lnSpc>
                          <a:spcPct val="90000"/>
                        </a:lnSpc>
                      </a:pPr>
                      <a:r>
                        <a:rPr lang="en-US" sz="1070" b="0" u="none" strike="noStrike">
                          <a:solidFill>
                            <a:srgbClr val="4F5B62"/>
                          </a:solidFill>
                          <a:effectLst/>
                          <a:uFillTx/>
                          <a:latin typeface="Calibri"/>
                        </a:rPr>
                        <a:t>Another perspective; validates current controls</a:t>
                      </a:r>
                      <a:endParaRPr lang="en-IN" sz="107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tIns="36360" rIns="54720" bIns="36360" anchor="ctr">
                      <a:noAutofit/>
                    </a:bodyPr>
                    <a:p>
                      <a:pPr defTabSz="457200">
                        <a:lnSpc>
                          <a:spcPct val="90000"/>
                        </a:lnSpc>
                      </a:pPr>
                      <a:r>
                        <a:rPr lang="en-US" sz="1070" b="0" u="none" strike="noStrike">
                          <a:solidFill>
                            <a:srgbClr val="4F5B62"/>
                          </a:solidFill>
                          <a:effectLst/>
                          <a:uFillTx/>
                          <a:latin typeface="Calibri"/>
                        </a:rPr>
                        <a:t>E07–E08</a:t>
                      </a:r>
                      <a:endParaRPr lang="en-IN" sz="107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232" name="Rounded Rectangle 16"/>
          <p:cNvSpPr/>
          <p:nvPr/>
        </p:nvSpPr>
        <p:spPr>
          <a:xfrm>
            <a:off x="530280" y="3822120"/>
            <a:ext cx="3272760" cy="1645200"/>
          </a:xfrm>
          <a:prstGeom prst="roundRect">
            <a:avLst>
              <a:gd name="adj" fmla="val 16667"/>
            </a:avLst>
          </a:prstGeom>
          <a:solidFill>
            <a:srgbClr val="E8F5F5"/>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3" name="Rectangle 17"/>
          <p:cNvSpPr/>
          <p:nvPr/>
        </p:nvSpPr>
        <p:spPr>
          <a:xfrm>
            <a:off x="530280" y="3822120"/>
            <a:ext cx="72360" cy="1645200"/>
          </a:xfrm>
          <a:prstGeom prst="rect">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234" name="TextBox 18"/>
          <p:cNvSpPr/>
          <p:nvPr/>
        </p:nvSpPr>
        <p:spPr>
          <a:xfrm>
            <a:off x="713160" y="3950280"/>
            <a:ext cx="296208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270" b="1" u="none" strike="noStrike">
                <a:solidFill>
                  <a:srgbClr val="17324D"/>
                </a:solidFill>
                <a:effectLst/>
                <a:uFillTx/>
                <a:latin typeface="Calibri"/>
              </a:rPr>
              <a:t>MINIMUM EVIDENCE FLOOR</a:t>
            </a:r>
            <a:endParaRPr lang="en-IN" sz="1270" b="0" u="none" strike="noStrike">
              <a:solidFill>
                <a:srgbClr val="000000"/>
              </a:solidFill>
              <a:effectLst/>
              <a:uFillTx/>
              <a:latin typeface="Arial"/>
            </a:endParaRPr>
          </a:p>
        </p:txBody>
      </p:sp>
      <p:sp>
        <p:nvSpPr>
          <p:cNvPr id="235" name="TextBox 19"/>
          <p:cNvSpPr/>
          <p:nvPr/>
        </p:nvSpPr>
        <p:spPr>
          <a:xfrm>
            <a:off x="713160" y="4334400"/>
            <a:ext cx="2962080" cy="100512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130" b="0" u="none" strike="noStrike">
                <a:solidFill>
                  <a:srgbClr val="4F5B62"/>
                </a:solidFill>
                <a:effectLst/>
                <a:uFillTx/>
                <a:latin typeface="Calibri"/>
              </a:rPr>
              <a:t>NEW PROJECT</a:t>
            </a:r>
            <a:endParaRPr lang="en-IN" sz="1130" b="0" u="none" strike="noStrike">
              <a:solidFill>
                <a:srgbClr val="000000"/>
              </a:solidFill>
              <a:effectLst/>
              <a:uFillTx/>
              <a:latin typeface="Arial"/>
            </a:endParaRPr>
          </a:p>
          <a:p>
            <a:pPr defTabSz="457200">
              <a:lnSpc>
                <a:spcPct val="95000"/>
              </a:lnSpc>
            </a:pPr>
            <a:r>
              <a:rPr lang="en-US" sz="1130" b="0" u="none" strike="noStrike">
                <a:solidFill>
                  <a:srgbClr val="4F5B62"/>
                </a:solidFill>
                <a:effectLst/>
                <a:uFillTx/>
                <a:latin typeface="Calibri"/>
              </a:rPr>
              <a:t>6+ meaningful conversations, including 4+ primary users</a:t>
            </a:r>
            <a:endParaRPr lang="en-IN" sz="1130" b="0" u="none" strike="noStrike">
              <a:solidFill>
                <a:srgbClr val="000000"/>
              </a:solidFill>
              <a:effectLst/>
              <a:uFillTx/>
              <a:latin typeface="Arial"/>
            </a:endParaRPr>
          </a:p>
        </p:txBody>
      </p:sp>
      <p:sp>
        <p:nvSpPr>
          <p:cNvPr id="236" name="Rounded Rectangle 20"/>
          <p:cNvSpPr/>
          <p:nvPr/>
        </p:nvSpPr>
        <p:spPr>
          <a:xfrm>
            <a:off x="4041720" y="3822120"/>
            <a:ext cx="3272760" cy="1645200"/>
          </a:xfrm>
          <a:prstGeom prst="roundRect">
            <a:avLst>
              <a:gd name="adj" fmla="val 16667"/>
            </a:avLst>
          </a:prstGeom>
          <a:solidFill>
            <a:srgbClr val="FFF4DB"/>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7" name="Rectangle 21"/>
          <p:cNvSpPr/>
          <p:nvPr/>
        </p:nvSpPr>
        <p:spPr>
          <a:xfrm>
            <a:off x="4041720" y="3822120"/>
            <a:ext cx="72360" cy="1645200"/>
          </a:xfrm>
          <a:prstGeom prst="rect">
            <a:avLst/>
          </a:prstGeom>
          <a:solidFill>
            <a:srgbClr val="F3A71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238" name="TextBox 22"/>
          <p:cNvSpPr/>
          <p:nvPr/>
        </p:nvSpPr>
        <p:spPr>
          <a:xfrm>
            <a:off x="4224600" y="3950280"/>
            <a:ext cx="296208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270" b="1" u="none" strike="noStrike">
                <a:solidFill>
                  <a:srgbClr val="17324D"/>
                </a:solidFill>
                <a:effectLst/>
                <a:uFillTx/>
                <a:latin typeface="Calibri"/>
              </a:rPr>
              <a:t>METHOD MIX</a:t>
            </a:r>
            <a:endParaRPr lang="en-IN" sz="1270" b="0" u="none" strike="noStrike">
              <a:solidFill>
                <a:srgbClr val="000000"/>
              </a:solidFill>
              <a:effectLst/>
              <a:uFillTx/>
              <a:latin typeface="Arial"/>
            </a:endParaRPr>
          </a:p>
        </p:txBody>
      </p:sp>
      <p:sp>
        <p:nvSpPr>
          <p:cNvPr id="239" name="TextBox 23"/>
          <p:cNvSpPr/>
          <p:nvPr/>
        </p:nvSpPr>
        <p:spPr>
          <a:xfrm>
            <a:off x="4224600" y="4334400"/>
            <a:ext cx="2962080" cy="100512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100" b="0" u="none" strike="noStrike">
                <a:solidFill>
                  <a:srgbClr val="4F5B62"/>
                </a:solidFill>
                <a:effectLst/>
                <a:uFillTx/>
                <a:latin typeface="Calibri"/>
              </a:rPr>
              <a:t>☑ Problem interviews</a:t>
            </a:r>
            <a:endParaRPr lang="en-IN" sz="1100" b="0" u="none" strike="noStrike">
              <a:solidFill>
                <a:srgbClr val="000000"/>
              </a:solidFill>
              <a:effectLst/>
              <a:uFillTx/>
              <a:latin typeface="Arial"/>
            </a:endParaRPr>
          </a:p>
          <a:p>
            <a:pPr defTabSz="457200">
              <a:lnSpc>
                <a:spcPct val="95000"/>
              </a:lnSpc>
            </a:pPr>
            <a:r>
              <a:rPr lang="en-US" sz="1100" b="0" u="none" strike="noStrike">
                <a:solidFill>
                  <a:srgbClr val="4F5B62"/>
                </a:solidFill>
                <a:effectLst/>
                <a:uFillTx/>
                <a:latin typeface="Calibri"/>
              </a:rPr>
              <a:t>☑ Surveys (digital users)</a:t>
            </a:r>
            <a:endParaRPr lang="en-IN" sz="1100" b="0" u="none" strike="noStrike">
              <a:solidFill>
                <a:srgbClr val="000000"/>
              </a:solidFill>
              <a:effectLst/>
              <a:uFillTx/>
              <a:latin typeface="Arial"/>
            </a:endParaRPr>
          </a:p>
          <a:p>
            <a:pPr defTabSz="457200">
              <a:lnSpc>
                <a:spcPct val="95000"/>
              </a:lnSpc>
            </a:pPr>
            <a:r>
              <a:rPr lang="en-US" sz="1100" b="0" u="none" strike="noStrike">
                <a:solidFill>
                  <a:srgbClr val="4F5B62"/>
                </a:solidFill>
                <a:effectLst/>
                <a:uFillTx/>
                <a:latin typeface="Calibri"/>
              </a:rPr>
              <a:t>☑ Real suspicious-message examples</a:t>
            </a:r>
            <a:endParaRPr lang="en-IN" sz="1100" b="0" u="none" strike="noStrike">
              <a:solidFill>
                <a:srgbClr val="000000"/>
              </a:solidFill>
              <a:effectLst/>
              <a:uFillTx/>
              <a:latin typeface="Arial"/>
            </a:endParaRPr>
          </a:p>
          <a:p>
            <a:pPr defTabSz="457200">
              <a:lnSpc>
                <a:spcPct val="95000"/>
              </a:lnSpc>
            </a:pPr>
            <a:r>
              <a:rPr lang="en-US" sz="1100" b="0" u="none" strike="noStrike">
                <a:solidFill>
                  <a:srgbClr val="4F5B62"/>
                </a:solidFill>
                <a:effectLst/>
                <a:uFillTx/>
                <a:latin typeface="Calibri"/>
              </a:rPr>
              <a:t>☑ Verification, decision time, reporting</a:t>
            </a:r>
            <a:endParaRPr lang="en-IN" sz="1100" b="0" u="none" strike="noStrike">
              <a:solidFill>
                <a:srgbClr val="000000"/>
              </a:solidFill>
              <a:effectLst/>
              <a:uFillTx/>
              <a:latin typeface="Arial"/>
            </a:endParaRPr>
          </a:p>
        </p:txBody>
      </p:sp>
      <p:sp>
        <p:nvSpPr>
          <p:cNvPr id="240" name="Rounded Rectangle 24"/>
          <p:cNvSpPr/>
          <p:nvPr/>
        </p:nvSpPr>
        <p:spPr>
          <a:xfrm>
            <a:off x="7552800" y="3822120"/>
            <a:ext cx="4132440" cy="1645200"/>
          </a:xfrm>
          <a:prstGeom prst="roundRect">
            <a:avLst>
              <a:gd name="adj" fmla="val 16667"/>
            </a:avLst>
          </a:prstGeom>
          <a:solidFill>
            <a:srgbClr val="F0ECFF"/>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1" name="Rectangle 25"/>
          <p:cNvSpPr/>
          <p:nvPr/>
        </p:nvSpPr>
        <p:spPr>
          <a:xfrm>
            <a:off x="7552800" y="3822120"/>
            <a:ext cx="72360" cy="1645200"/>
          </a:xfrm>
          <a:prstGeom prst="rect">
            <a:avLst/>
          </a:prstGeom>
          <a:solidFill>
            <a:srgbClr val="6E56C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242" name="TextBox 26"/>
          <p:cNvSpPr/>
          <p:nvPr/>
        </p:nvSpPr>
        <p:spPr>
          <a:xfrm>
            <a:off x="7735680" y="3950280"/>
            <a:ext cx="382140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270" b="1" u="none" strike="noStrike">
                <a:solidFill>
                  <a:srgbClr val="17324D"/>
                </a:solidFill>
                <a:effectLst/>
                <a:uFillTx/>
                <a:latin typeface="Calibri"/>
              </a:rPr>
              <a:t>SAMPLE AND ETHICS CHECK</a:t>
            </a:r>
            <a:endParaRPr lang="en-IN" sz="1270" b="0" u="none" strike="noStrike">
              <a:solidFill>
                <a:srgbClr val="000000"/>
              </a:solidFill>
              <a:effectLst/>
              <a:uFillTx/>
              <a:latin typeface="Arial"/>
            </a:endParaRPr>
          </a:p>
        </p:txBody>
      </p:sp>
      <p:sp>
        <p:nvSpPr>
          <p:cNvPr id="243" name="TextBox 27"/>
          <p:cNvSpPr/>
          <p:nvPr/>
        </p:nvSpPr>
        <p:spPr>
          <a:xfrm>
            <a:off x="7735680" y="4334400"/>
            <a:ext cx="3821400" cy="100512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100" b="0" u="none" strike="noStrike">
                <a:solidFill>
                  <a:srgbClr val="4F5B62"/>
                </a:solidFill>
                <a:effectLst/>
                <a:uFillTx/>
                <a:latin typeface="Calibri"/>
              </a:rPr>
              <a:t>☑ Not only friends / classmates</a:t>
            </a:r>
            <a:endParaRPr lang="en-IN" sz="1100" b="0" u="none" strike="noStrike">
              <a:solidFill>
                <a:srgbClr val="000000"/>
              </a:solidFill>
              <a:effectLst/>
              <a:uFillTx/>
              <a:latin typeface="Arial"/>
            </a:endParaRPr>
          </a:p>
          <a:p>
            <a:pPr defTabSz="457200">
              <a:lnSpc>
                <a:spcPct val="95000"/>
              </a:lnSpc>
            </a:pPr>
            <a:r>
              <a:rPr lang="en-US" sz="1100" b="0" u="none" strike="noStrike">
                <a:solidFill>
                  <a:srgbClr val="4F5B62"/>
                </a:solidFill>
                <a:effectLst/>
                <a:uFillTx/>
                <a:latin typeface="Calibri"/>
              </a:rPr>
              <a:t>☑ Include different viewpoints</a:t>
            </a:r>
            <a:endParaRPr lang="en-IN" sz="1100" b="0" u="none" strike="noStrike">
              <a:solidFill>
                <a:srgbClr val="000000"/>
              </a:solidFill>
              <a:effectLst/>
              <a:uFillTx/>
              <a:latin typeface="Arial"/>
            </a:endParaRPr>
          </a:p>
          <a:p>
            <a:pPr defTabSz="457200">
              <a:lnSpc>
                <a:spcPct val="95000"/>
              </a:lnSpc>
            </a:pPr>
            <a:r>
              <a:rPr lang="en-US" sz="1100" b="0" u="none" strike="noStrike">
                <a:solidFill>
                  <a:srgbClr val="4F5B62"/>
                </a:solidFill>
                <a:effectLst/>
                <a:uFillTx/>
                <a:latin typeface="Calibri"/>
              </a:rPr>
              <a:t>☑ Consent obtained</a:t>
            </a:r>
            <a:endParaRPr lang="en-IN" sz="1100" b="0" u="none" strike="noStrike">
              <a:solidFill>
                <a:srgbClr val="000000"/>
              </a:solidFill>
              <a:effectLst/>
              <a:uFillTx/>
              <a:latin typeface="Arial"/>
            </a:endParaRPr>
          </a:p>
          <a:p>
            <a:pPr defTabSz="457200">
              <a:lnSpc>
                <a:spcPct val="95000"/>
              </a:lnSpc>
            </a:pPr>
            <a:r>
              <a:rPr lang="en-US" sz="1100" b="0" u="none" strike="noStrike">
                <a:solidFill>
                  <a:srgbClr val="4F5B62"/>
                </a:solidFill>
                <a:effectLst/>
                <a:uFillTx/>
                <a:latin typeface="Calibri"/>
              </a:rPr>
              <a:t>☑ Sensitive data minimized and anonymized</a:t>
            </a:r>
            <a:endParaRPr lang="en-IN" sz="1100" b="0" u="none" strike="noStrike">
              <a:solidFill>
                <a:srgbClr val="000000"/>
              </a:solidFill>
              <a:effectLst/>
              <a:uFillTx/>
              <a:latin typeface="Arial"/>
            </a:endParaRPr>
          </a:p>
          <a:p>
            <a:pPr defTabSz="457200">
              <a:lnSpc>
                <a:spcPct val="95000"/>
              </a:lnSpc>
            </a:pPr>
            <a:r>
              <a:rPr lang="en-US" sz="1100" b="0" u="none" strike="noStrike">
                <a:solidFill>
                  <a:srgbClr val="4F5B62"/>
                </a:solidFill>
                <a:effectLst/>
                <a:uFillTx/>
                <a:latin typeface="Calibri"/>
              </a:rPr>
              <a:t>☑ No unauthorized security testing</a:t>
            </a:r>
            <a:endParaRPr lang="en-IN"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B"/>
        </a:solidFill>
      </p:bgPr>
    </p:bg>
    <p:spTree>
      <p:nvGrpSpPr>
        <p:cNvPr id="1" name=""/>
        <p:cNvGrpSpPr/>
        <p:nvPr/>
      </p:nvGrpSpPr>
      <p:grpSpPr>
        <a:xfrm>
          <a:off x="0" y="0"/>
          <a:ext cx="0" cy="0"/>
          <a:chOff x="0" y="0"/>
          <a:chExt cx="0" cy="0"/>
        </a:xfrm>
      </p:grpSpPr>
      <p:sp>
        <p:nvSpPr>
          <p:cNvPr id="244" name="Rectangle 1"/>
          <p:cNvSpPr/>
          <p:nvPr/>
        </p:nvSpPr>
        <p:spPr>
          <a:xfrm>
            <a:off x="9000" y="0"/>
            <a:ext cx="163800" cy="6848280"/>
          </a:xfrm>
          <a:prstGeom prst="rect">
            <a:avLst/>
          </a:prstGeom>
          <a:solidFill>
            <a:srgbClr val="F3A71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82080" tIns="45000" rIns="82080" bIns="45000" anchor="ctr">
            <a:noAutofit/>
          </a:bodyPr>
          <a:p>
            <a:endParaRPr lang="en-US" sz="1800" b="0" u="none" strike="noStrike">
              <a:solidFill>
                <a:schemeClr val="lt1"/>
              </a:solidFill>
              <a:effectLst/>
              <a:uFillTx/>
              <a:latin typeface="Calibri"/>
            </a:endParaRPr>
          </a:p>
        </p:txBody>
      </p:sp>
      <p:sp>
        <p:nvSpPr>
          <p:cNvPr id="245" name="Oval 2"/>
          <p:cNvSpPr/>
          <p:nvPr/>
        </p:nvSpPr>
        <p:spPr>
          <a:xfrm>
            <a:off x="420480" y="265320"/>
            <a:ext cx="474840" cy="474840"/>
          </a:xfrm>
          <a:prstGeom prst="ellipse">
            <a:avLst/>
          </a:prstGeom>
          <a:solidFill>
            <a:srgbClr val="F3A71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6" name="TextBox 3"/>
          <p:cNvSpPr/>
          <p:nvPr/>
        </p:nvSpPr>
        <p:spPr>
          <a:xfrm>
            <a:off x="420480" y="260640"/>
            <a:ext cx="474840" cy="4748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600" b="1" u="none" strike="noStrike">
                <a:solidFill>
                  <a:srgbClr val="FFFFFF"/>
                </a:solidFill>
                <a:effectLst/>
                <a:uFillTx/>
                <a:latin typeface="Calibri"/>
              </a:rPr>
              <a:t>5</a:t>
            </a:r>
            <a:endParaRPr lang="en-IN" sz="1600" b="0" u="none" strike="noStrike">
              <a:solidFill>
                <a:srgbClr val="000000"/>
              </a:solidFill>
              <a:effectLst/>
              <a:uFillTx/>
              <a:latin typeface="Arial"/>
            </a:endParaRPr>
          </a:p>
        </p:txBody>
      </p:sp>
      <p:sp>
        <p:nvSpPr>
          <p:cNvPr id="247" name="TextBox 4"/>
          <p:cNvSpPr/>
          <p:nvPr/>
        </p:nvSpPr>
        <p:spPr>
          <a:xfrm>
            <a:off x="1005840" y="210240"/>
            <a:ext cx="7634520" cy="42912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2300" b="1" u="none" strike="noStrike">
                <a:solidFill>
                  <a:srgbClr val="17324D"/>
                </a:solidFill>
                <a:effectLst/>
                <a:uFillTx/>
                <a:latin typeface="Calibri"/>
              </a:rPr>
              <a:t>Evidence collected and key insights</a:t>
            </a:r>
            <a:endParaRPr lang="en-IN" sz="2300" b="0" u="none" strike="noStrike">
              <a:solidFill>
                <a:srgbClr val="000000"/>
              </a:solidFill>
              <a:effectLst/>
              <a:uFillTx/>
              <a:latin typeface="Arial"/>
            </a:endParaRPr>
          </a:p>
        </p:txBody>
      </p:sp>
      <p:sp>
        <p:nvSpPr>
          <p:cNvPr id="248" name="TextBox 5"/>
          <p:cNvSpPr/>
          <p:nvPr/>
        </p:nvSpPr>
        <p:spPr>
          <a:xfrm>
            <a:off x="1005840" y="667440"/>
            <a:ext cx="763452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070" b="0" u="none" strike="noStrike">
                <a:solidFill>
                  <a:srgbClr val="7B878E"/>
                </a:solidFill>
                <a:effectLst/>
                <a:uFillTx/>
                <a:latin typeface="Calibri"/>
              </a:rPr>
              <a:t>Sample values shown - replace with your actual interview results.</a:t>
            </a:r>
            <a:endParaRPr lang="en-IN" sz="1070" b="0" u="none" strike="noStrike">
              <a:solidFill>
                <a:srgbClr val="000000"/>
              </a:solidFill>
              <a:effectLst/>
              <a:uFillTx/>
              <a:latin typeface="Arial"/>
            </a:endParaRPr>
          </a:p>
        </p:txBody>
      </p:sp>
      <p:sp>
        <p:nvSpPr>
          <p:cNvPr id="249" name="Rounded Rectangle 6"/>
          <p:cNvSpPr/>
          <p:nvPr/>
        </p:nvSpPr>
        <p:spPr>
          <a:xfrm>
            <a:off x="8796600" y="283320"/>
            <a:ext cx="876960" cy="282600"/>
          </a:xfrm>
          <a:prstGeom prst="roundRect">
            <a:avLst>
              <a:gd name="adj" fmla="val 16667"/>
            </a:avLst>
          </a:prstGeom>
          <a:solidFill>
            <a:srgbClr val="F5F7F8"/>
          </a:solidFill>
          <a:ln w="1016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0" name="TextBox 7"/>
          <p:cNvSpPr/>
          <p:nvPr/>
        </p:nvSpPr>
        <p:spPr>
          <a:xfrm>
            <a:off x="879660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7B878E"/>
                </a:solidFill>
                <a:effectLst/>
                <a:uFillTx/>
                <a:latin typeface="Calibri"/>
              </a:rPr>
              <a:t>DISCOVER</a:t>
            </a:r>
            <a:endParaRPr lang="en-IN" sz="870" b="0" u="none" strike="noStrike">
              <a:solidFill>
                <a:srgbClr val="000000"/>
              </a:solidFill>
              <a:effectLst/>
              <a:uFillTx/>
              <a:latin typeface="Arial"/>
            </a:endParaRPr>
          </a:p>
        </p:txBody>
      </p:sp>
      <p:sp>
        <p:nvSpPr>
          <p:cNvPr id="251" name="Rounded Rectangle 8"/>
          <p:cNvSpPr/>
          <p:nvPr/>
        </p:nvSpPr>
        <p:spPr>
          <a:xfrm>
            <a:off x="9756720" y="283320"/>
            <a:ext cx="876960" cy="282600"/>
          </a:xfrm>
          <a:prstGeom prst="roundRect">
            <a:avLst>
              <a:gd name="adj" fmla="val 16667"/>
            </a:avLst>
          </a:prstGeom>
          <a:solidFill>
            <a:srgbClr val="F3A712"/>
          </a:solidFill>
          <a:ln w="10160">
            <a:solidFill>
              <a:srgbClr val="F3A71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2" name="TextBox 9"/>
          <p:cNvSpPr/>
          <p:nvPr/>
        </p:nvSpPr>
        <p:spPr>
          <a:xfrm>
            <a:off x="975672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FFFFFF"/>
                </a:solidFill>
                <a:effectLst/>
                <a:uFillTx/>
                <a:latin typeface="Calibri"/>
              </a:rPr>
              <a:t>VALIDATE</a:t>
            </a:r>
            <a:endParaRPr lang="en-IN" sz="870" b="0" u="none" strike="noStrike">
              <a:solidFill>
                <a:srgbClr val="000000"/>
              </a:solidFill>
              <a:effectLst/>
              <a:uFillTx/>
              <a:latin typeface="Arial"/>
            </a:endParaRPr>
          </a:p>
        </p:txBody>
      </p:sp>
      <p:sp>
        <p:nvSpPr>
          <p:cNvPr id="253" name="Rounded Rectangle 10"/>
          <p:cNvSpPr/>
          <p:nvPr/>
        </p:nvSpPr>
        <p:spPr>
          <a:xfrm>
            <a:off x="10716840" y="283320"/>
            <a:ext cx="876960" cy="282600"/>
          </a:xfrm>
          <a:prstGeom prst="roundRect">
            <a:avLst>
              <a:gd name="adj" fmla="val 16667"/>
            </a:avLst>
          </a:prstGeom>
          <a:solidFill>
            <a:srgbClr val="F5F7F8"/>
          </a:solidFill>
          <a:ln w="1016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4" name="TextBox 11"/>
          <p:cNvSpPr/>
          <p:nvPr/>
        </p:nvSpPr>
        <p:spPr>
          <a:xfrm>
            <a:off x="1071684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7B878E"/>
                </a:solidFill>
                <a:effectLst/>
                <a:uFillTx/>
                <a:latin typeface="Calibri"/>
              </a:rPr>
              <a:t>DECIDE</a:t>
            </a:r>
            <a:endParaRPr lang="en-IN" sz="870" b="0" u="none" strike="noStrike">
              <a:solidFill>
                <a:srgbClr val="000000"/>
              </a:solidFill>
              <a:effectLst/>
              <a:uFillTx/>
              <a:latin typeface="Arial"/>
            </a:endParaRPr>
          </a:p>
        </p:txBody>
      </p:sp>
      <p:sp>
        <p:nvSpPr>
          <p:cNvPr id="255" name="Rectangle 12"/>
          <p:cNvSpPr/>
          <p:nvPr/>
        </p:nvSpPr>
        <p:spPr>
          <a:xfrm>
            <a:off x="420480" y="6492240"/>
            <a:ext cx="11337840" cy="17640"/>
          </a:xfrm>
          <a:prstGeom prst="rect">
            <a:avLst/>
          </a:prstGeom>
          <a:solidFill>
            <a:srgbClr val="D9E0E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256" name="TextBox 13"/>
          <p:cNvSpPr/>
          <p:nvPr/>
        </p:nvSpPr>
        <p:spPr>
          <a:xfrm>
            <a:off x="438840" y="6556320"/>
            <a:ext cx="6674400" cy="182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9" b="0" u="none" strike="noStrike">
                <a:solidFill>
                  <a:srgbClr val="7B878E"/>
                </a:solidFill>
                <a:effectLst/>
                <a:uFillTx/>
                <a:latin typeface="Calibri"/>
              </a:rPr>
              <a:t>SoI Innovation Projects AY2026-27  |  Phase 1 due 30 September 2026</a:t>
            </a:r>
            <a:endParaRPr lang="en-IN" sz="889" b="0" u="none" strike="noStrike">
              <a:solidFill>
                <a:srgbClr val="000000"/>
              </a:solidFill>
              <a:effectLst/>
              <a:uFillTx/>
              <a:latin typeface="Arial"/>
            </a:endParaRPr>
          </a:p>
        </p:txBody>
      </p:sp>
      <p:sp>
        <p:nvSpPr>
          <p:cNvPr id="257" name="TextBox 14"/>
          <p:cNvSpPr/>
          <p:nvPr/>
        </p:nvSpPr>
        <p:spPr>
          <a:xfrm>
            <a:off x="11064240" y="6556320"/>
            <a:ext cx="657720" cy="1821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850" b="1" u="none" strike="noStrike">
                <a:solidFill>
                  <a:srgbClr val="7B878E"/>
                </a:solidFill>
                <a:effectLst/>
                <a:uFillTx/>
                <a:latin typeface="Calibri"/>
              </a:rPr>
              <a:t>5/10</a:t>
            </a:r>
            <a:endParaRPr lang="en-IN" sz="850" b="0" u="none" strike="noStrike">
              <a:solidFill>
                <a:srgbClr val="000000"/>
              </a:solidFill>
              <a:effectLst/>
              <a:uFillTx/>
              <a:latin typeface="Arial"/>
            </a:endParaRPr>
          </a:p>
        </p:txBody>
      </p:sp>
      <p:sp>
        <p:nvSpPr>
          <p:cNvPr id="258" name="Rounded Rectangle 15"/>
          <p:cNvSpPr/>
          <p:nvPr/>
        </p:nvSpPr>
        <p:spPr>
          <a:xfrm>
            <a:off x="530280" y="1170360"/>
            <a:ext cx="2468160" cy="1526400"/>
          </a:xfrm>
          <a:prstGeom prst="roundRect">
            <a:avLst>
              <a:gd name="adj" fmla="val 16667"/>
            </a:avLst>
          </a:prstGeom>
          <a:solidFill>
            <a:srgbClr val="E8F5F5"/>
          </a:solidFill>
          <a:ln w="13970">
            <a:solidFill>
              <a:srgbClr val="008C9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9" name="TextBox 16"/>
          <p:cNvSpPr/>
          <p:nvPr/>
        </p:nvSpPr>
        <p:spPr>
          <a:xfrm>
            <a:off x="694800" y="1307520"/>
            <a:ext cx="2139120" cy="236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008C95"/>
                </a:solidFill>
                <a:effectLst/>
                <a:uFillTx/>
                <a:latin typeface="Calibri"/>
              </a:rPr>
              <a:t>CONVERSATIONS</a:t>
            </a:r>
            <a:endParaRPr lang="en-IN" sz="1050" b="0" u="none" strike="noStrike">
              <a:solidFill>
                <a:srgbClr val="000000"/>
              </a:solidFill>
              <a:effectLst/>
              <a:uFillTx/>
              <a:latin typeface="Arial"/>
            </a:endParaRPr>
          </a:p>
        </p:txBody>
      </p:sp>
      <p:sp>
        <p:nvSpPr>
          <p:cNvPr id="260" name="TextBox 17"/>
          <p:cNvSpPr/>
          <p:nvPr/>
        </p:nvSpPr>
        <p:spPr>
          <a:xfrm>
            <a:off x="694800" y="1636920"/>
            <a:ext cx="2139120" cy="49320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2300" b="1" u="none" strike="noStrike">
                <a:solidFill>
                  <a:srgbClr val="17324D"/>
                </a:solidFill>
                <a:effectLst/>
                <a:uFillTx/>
                <a:latin typeface="Calibri"/>
              </a:rPr>
              <a:t>8</a:t>
            </a:r>
            <a:endParaRPr lang="en-IN" sz="2300" b="0" u="none" strike="noStrike">
              <a:solidFill>
                <a:srgbClr val="000000"/>
              </a:solidFill>
              <a:effectLst/>
              <a:uFillTx/>
              <a:latin typeface="Arial"/>
            </a:endParaRPr>
          </a:p>
        </p:txBody>
      </p:sp>
      <p:sp>
        <p:nvSpPr>
          <p:cNvPr id="261" name="TextBox 18"/>
          <p:cNvSpPr/>
          <p:nvPr/>
        </p:nvSpPr>
        <p:spPr>
          <a:xfrm>
            <a:off x="694800" y="2176200"/>
            <a:ext cx="2139120" cy="392400"/>
          </a:xfrm>
          <a:prstGeom prst="rect">
            <a:avLst/>
          </a:prstGeom>
          <a:noFill/>
          <a:ln w="0">
            <a:noFill/>
          </a:ln>
        </p:spPr>
        <p:style>
          <a:lnRef idx="0"/>
          <a:fillRef idx="0"/>
          <a:effectRef idx="0"/>
          <a:fontRef idx="minor"/>
        </p:style>
        <p:txBody>
          <a:bodyPr lIns="9000" tIns="9000" rIns="9000" bIns="9000" anchor="t">
            <a:spAutoFit/>
          </a:bodyPr>
          <a:p>
            <a:pPr defTabSz="457200">
              <a:lnSpc>
                <a:spcPct val="100000"/>
              </a:lnSpc>
            </a:pPr>
            <a:r>
              <a:rPr lang="en-US" sz="1050" b="0" u="none" strike="noStrike">
                <a:solidFill>
                  <a:srgbClr val="4F5B62"/>
                </a:solidFill>
                <a:effectLst/>
                <a:uFillTx/>
                <a:latin typeface="Calibri"/>
              </a:rPr>
              <a:t>Primary users: 5</a:t>
            </a:r>
            <a:endParaRPr lang="en-IN" sz="1050" b="0" u="none" strike="noStrike">
              <a:solidFill>
                <a:srgbClr val="000000"/>
              </a:solidFill>
              <a:effectLst/>
              <a:uFillTx/>
              <a:latin typeface="Arial"/>
            </a:endParaRPr>
          </a:p>
          <a:p>
            <a:pPr defTabSz="457200">
              <a:lnSpc>
                <a:spcPct val="100000"/>
              </a:lnSpc>
            </a:pPr>
            <a:r>
              <a:rPr lang="en-US" sz="1050" b="0" u="none" strike="noStrike">
                <a:solidFill>
                  <a:srgbClr val="4F5B62"/>
                </a:solidFill>
                <a:effectLst/>
                <a:uFillTx/>
                <a:latin typeface="Calibri"/>
              </a:rPr>
              <a:t>Other stakeholders: 3</a:t>
            </a:r>
            <a:endParaRPr lang="en-IN" sz="1050" b="0" u="none" strike="noStrike">
              <a:solidFill>
                <a:srgbClr val="000000"/>
              </a:solidFill>
              <a:effectLst/>
              <a:uFillTx/>
              <a:latin typeface="Arial"/>
            </a:endParaRPr>
          </a:p>
        </p:txBody>
      </p:sp>
      <p:sp>
        <p:nvSpPr>
          <p:cNvPr id="262" name="Rounded Rectangle 19"/>
          <p:cNvSpPr/>
          <p:nvPr/>
        </p:nvSpPr>
        <p:spPr>
          <a:xfrm>
            <a:off x="3182040" y="1170360"/>
            <a:ext cx="2468160" cy="1526400"/>
          </a:xfrm>
          <a:prstGeom prst="roundRect">
            <a:avLst>
              <a:gd name="adj" fmla="val 16667"/>
            </a:avLst>
          </a:prstGeom>
          <a:solidFill>
            <a:srgbClr val="FFF4DB"/>
          </a:solidFill>
          <a:ln w="13970">
            <a:solidFill>
              <a:srgbClr val="F3A71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3" name="TextBox 20"/>
          <p:cNvSpPr/>
          <p:nvPr/>
        </p:nvSpPr>
        <p:spPr>
          <a:xfrm>
            <a:off x="3346560" y="1307520"/>
            <a:ext cx="2139120" cy="236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F3A712"/>
                </a:solidFill>
                <a:effectLst/>
                <a:uFillTx/>
                <a:latin typeface="Calibri"/>
              </a:rPr>
              <a:t>MESSAGES &amp; LINKS</a:t>
            </a:r>
            <a:endParaRPr lang="en-IN" sz="1050" b="0" u="none" strike="noStrike">
              <a:solidFill>
                <a:srgbClr val="000000"/>
              </a:solidFill>
              <a:effectLst/>
              <a:uFillTx/>
              <a:latin typeface="Arial"/>
            </a:endParaRPr>
          </a:p>
        </p:txBody>
      </p:sp>
      <p:sp>
        <p:nvSpPr>
          <p:cNvPr id="264" name="TextBox 21"/>
          <p:cNvSpPr/>
          <p:nvPr/>
        </p:nvSpPr>
        <p:spPr>
          <a:xfrm>
            <a:off x="3346560" y="1636920"/>
            <a:ext cx="2139120" cy="49320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2300" b="1" u="none" strike="noStrike">
                <a:solidFill>
                  <a:srgbClr val="17324D"/>
                </a:solidFill>
                <a:effectLst/>
                <a:uFillTx/>
                <a:latin typeface="Calibri"/>
              </a:rPr>
              <a:t>3</a:t>
            </a:r>
            <a:endParaRPr lang="en-IN" sz="2300" b="0" u="none" strike="noStrike">
              <a:solidFill>
                <a:srgbClr val="000000"/>
              </a:solidFill>
              <a:effectLst/>
              <a:uFillTx/>
              <a:latin typeface="Arial"/>
            </a:endParaRPr>
          </a:p>
        </p:txBody>
      </p:sp>
      <p:sp>
        <p:nvSpPr>
          <p:cNvPr id="265" name="TextBox 22"/>
          <p:cNvSpPr/>
          <p:nvPr/>
        </p:nvSpPr>
        <p:spPr>
          <a:xfrm>
            <a:off x="3346560" y="2176200"/>
            <a:ext cx="2139120" cy="392400"/>
          </a:xfrm>
          <a:prstGeom prst="rect">
            <a:avLst/>
          </a:prstGeom>
          <a:noFill/>
          <a:ln w="0">
            <a:noFill/>
          </a:ln>
        </p:spPr>
        <p:style>
          <a:lnRef idx="0"/>
          <a:fillRef idx="0"/>
          <a:effectRef idx="0"/>
          <a:fontRef idx="minor"/>
        </p:style>
        <p:txBody>
          <a:bodyPr lIns="9000" tIns="9000" rIns="9000" bIns="9000" anchor="t">
            <a:spAutoFit/>
          </a:bodyPr>
          <a:p>
            <a:pPr defTabSz="457200">
              <a:lnSpc>
                <a:spcPct val="100000"/>
              </a:lnSpc>
            </a:pPr>
            <a:r>
              <a:rPr lang="en-US" sz="1000" b="0" u="none" strike="noStrike">
                <a:solidFill>
                  <a:srgbClr val="4F5B62"/>
                </a:solidFill>
                <a:effectLst/>
                <a:uFillTx/>
                <a:latin typeface="Calibri"/>
              </a:rPr>
              <a:t>Walkthroughs: 3</a:t>
            </a:r>
            <a:endParaRPr lang="en-IN" sz="1000" b="0" u="none" strike="noStrike">
              <a:solidFill>
                <a:srgbClr val="000000"/>
              </a:solidFill>
              <a:effectLst/>
              <a:uFillTx/>
              <a:latin typeface="Arial"/>
            </a:endParaRPr>
          </a:p>
          <a:p>
            <a:pPr defTabSz="457200">
              <a:lnSpc>
                <a:spcPct val="100000"/>
              </a:lnSpc>
            </a:pPr>
            <a:r>
              <a:rPr lang="en-US" sz="1000" b="0" u="none" strike="noStrike">
                <a:solidFill>
                  <a:srgbClr val="4F5B62"/>
                </a:solidFill>
                <a:effectLst/>
                <a:uFillTx/>
                <a:latin typeface="Calibri"/>
              </a:rPr>
              <a:t>Key observation: only sender name checked</a:t>
            </a:r>
            <a:endParaRPr lang="en-IN" sz="1000" b="0" u="none" strike="noStrike">
              <a:solidFill>
                <a:srgbClr val="000000"/>
              </a:solidFill>
              <a:effectLst/>
              <a:uFillTx/>
              <a:latin typeface="Arial"/>
            </a:endParaRPr>
          </a:p>
        </p:txBody>
      </p:sp>
      <p:sp>
        <p:nvSpPr>
          <p:cNvPr id="266" name="Rounded Rectangle 23"/>
          <p:cNvSpPr/>
          <p:nvPr/>
        </p:nvSpPr>
        <p:spPr>
          <a:xfrm>
            <a:off x="5833800" y="1170360"/>
            <a:ext cx="2468160" cy="1526400"/>
          </a:xfrm>
          <a:prstGeom prst="roundRect">
            <a:avLst>
              <a:gd name="adj" fmla="val 16667"/>
            </a:avLst>
          </a:prstGeom>
          <a:solidFill>
            <a:srgbClr val="EAF3FB"/>
          </a:solidFill>
          <a:ln w="13970">
            <a:solidFill>
              <a:srgbClr val="3178C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7" name="TextBox 24"/>
          <p:cNvSpPr/>
          <p:nvPr/>
        </p:nvSpPr>
        <p:spPr>
          <a:xfrm>
            <a:off x="5998320" y="1307520"/>
            <a:ext cx="2139120" cy="236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3178C6"/>
                </a:solidFill>
                <a:effectLst/>
                <a:uFillTx/>
                <a:latin typeface="Calibri"/>
              </a:rPr>
              <a:t>CALLS &amp; BREACHES</a:t>
            </a:r>
            <a:endParaRPr lang="en-IN" sz="1050" b="0" u="none" strike="noStrike">
              <a:solidFill>
                <a:srgbClr val="000000"/>
              </a:solidFill>
              <a:effectLst/>
              <a:uFillTx/>
              <a:latin typeface="Arial"/>
            </a:endParaRPr>
          </a:p>
        </p:txBody>
      </p:sp>
      <p:sp>
        <p:nvSpPr>
          <p:cNvPr id="268" name="TextBox 25"/>
          <p:cNvSpPr/>
          <p:nvPr/>
        </p:nvSpPr>
        <p:spPr>
          <a:xfrm>
            <a:off x="5998320" y="1636920"/>
            <a:ext cx="2139120" cy="49320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2300" b="1" u="none" strike="noStrike">
                <a:solidFill>
                  <a:srgbClr val="17324D"/>
                </a:solidFill>
                <a:effectLst/>
                <a:uFillTx/>
                <a:latin typeface="Calibri"/>
              </a:rPr>
              <a:t>60%</a:t>
            </a:r>
            <a:endParaRPr lang="en-IN" sz="2300" b="0" u="none" strike="noStrike">
              <a:solidFill>
                <a:srgbClr val="000000"/>
              </a:solidFill>
              <a:effectLst/>
              <a:uFillTx/>
              <a:latin typeface="Arial"/>
            </a:endParaRPr>
          </a:p>
        </p:txBody>
      </p:sp>
      <p:sp>
        <p:nvSpPr>
          <p:cNvPr id="269" name="TextBox 26"/>
          <p:cNvSpPr/>
          <p:nvPr/>
        </p:nvSpPr>
        <p:spPr>
          <a:xfrm>
            <a:off x="5998320" y="2176200"/>
            <a:ext cx="2139120" cy="392400"/>
          </a:xfrm>
          <a:prstGeom prst="rect">
            <a:avLst/>
          </a:prstGeom>
          <a:noFill/>
          <a:ln w="0">
            <a:noFill/>
          </a:ln>
        </p:spPr>
        <p:style>
          <a:lnRef idx="0"/>
          <a:fillRef idx="0"/>
          <a:effectRef idx="0"/>
          <a:fontRef idx="minor"/>
        </p:style>
        <p:txBody>
          <a:bodyPr lIns="9000" tIns="9000" rIns="9000" bIns="9000" anchor="t">
            <a:spAutoFit/>
          </a:bodyPr>
          <a:p>
            <a:pPr defTabSz="457200">
              <a:lnSpc>
                <a:spcPct val="100000"/>
              </a:lnSpc>
            </a:pPr>
            <a:r>
              <a:rPr lang="en-US" sz="1050" b="0" u="none" strike="noStrike">
                <a:solidFill>
                  <a:srgbClr val="4F5B62"/>
                </a:solidFill>
                <a:effectLst/>
                <a:uFillTx/>
                <a:latin typeface="Calibri"/>
              </a:rPr>
              <a:t>Unsure how to respond: 5 of 8</a:t>
            </a:r>
            <a:endParaRPr lang="en-IN" sz="1050" b="0" u="none" strike="noStrike">
              <a:solidFill>
                <a:srgbClr val="000000"/>
              </a:solidFill>
              <a:effectLst/>
              <a:uFillTx/>
              <a:latin typeface="Arial"/>
            </a:endParaRPr>
          </a:p>
          <a:p>
            <a:pPr defTabSz="457200">
              <a:lnSpc>
                <a:spcPct val="100000"/>
              </a:lnSpc>
            </a:pPr>
            <a:r>
              <a:rPr lang="en-US" sz="1050" b="0" u="none" strike="noStrike">
                <a:solidFill>
                  <a:srgbClr val="4F5B62"/>
                </a:solidFill>
                <a:effectLst/>
                <a:uFillTx/>
                <a:latin typeface="Calibri"/>
              </a:rPr>
              <a:t>Time period: 2 weeks</a:t>
            </a:r>
            <a:endParaRPr lang="en-IN" sz="1050" b="0" u="none" strike="noStrike">
              <a:solidFill>
                <a:srgbClr val="000000"/>
              </a:solidFill>
              <a:effectLst/>
              <a:uFillTx/>
              <a:latin typeface="Arial"/>
            </a:endParaRPr>
          </a:p>
        </p:txBody>
      </p:sp>
      <p:sp>
        <p:nvSpPr>
          <p:cNvPr id="270" name="Rounded Rectangle 27"/>
          <p:cNvSpPr/>
          <p:nvPr/>
        </p:nvSpPr>
        <p:spPr>
          <a:xfrm>
            <a:off x="8485560" y="1170360"/>
            <a:ext cx="3199680" cy="1526400"/>
          </a:xfrm>
          <a:prstGeom prst="roundRect">
            <a:avLst>
              <a:gd name="adj" fmla="val 16667"/>
            </a:avLst>
          </a:prstGeom>
          <a:solidFill>
            <a:srgbClr val="F0ECFF"/>
          </a:solidFill>
          <a:ln w="13970">
            <a:solidFill>
              <a:srgbClr val="6E56C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1" name="TextBox 28"/>
          <p:cNvSpPr/>
          <p:nvPr/>
        </p:nvSpPr>
        <p:spPr>
          <a:xfrm>
            <a:off x="8650080" y="1307520"/>
            <a:ext cx="2870640" cy="236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6E56CF"/>
                </a:solidFill>
                <a:effectLst/>
                <a:uFillTx/>
                <a:latin typeface="Calibri"/>
              </a:rPr>
              <a:t>REPORTING</a:t>
            </a:r>
            <a:endParaRPr lang="en-IN" sz="1050" b="0" u="none" strike="noStrike">
              <a:solidFill>
                <a:srgbClr val="000000"/>
              </a:solidFill>
              <a:effectLst/>
              <a:uFillTx/>
              <a:latin typeface="Arial"/>
            </a:endParaRPr>
          </a:p>
        </p:txBody>
      </p:sp>
      <p:sp>
        <p:nvSpPr>
          <p:cNvPr id="272" name="TextBox 29"/>
          <p:cNvSpPr/>
          <p:nvPr/>
        </p:nvSpPr>
        <p:spPr>
          <a:xfrm>
            <a:off x="8650080" y="1636920"/>
            <a:ext cx="2870640" cy="49320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2300" b="1" u="none" strike="noStrike">
                <a:solidFill>
                  <a:srgbClr val="17324D"/>
                </a:solidFill>
                <a:effectLst/>
                <a:uFillTx/>
                <a:latin typeface="Calibri"/>
              </a:rPr>
              <a:t>3</a:t>
            </a:r>
            <a:endParaRPr lang="en-IN" sz="2300" b="0" u="none" strike="noStrike">
              <a:solidFill>
                <a:srgbClr val="000000"/>
              </a:solidFill>
              <a:effectLst/>
              <a:uFillTx/>
              <a:latin typeface="Arial"/>
            </a:endParaRPr>
          </a:p>
        </p:txBody>
      </p:sp>
      <p:sp>
        <p:nvSpPr>
          <p:cNvPr id="273" name="TextBox 30"/>
          <p:cNvSpPr/>
          <p:nvPr/>
        </p:nvSpPr>
        <p:spPr>
          <a:xfrm>
            <a:off x="8650080" y="2176200"/>
            <a:ext cx="2870640" cy="392400"/>
          </a:xfrm>
          <a:prstGeom prst="rect">
            <a:avLst/>
          </a:prstGeom>
          <a:noFill/>
          <a:ln w="0">
            <a:noFill/>
          </a:ln>
        </p:spPr>
        <p:style>
          <a:lnRef idx="0"/>
          <a:fillRef idx="0"/>
          <a:effectRef idx="0"/>
          <a:fontRef idx="minor"/>
        </p:style>
        <p:txBody>
          <a:bodyPr lIns="9000" tIns="9000" rIns="9000" bIns="9000" anchor="t">
            <a:spAutoFit/>
          </a:bodyPr>
          <a:p>
            <a:pPr defTabSz="457200">
              <a:lnSpc>
                <a:spcPct val="100000"/>
              </a:lnSpc>
            </a:pPr>
            <a:r>
              <a:rPr lang="en-US" sz="1050" b="0" u="none" strike="noStrike">
                <a:solidFill>
                  <a:srgbClr val="4F5B62"/>
                </a:solidFill>
                <a:effectLst/>
                <a:uFillTx/>
                <a:latin typeface="Calibri"/>
              </a:rPr>
              <a:t>Secondary sources: CERT-In, bank alerts, cybercrime portal</a:t>
            </a:r>
            <a:endParaRPr lang="en-IN" sz="1050" b="0" u="none" strike="noStrike">
              <a:solidFill>
                <a:srgbClr val="000000"/>
              </a:solidFill>
              <a:effectLst/>
              <a:uFillTx/>
              <a:latin typeface="Arial"/>
            </a:endParaRPr>
          </a:p>
        </p:txBody>
      </p:sp>
      <p:sp>
        <p:nvSpPr>
          <p:cNvPr id="274" name="Rounded Rectangle 31"/>
          <p:cNvSpPr/>
          <p:nvPr/>
        </p:nvSpPr>
        <p:spPr>
          <a:xfrm>
            <a:off x="530280" y="3017520"/>
            <a:ext cx="3656880" cy="1261080"/>
          </a:xfrm>
          <a:prstGeom prst="roundRect">
            <a:avLst>
              <a:gd name="adj" fmla="val 16667"/>
            </a:avLst>
          </a:prstGeom>
          <a:solidFill>
            <a:srgbClr val="FFFFFF"/>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5" name="Rectangle 32"/>
          <p:cNvSpPr/>
          <p:nvPr/>
        </p:nvSpPr>
        <p:spPr>
          <a:xfrm>
            <a:off x="530280" y="3017520"/>
            <a:ext cx="72360" cy="1261080"/>
          </a:xfrm>
          <a:prstGeom prst="rect">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276" name="TextBox 33"/>
          <p:cNvSpPr/>
          <p:nvPr/>
        </p:nvSpPr>
        <p:spPr>
          <a:xfrm>
            <a:off x="713160" y="3145680"/>
            <a:ext cx="334584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270" b="1" u="none" strike="noStrike">
                <a:solidFill>
                  <a:srgbClr val="17324D"/>
                </a:solidFill>
                <a:effectLst/>
                <a:uFillTx/>
                <a:latin typeface="Calibri"/>
              </a:rPr>
              <a:t>REPEATED INSIGHT</a:t>
            </a:r>
            <a:endParaRPr lang="en-IN" sz="1270" b="0" u="none" strike="noStrike">
              <a:solidFill>
                <a:srgbClr val="000000"/>
              </a:solidFill>
              <a:effectLst/>
              <a:uFillTx/>
              <a:latin typeface="Arial"/>
            </a:endParaRPr>
          </a:p>
        </p:txBody>
      </p:sp>
      <p:sp>
        <p:nvSpPr>
          <p:cNvPr id="277" name="TextBox 34"/>
          <p:cNvSpPr/>
          <p:nvPr/>
        </p:nvSpPr>
        <p:spPr>
          <a:xfrm>
            <a:off x="713160" y="3529440"/>
            <a:ext cx="3345840" cy="62100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260" b="0" u="none" strike="noStrike">
                <a:solidFill>
                  <a:srgbClr val="4F5B62"/>
                </a:solidFill>
                <a:effectLst/>
                <a:uFillTx/>
                <a:latin typeface="Calibri"/>
              </a:rPr>
              <a:t>“Users checked only the sender name, then guessed. No one had a clear way to verify.”</a:t>
            </a:r>
            <a:endParaRPr lang="en-IN" sz="1260" b="0" u="none" strike="noStrike">
              <a:solidFill>
                <a:srgbClr val="000000"/>
              </a:solidFill>
              <a:effectLst/>
              <a:uFillTx/>
              <a:latin typeface="Arial"/>
            </a:endParaRPr>
          </a:p>
          <a:p>
            <a:pPr defTabSz="457200">
              <a:lnSpc>
                <a:spcPct val="95000"/>
              </a:lnSpc>
            </a:pPr>
            <a:r>
              <a:rPr lang="en-US" sz="1260" b="0" u="none" strike="noStrike">
                <a:solidFill>
                  <a:srgbClr val="4F5B62"/>
                </a:solidFill>
                <a:effectLst/>
                <a:uFillTx/>
                <a:latin typeface="Calibri"/>
              </a:rPr>
              <a:t>Evidence: [E01, E02, E04]</a:t>
            </a:r>
            <a:endParaRPr lang="en-IN" sz="1260" b="0" u="none" strike="noStrike">
              <a:solidFill>
                <a:srgbClr val="000000"/>
              </a:solidFill>
              <a:effectLst/>
              <a:uFillTx/>
              <a:latin typeface="Arial"/>
            </a:endParaRPr>
          </a:p>
        </p:txBody>
      </p:sp>
      <p:sp>
        <p:nvSpPr>
          <p:cNvPr id="278" name="Rounded Rectangle 35"/>
          <p:cNvSpPr/>
          <p:nvPr/>
        </p:nvSpPr>
        <p:spPr>
          <a:xfrm>
            <a:off x="4425840" y="3017520"/>
            <a:ext cx="3656880" cy="1261080"/>
          </a:xfrm>
          <a:prstGeom prst="roundRect">
            <a:avLst>
              <a:gd name="adj" fmla="val 16667"/>
            </a:avLst>
          </a:prstGeom>
          <a:solidFill>
            <a:srgbClr val="FFF4DB"/>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9" name="Rectangle 36"/>
          <p:cNvSpPr/>
          <p:nvPr/>
        </p:nvSpPr>
        <p:spPr>
          <a:xfrm>
            <a:off x="4425840" y="3017520"/>
            <a:ext cx="72360" cy="1261080"/>
          </a:xfrm>
          <a:prstGeom prst="rect">
            <a:avLst/>
          </a:prstGeom>
          <a:solidFill>
            <a:srgbClr val="F3A71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280" name="TextBox 37"/>
          <p:cNvSpPr/>
          <p:nvPr/>
        </p:nvSpPr>
        <p:spPr>
          <a:xfrm>
            <a:off x="4608720" y="3145680"/>
            <a:ext cx="334584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240" b="1" u="none" strike="noStrike">
                <a:solidFill>
                  <a:srgbClr val="17324D"/>
                </a:solidFill>
                <a:effectLst/>
                <a:uFillTx/>
                <a:latin typeface="Calibri"/>
              </a:rPr>
              <a:t>CONTRADICTORY OR LIMITING EVIDENCE</a:t>
            </a:r>
            <a:endParaRPr lang="en-IN" sz="1240" b="0" u="none" strike="noStrike">
              <a:solidFill>
                <a:srgbClr val="000000"/>
              </a:solidFill>
              <a:effectLst/>
              <a:uFillTx/>
              <a:latin typeface="Arial"/>
            </a:endParaRPr>
          </a:p>
        </p:txBody>
      </p:sp>
      <p:sp>
        <p:nvSpPr>
          <p:cNvPr id="281" name="TextBox 38"/>
          <p:cNvSpPr/>
          <p:nvPr/>
        </p:nvSpPr>
        <p:spPr>
          <a:xfrm>
            <a:off x="4608720" y="3529440"/>
            <a:ext cx="3345840" cy="62100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220" b="0" u="none" strike="noStrike">
                <a:solidFill>
                  <a:srgbClr val="4F5B62"/>
                </a:solidFill>
                <a:effectLst/>
                <a:uFillTx/>
                <a:latin typeface="Calibri"/>
              </a:rPr>
              <a:t>“Obvious spam is ignored easily; the doubt is with realistic bank and QR messages.”</a:t>
            </a:r>
            <a:endParaRPr lang="en-IN" sz="1220" b="0" u="none" strike="noStrike">
              <a:solidFill>
                <a:srgbClr val="000000"/>
              </a:solidFill>
              <a:effectLst/>
              <a:uFillTx/>
              <a:latin typeface="Arial"/>
            </a:endParaRPr>
          </a:p>
          <a:p>
            <a:pPr defTabSz="457200">
              <a:lnSpc>
                <a:spcPct val="95000"/>
              </a:lnSpc>
            </a:pPr>
            <a:r>
              <a:rPr lang="en-US" sz="1220" b="0" u="none" strike="noStrike">
                <a:solidFill>
                  <a:srgbClr val="4F5B62"/>
                </a:solidFill>
                <a:effectLst/>
                <a:uFillTx/>
                <a:latin typeface="Calibri"/>
              </a:rPr>
              <a:t>Evidence: [E05]</a:t>
            </a:r>
            <a:endParaRPr lang="en-IN" sz="1220" b="0" u="none" strike="noStrike">
              <a:solidFill>
                <a:srgbClr val="000000"/>
              </a:solidFill>
              <a:effectLst/>
              <a:uFillTx/>
              <a:latin typeface="Arial"/>
            </a:endParaRPr>
          </a:p>
        </p:txBody>
      </p:sp>
      <p:sp>
        <p:nvSpPr>
          <p:cNvPr id="282" name="Rounded Rectangle 39"/>
          <p:cNvSpPr/>
          <p:nvPr/>
        </p:nvSpPr>
        <p:spPr>
          <a:xfrm>
            <a:off x="8321040" y="3017520"/>
            <a:ext cx="3364200" cy="1261080"/>
          </a:xfrm>
          <a:prstGeom prst="roundRect">
            <a:avLst>
              <a:gd name="adj" fmla="val 16667"/>
            </a:avLst>
          </a:prstGeom>
          <a:solidFill>
            <a:srgbClr val="EAF3FB"/>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3" name="Rectangle 40"/>
          <p:cNvSpPr/>
          <p:nvPr/>
        </p:nvSpPr>
        <p:spPr>
          <a:xfrm>
            <a:off x="8321040" y="3017520"/>
            <a:ext cx="72360" cy="1261080"/>
          </a:xfrm>
          <a:prstGeom prst="rect">
            <a:avLst/>
          </a:prstGeom>
          <a:solidFill>
            <a:srgbClr val="3178C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284" name="TextBox 41"/>
          <p:cNvSpPr/>
          <p:nvPr/>
        </p:nvSpPr>
        <p:spPr>
          <a:xfrm>
            <a:off x="8503920" y="3145680"/>
            <a:ext cx="305352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240" b="1" u="none" strike="noStrike">
                <a:solidFill>
                  <a:srgbClr val="17324D"/>
                </a:solidFill>
                <a:effectLst/>
                <a:uFillTx/>
                <a:latin typeface="Calibri"/>
              </a:rPr>
              <a:t>STRONGEST QUANTITATIVE SIGNAL</a:t>
            </a:r>
            <a:endParaRPr lang="en-IN" sz="1240" b="0" u="none" strike="noStrike">
              <a:solidFill>
                <a:srgbClr val="000000"/>
              </a:solidFill>
              <a:effectLst/>
              <a:uFillTx/>
              <a:latin typeface="Arial"/>
            </a:endParaRPr>
          </a:p>
        </p:txBody>
      </p:sp>
      <p:sp>
        <p:nvSpPr>
          <p:cNvPr id="285" name="TextBox 42"/>
          <p:cNvSpPr/>
          <p:nvPr/>
        </p:nvSpPr>
        <p:spPr>
          <a:xfrm>
            <a:off x="8503920" y="3529440"/>
            <a:ext cx="3053520" cy="62100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100" b="0" u="none" strike="noStrike">
                <a:solidFill>
                  <a:srgbClr val="4F5B62"/>
                </a:solidFill>
                <a:effectLst/>
                <a:uFillTx/>
                <a:latin typeface="Calibri"/>
              </a:rPr>
              <a:t>Rate: 6 of 8 users unsure what to do</a:t>
            </a:r>
            <a:endParaRPr lang="en-IN" sz="1100" b="0" u="none" strike="noStrike">
              <a:solidFill>
                <a:srgbClr val="000000"/>
              </a:solidFill>
              <a:effectLst/>
              <a:uFillTx/>
              <a:latin typeface="Arial"/>
            </a:endParaRPr>
          </a:p>
          <a:p>
            <a:pPr defTabSz="457200">
              <a:lnSpc>
                <a:spcPct val="95000"/>
              </a:lnSpc>
            </a:pPr>
            <a:r>
              <a:rPr lang="en-US" sz="1100" b="0" u="none" strike="noStrike">
                <a:solidFill>
                  <a:srgbClr val="4F5B62"/>
                </a:solidFill>
                <a:effectLst/>
                <a:uFillTx/>
                <a:latin typeface="Calibri"/>
              </a:rPr>
              <a:t>Type: ☐ Measured  ☑ Reported  ☐ Estimated</a:t>
            </a:r>
            <a:endParaRPr lang="en-IN" sz="1100" b="0" u="none" strike="noStrike">
              <a:solidFill>
                <a:srgbClr val="000000"/>
              </a:solidFill>
              <a:effectLst/>
              <a:uFillTx/>
              <a:latin typeface="Arial"/>
            </a:endParaRPr>
          </a:p>
          <a:p>
            <a:pPr defTabSz="457200">
              <a:lnSpc>
                <a:spcPct val="95000"/>
              </a:lnSpc>
            </a:pPr>
            <a:r>
              <a:rPr lang="en-US" sz="1100" b="0" u="none" strike="noStrike">
                <a:solidFill>
                  <a:srgbClr val="4F5B62"/>
                </a:solidFill>
                <a:effectLst/>
                <a:uFillTx/>
                <a:latin typeface="Calibri"/>
              </a:rPr>
              <a:t>Evidence: [E01–E08]</a:t>
            </a:r>
            <a:endParaRPr lang="en-IN" sz="1100" b="0" u="none" strike="noStrike">
              <a:solidFill>
                <a:srgbClr val="000000"/>
              </a:solidFill>
              <a:effectLst/>
              <a:uFillTx/>
              <a:latin typeface="Arial"/>
            </a:endParaRPr>
          </a:p>
        </p:txBody>
      </p:sp>
      <p:sp>
        <p:nvSpPr>
          <p:cNvPr id="286" name="Rounded Rectangle 43"/>
          <p:cNvSpPr/>
          <p:nvPr/>
        </p:nvSpPr>
        <p:spPr>
          <a:xfrm>
            <a:off x="530280" y="4599360"/>
            <a:ext cx="11154960" cy="1041840"/>
          </a:xfrm>
          <a:prstGeom prst="roundRect">
            <a:avLst>
              <a:gd name="adj" fmla="val 16667"/>
            </a:avLst>
          </a:prstGeom>
          <a:solidFill>
            <a:srgbClr val="FFFFFF"/>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7" name="TextBox 44"/>
          <p:cNvSpPr/>
          <p:nvPr/>
        </p:nvSpPr>
        <p:spPr>
          <a:xfrm>
            <a:off x="768240" y="4791600"/>
            <a:ext cx="201096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50" b="1" u="none" strike="noStrike">
                <a:solidFill>
                  <a:srgbClr val="17324D"/>
                </a:solidFill>
                <a:effectLst/>
                <a:uFillTx/>
                <a:latin typeface="Calibri"/>
              </a:rPr>
              <a:t>What the evidence now says</a:t>
            </a:r>
            <a:endParaRPr lang="en-IN" sz="1350" b="0" u="none" strike="noStrike">
              <a:solidFill>
                <a:srgbClr val="000000"/>
              </a:solidFill>
              <a:effectLst/>
              <a:uFillTx/>
              <a:latin typeface="Arial"/>
            </a:endParaRPr>
          </a:p>
        </p:txBody>
      </p:sp>
      <p:sp>
        <p:nvSpPr>
          <p:cNvPr id="288" name="TextBox 45"/>
          <p:cNvSpPr/>
          <p:nvPr/>
        </p:nvSpPr>
        <p:spPr>
          <a:xfrm>
            <a:off x="2834640" y="4718160"/>
            <a:ext cx="8557920" cy="49320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400" b="1" u="none" strike="noStrike">
                <a:solidFill>
                  <a:srgbClr val="006D75"/>
                </a:solidFill>
                <a:effectLst/>
                <a:uFillTx/>
                <a:latin typeface="Calibri"/>
              </a:rPr>
              <a:t>Most users meet suspicious messages, links or calls often, but few can verify them confidently or know where to report. The gap appears to be in recognition, decision and reporting support rather than spam filtering.</a:t>
            </a:r>
            <a:endParaRPr lang="en-IN" sz="1400" b="0" u="none" strike="noStrike">
              <a:solidFill>
                <a:srgbClr val="000000"/>
              </a:solidFill>
              <a:effectLst/>
              <a:uFillTx/>
              <a:latin typeface="Arial"/>
            </a:endParaRPr>
          </a:p>
        </p:txBody>
      </p:sp>
      <p:sp>
        <p:nvSpPr>
          <p:cNvPr id="289" name="TextBox 46"/>
          <p:cNvSpPr/>
          <p:nvPr/>
        </p:nvSpPr>
        <p:spPr>
          <a:xfrm>
            <a:off x="530280" y="5870520"/>
            <a:ext cx="11154960" cy="236880"/>
          </a:xfrm>
          <a:prstGeom prst="rect">
            <a:avLst/>
          </a:prstGeom>
          <a:noFill/>
          <a:ln w="0">
            <a:noFill/>
          </a:ln>
        </p:spPr>
        <p:style>
          <a:lnRef idx="0"/>
          <a:fillRef idx="0"/>
          <a:effectRef idx="0"/>
          <a:fontRef idx="minor"/>
        </p:style>
        <p:txBody>
          <a:bodyPr lIns="0" tIns="0" rIns="0" bIns="0" anchor="t">
            <a:spAutoFit/>
          </a:bodyPr>
          <a:p>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B"/>
        </a:solidFill>
      </p:bgPr>
    </p:bg>
    <p:spTree>
      <p:nvGrpSpPr>
        <p:cNvPr id="1" name=""/>
        <p:cNvGrpSpPr/>
        <p:nvPr/>
      </p:nvGrpSpPr>
      <p:grpSpPr>
        <a:xfrm>
          <a:off x="0" y="0"/>
          <a:ext cx="0" cy="0"/>
          <a:chOff x="0" y="0"/>
          <a:chExt cx="0" cy="0"/>
        </a:xfrm>
      </p:grpSpPr>
      <p:sp>
        <p:nvSpPr>
          <p:cNvPr id="290" name="Rectangle 1"/>
          <p:cNvSpPr/>
          <p:nvPr/>
        </p:nvSpPr>
        <p:spPr>
          <a:xfrm>
            <a:off x="9000" y="0"/>
            <a:ext cx="163800" cy="6848280"/>
          </a:xfrm>
          <a:prstGeom prst="rect">
            <a:avLst/>
          </a:prstGeom>
          <a:solidFill>
            <a:srgbClr val="F3A71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82080" tIns="45000" rIns="82080" bIns="45000" anchor="ctr">
            <a:noAutofit/>
          </a:bodyPr>
          <a:p>
            <a:endParaRPr lang="en-US" sz="1800" b="0" u="none" strike="noStrike">
              <a:solidFill>
                <a:schemeClr val="lt1"/>
              </a:solidFill>
              <a:effectLst/>
              <a:uFillTx/>
              <a:latin typeface="Calibri"/>
            </a:endParaRPr>
          </a:p>
        </p:txBody>
      </p:sp>
      <p:sp>
        <p:nvSpPr>
          <p:cNvPr id="291" name="Oval 2"/>
          <p:cNvSpPr/>
          <p:nvPr/>
        </p:nvSpPr>
        <p:spPr>
          <a:xfrm>
            <a:off x="420480" y="265320"/>
            <a:ext cx="474840" cy="474840"/>
          </a:xfrm>
          <a:prstGeom prst="ellipse">
            <a:avLst/>
          </a:prstGeom>
          <a:solidFill>
            <a:srgbClr val="F3A71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2" name="TextBox 3"/>
          <p:cNvSpPr/>
          <p:nvPr/>
        </p:nvSpPr>
        <p:spPr>
          <a:xfrm>
            <a:off x="420480" y="260640"/>
            <a:ext cx="474840" cy="4748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600" b="1" u="none" strike="noStrike">
                <a:solidFill>
                  <a:srgbClr val="FFFFFF"/>
                </a:solidFill>
                <a:effectLst/>
                <a:uFillTx/>
                <a:latin typeface="Calibri"/>
              </a:rPr>
              <a:t>6</a:t>
            </a:r>
            <a:endParaRPr lang="en-IN" sz="1600" b="0" u="none" strike="noStrike">
              <a:solidFill>
                <a:srgbClr val="000000"/>
              </a:solidFill>
              <a:effectLst/>
              <a:uFillTx/>
              <a:latin typeface="Arial"/>
            </a:endParaRPr>
          </a:p>
        </p:txBody>
      </p:sp>
      <p:sp>
        <p:nvSpPr>
          <p:cNvPr id="293" name="TextBox 4"/>
          <p:cNvSpPr/>
          <p:nvPr/>
        </p:nvSpPr>
        <p:spPr>
          <a:xfrm>
            <a:off x="1005840" y="210240"/>
            <a:ext cx="7634520" cy="42912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2300" b="1" u="none" strike="noStrike">
                <a:solidFill>
                  <a:srgbClr val="17324D"/>
                </a:solidFill>
                <a:effectLst/>
                <a:uFillTx/>
                <a:latin typeface="Calibri"/>
              </a:rPr>
              <a:t>Pain significance, value and adoption</a:t>
            </a:r>
            <a:endParaRPr lang="en-IN" sz="2300" b="0" u="none" strike="noStrike">
              <a:solidFill>
                <a:srgbClr val="000000"/>
              </a:solidFill>
              <a:effectLst/>
              <a:uFillTx/>
              <a:latin typeface="Arial"/>
            </a:endParaRPr>
          </a:p>
        </p:txBody>
      </p:sp>
      <p:sp>
        <p:nvSpPr>
          <p:cNvPr id="294" name="TextBox 5"/>
          <p:cNvSpPr/>
          <p:nvPr/>
        </p:nvSpPr>
        <p:spPr>
          <a:xfrm>
            <a:off x="1005840" y="667440"/>
            <a:ext cx="763452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070" b="0" u="none" strike="noStrike">
                <a:solidFill>
                  <a:srgbClr val="7B878E"/>
                </a:solidFill>
                <a:effectLst/>
                <a:uFillTx/>
                <a:latin typeface="Calibri"/>
              </a:rPr>
              <a:t>Show why the problem deserves effort and whether a relevant decision-maker has a reason to support improvement.</a:t>
            </a:r>
            <a:endParaRPr lang="en-IN" sz="1070" b="0" u="none" strike="noStrike">
              <a:solidFill>
                <a:srgbClr val="000000"/>
              </a:solidFill>
              <a:effectLst/>
              <a:uFillTx/>
              <a:latin typeface="Arial"/>
            </a:endParaRPr>
          </a:p>
        </p:txBody>
      </p:sp>
      <p:sp>
        <p:nvSpPr>
          <p:cNvPr id="295" name="Rounded Rectangle 6"/>
          <p:cNvSpPr/>
          <p:nvPr/>
        </p:nvSpPr>
        <p:spPr>
          <a:xfrm>
            <a:off x="8796600" y="283320"/>
            <a:ext cx="876960" cy="282600"/>
          </a:xfrm>
          <a:prstGeom prst="roundRect">
            <a:avLst>
              <a:gd name="adj" fmla="val 16667"/>
            </a:avLst>
          </a:prstGeom>
          <a:solidFill>
            <a:srgbClr val="F5F7F8"/>
          </a:solidFill>
          <a:ln w="1016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6" name="TextBox 7"/>
          <p:cNvSpPr/>
          <p:nvPr/>
        </p:nvSpPr>
        <p:spPr>
          <a:xfrm>
            <a:off x="879660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7B878E"/>
                </a:solidFill>
                <a:effectLst/>
                <a:uFillTx/>
                <a:latin typeface="Calibri"/>
              </a:rPr>
              <a:t>DISCOVER</a:t>
            </a:r>
            <a:endParaRPr lang="en-IN" sz="870" b="0" u="none" strike="noStrike">
              <a:solidFill>
                <a:srgbClr val="000000"/>
              </a:solidFill>
              <a:effectLst/>
              <a:uFillTx/>
              <a:latin typeface="Arial"/>
            </a:endParaRPr>
          </a:p>
        </p:txBody>
      </p:sp>
      <p:sp>
        <p:nvSpPr>
          <p:cNvPr id="297" name="Rounded Rectangle 8"/>
          <p:cNvSpPr/>
          <p:nvPr/>
        </p:nvSpPr>
        <p:spPr>
          <a:xfrm>
            <a:off x="9756720" y="283320"/>
            <a:ext cx="876960" cy="282600"/>
          </a:xfrm>
          <a:prstGeom prst="roundRect">
            <a:avLst>
              <a:gd name="adj" fmla="val 16667"/>
            </a:avLst>
          </a:prstGeom>
          <a:solidFill>
            <a:srgbClr val="F3A712"/>
          </a:solidFill>
          <a:ln w="10160">
            <a:solidFill>
              <a:srgbClr val="F3A71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8" name="TextBox 9"/>
          <p:cNvSpPr/>
          <p:nvPr/>
        </p:nvSpPr>
        <p:spPr>
          <a:xfrm>
            <a:off x="975672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FFFFFF"/>
                </a:solidFill>
                <a:effectLst/>
                <a:uFillTx/>
                <a:latin typeface="Calibri"/>
              </a:rPr>
              <a:t>VALIDATE</a:t>
            </a:r>
            <a:endParaRPr lang="en-IN" sz="870" b="0" u="none" strike="noStrike">
              <a:solidFill>
                <a:srgbClr val="000000"/>
              </a:solidFill>
              <a:effectLst/>
              <a:uFillTx/>
              <a:latin typeface="Arial"/>
            </a:endParaRPr>
          </a:p>
        </p:txBody>
      </p:sp>
      <p:sp>
        <p:nvSpPr>
          <p:cNvPr id="299" name="Rounded Rectangle 10"/>
          <p:cNvSpPr/>
          <p:nvPr/>
        </p:nvSpPr>
        <p:spPr>
          <a:xfrm>
            <a:off x="10716840" y="283320"/>
            <a:ext cx="876960" cy="282600"/>
          </a:xfrm>
          <a:prstGeom prst="roundRect">
            <a:avLst>
              <a:gd name="adj" fmla="val 16667"/>
            </a:avLst>
          </a:prstGeom>
          <a:solidFill>
            <a:srgbClr val="F5F7F8"/>
          </a:solidFill>
          <a:ln w="1016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0" name="TextBox 11"/>
          <p:cNvSpPr/>
          <p:nvPr/>
        </p:nvSpPr>
        <p:spPr>
          <a:xfrm>
            <a:off x="1071684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7B878E"/>
                </a:solidFill>
                <a:effectLst/>
                <a:uFillTx/>
                <a:latin typeface="Calibri"/>
              </a:rPr>
              <a:t>DECIDE</a:t>
            </a:r>
            <a:endParaRPr lang="en-IN" sz="870" b="0" u="none" strike="noStrike">
              <a:solidFill>
                <a:srgbClr val="000000"/>
              </a:solidFill>
              <a:effectLst/>
              <a:uFillTx/>
              <a:latin typeface="Arial"/>
            </a:endParaRPr>
          </a:p>
        </p:txBody>
      </p:sp>
      <p:sp>
        <p:nvSpPr>
          <p:cNvPr id="301" name="Rectangle 12"/>
          <p:cNvSpPr/>
          <p:nvPr/>
        </p:nvSpPr>
        <p:spPr>
          <a:xfrm>
            <a:off x="420480" y="6492240"/>
            <a:ext cx="11337840" cy="17640"/>
          </a:xfrm>
          <a:prstGeom prst="rect">
            <a:avLst/>
          </a:prstGeom>
          <a:solidFill>
            <a:srgbClr val="D9E0E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302" name="TextBox 13"/>
          <p:cNvSpPr/>
          <p:nvPr/>
        </p:nvSpPr>
        <p:spPr>
          <a:xfrm>
            <a:off x="438840" y="6556320"/>
            <a:ext cx="6674400" cy="182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9" b="0" u="none" strike="noStrike">
                <a:solidFill>
                  <a:srgbClr val="7B878E"/>
                </a:solidFill>
                <a:effectLst/>
                <a:uFillTx/>
                <a:latin typeface="Calibri"/>
              </a:rPr>
              <a:t>SoI Innovation Projects AY2026-27  |  Phase 1 due 30 September 2026</a:t>
            </a:r>
            <a:endParaRPr lang="en-IN" sz="889" b="0" u="none" strike="noStrike">
              <a:solidFill>
                <a:srgbClr val="000000"/>
              </a:solidFill>
              <a:effectLst/>
              <a:uFillTx/>
              <a:latin typeface="Arial"/>
            </a:endParaRPr>
          </a:p>
        </p:txBody>
      </p:sp>
      <p:sp>
        <p:nvSpPr>
          <p:cNvPr id="303" name="TextBox 14"/>
          <p:cNvSpPr/>
          <p:nvPr/>
        </p:nvSpPr>
        <p:spPr>
          <a:xfrm>
            <a:off x="11064240" y="6556320"/>
            <a:ext cx="657720" cy="1821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850" b="1" u="none" strike="noStrike">
                <a:solidFill>
                  <a:srgbClr val="7B878E"/>
                </a:solidFill>
                <a:effectLst/>
                <a:uFillTx/>
                <a:latin typeface="Calibri"/>
              </a:rPr>
              <a:t>6/10</a:t>
            </a:r>
            <a:endParaRPr lang="en-IN" sz="850" b="0" u="none" strike="noStrike">
              <a:solidFill>
                <a:srgbClr val="000000"/>
              </a:solidFill>
              <a:effectLst/>
              <a:uFillTx/>
              <a:latin typeface="Arial"/>
            </a:endParaRPr>
          </a:p>
        </p:txBody>
      </p:sp>
      <p:sp>
        <p:nvSpPr>
          <p:cNvPr id="304" name="Rounded Rectangle 15"/>
          <p:cNvSpPr/>
          <p:nvPr/>
        </p:nvSpPr>
        <p:spPr>
          <a:xfrm>
            <a:off x="530280" y="1170360"/>
            <a:ext cx="2468160" cy="1517040"/>
          </a:xfrm>
          <a:prstGeom prst="roundRect">
            <a:avLst>
              <a:gd name="adj" fmla="val 16667"/>
            </a:avLst>
          </a:prstGeom>
          <a:solidFill>
            <a:srgbClr val="E8F5F5"/>
          </a:solidFill>
          <a:ln w="13970">
            <a:solidFill>
              <a:srgbClr val="008C9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5" name="TextBox 16"/>
          <p:cNvSpPr/>
          <p:nvPr/>
        </p:nvSpPr>
        <p:spPr>
          <a:xfrm>
            <a:off x="694800" y="1307520"/>
            <a:ext cx="2139120" cy="236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008C95"/>
                </a:solidFill>
                <a:effectLst/>
                <a:uFillTx/>
                <a:latin typeface="Calibri"/>
              </a:rPr>
              <a:t>FREQUENCY</a:t>
            </a:r>
            <a:endParaRPr lang="en-IN" sz="1050" b="0" u="none" strike="noStrike">
              <a:solidFill>
                <a:srgbClr val="000000"/>
              </a:solidFill>
              <a:effectLst/>
              <a:uFillTx/>
              <a:latin typeface="Arial"/>
            </a:endParaRPr>
          </a:p>
        </p:txBody>
      </p:sp>
      <p:sp>
        <p:nvSpPr>
          <p:cNvPr id="306" name="TextBox 17"/>
          <p:cNvSpPr/>
          <p:nvPr/>
        </p:nvSpPr>
        <p:spPr>
          <a:xfrm>
            <a:off x="694800" y="1636920"/>
            <a:ext cx="2139120" cy="49320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700" b="1" u="none" strike="noStrike">
                <a:solidFill>
                  <a:srgbClr val="17324D"/>
                </a:solidFill>
                <a:effectLst/>
                <a:uFillTx/>
                <a:latin typeface="Calibri"/>
              </a:rPr>
              <a:t>Weekly</a:t>
            </a:r>
            <a:endParaRPr lang="en-IN" sz="1700" b="0" u="none" strike="noStrike">
              <a:solidFill>
                <a:srgbClr val="000000"/>
              </a:solidFill>
              <a:effectLst/>
              <a:uFillTx/>
              <a:latin typeface="Arial"/>
            </a:endParaRPr>
          </a:p>
        </p:txBody>
      </p:sp>
      <p:sp>
        <p:nvSpPr>
          <p:cNvPr id="307" name="TextBox 18"/>
          <p:cNvSpPr/>
          <p:nvPr/>
        </p:nvSpPr>
        <p:spPr>
          <a:xfrm>
            <a:off x="694800" y="2176200"/>
            <a:ext cx="2139120" cy="383400"/>
          </a:xfrm>
          <a:prstGeom prst="rect">
            <a:avLst/>
          </a:prstGeom>
          <a:noFill/>
          <a:ln w="0">
            <a:noFill/>
          </a:ln>
        </p:spPr>
        <p:style>
          <a:lnRef idx="0"/>
          <a:fillRef idx="0"/>
          <a:effectRef idx="0"/>
          <a:fontRef idx="minor"/>
        </p:style>
        <p:txBody>
          <a:bodyPr lIns="9000" tIns="9000" rIns="9000" bIns="9000" anchor="t">
            <a:spAutoFit/>
          </a:bodyPr>
          <a:p>
            <a:pPr defTabSz="457200">
              <a:lnSpc>
                <a:spcPct val="100000"/>
              </a:lnSpc>
            </a:pPr>
            <a:r>
              <a:rPr lang="en-US" sz="1000" b="0" u="none" strike="noStrike">
                <a:solidFill>
                  <a:srgbClr val="4F5B62"/>
                </a:solidFill>
                <a:effectLst/>
                <a:uFillTx/>
                <a:latin typeface="Calibri"/>
              </a:rPr>
              <a:t>Threats arise in routine messaging, payments and social media.</a:t>
            </a:r>
            <a:endParaRPr lang="en-IN" sz="1000" b="0" u="none" strike="noStrike">
              <a:solidFill>
                <a:srgbClr val="000000"/>
              </a:solidFill>
              <a:effectLst/>
              <a:uFillTx/>
              <a:latin typeface="Arial"/>
            </a:endParaRPr>
          </a:p>
          <a:p>
            <a:pPr defTabSz="457200">
              <a:lnSpc>
                <a:spcPct val="100000"/>
              </a:lnSpc>
            </a:pPr>
            <a:r>
              <a:rPr lang="en-US" sz="1000" b="0" u="none" strike="noStrike">
                <a:solidFill>
                  <a:srgbClr val="4F5B62"/>
                </a:solidFill>
                <a:effectLst/>
                <a:uFillTx/>
                <a:latin typeface="Calibri"/>
              </a:rPr>
              <a:t>Evidence: [E01–E08] (Reported)</a:t>
            </a:r>
            <a:endParaRPr lang="en-IN" sz="1000" b="0" u="none" strike="noStrike">
              <a:solidFill>
                <a:srgbClr val="000000"/>
              </a:solidFill>
              <a:effectLst/>
              <a:uFillTx/>
              <a:latin typeface="Arial"/>
            </a:endParaRPr>
          </a:p>
        </p:txBody>
      </p:sp>
      <p:sp>
        <p:nvSpPr>
          <p:cNvPr id="308" name="Rounded Rectangle 19"/>
          <p:cNvSpPr/>
          <p:nvPr/>
        </p:nvSpPr>
        <p:spPr>
          <a:xfrm>
            <a:off x="3182040" y="1170360"/>
            <a:ext cx="2468160" cy="1517040"/>
          </a:xfrm>
          <a:prstGeom prst="roundRect">
            <a:avLst>
              <a:gd name="adj" fmla="val 16667"/>
            </a:avLst>
          </a:prstGeom>
          <a:solidFill>
            <a:srgbClr val="FFF4DB"/>
          </a:solidFill>
          <a:ln w="13970">
            <a:solidFill>
              <a:srgbClr val="F3A71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9" name="TextBox 20"/>
          <p:cNvSpPr/>
          <p:nvPr/>
        </p:nvSpPr>
        <p:spPr>
          <a:xfrm>
            <a:off x="3346560" y="1307520"/>
            <a:ext cx="2139120" cy="236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F3A712"/>
                </a:solidFill>
                <a:effectLst/>
                <a:uFillTx/>
                <a:latin typeface="Calibri"/>
              </a:rPr>
              <a:t>SEVERITY</a:t>
            </a:r>
            <a:endParaRPr lang="en-IN" sz="1050" b="0" u="none" strike="noStrike">
              <a:solidFill>
                <a:srgbClr val="000000"/>
              </a:solidFill>
              <a:effectLst/>
              <a:uFillTx/>
              <a:latin typeface="Arial"/>
            </a:endParaRPr>
          </a:p>
        </p:txBody>
      </p:sp>
      <p:sp>
        <p:nvSpPr>
          <p:cNvPr id="310" name="TextBox 21"/>
          <p:cNvSpPr/>
          <p:nvPr/>
        </p:nvSpPr>
        <p:spPr>
          <a:xfrm>
            <a:off x="3346560" y="1636920"/>
            <a:ext cx="2139120" cy="49320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200" b="1" u="none" strike="noStrike">
                <a:solidFill>
                  <a:srgbClr val="17324D"/>
                </a:solidFill>
                <a:effectLst/>
                <a:uFillTx/>
                <a:latin typeface="Calibri"/>
              </a:rPr>
              <a:t>Data · accounts · money</a:t>
            </a:r>
            <a:endParaRPr lang="en-IN" sz="1200" b="0" u="none" strike="noStrike">
              <a:solidFill>
                <a:srgbClr val="000000"/>
              </a:solidFill>
              <a:effectLst/>
              <a:uFillTx/>
              <a:latin typeface="Arial"/>
            </a:endParaRPr>
          </a:p>
        </p:txBody>
      </p:sp>
      <p:sp>
        <p:nvSpPr>
          <p:cNvPr id="311" name="TextBox 22"/>
          <p:cNvSpPr/>
          <p:nvPr/>
        </p:nvSpPr>
        <p:spPr>
          <a:xfrm>
            <a:off x="3346560" y="2176200"/>
            <a:ext cx="2139120" cy="383400"/>
          </a:xfrm>
          <a:prstGeom prst="rect">
            <a:avLst/>
          </a:prstGeom>
          <a:noFill/>
          <a:ln w="0">
            <a:noFill/>
          </a:ln>
        </p:spPr>
        <p:style>
          <a:lnRef idx="0"/>
          <a:fillRef idx="0"/>
          <a:effectRef idx="0"/>
          <a:fontRef idx="minor"/>
        </p:style>
        <p:txBody>
          <a:bodyPr lIns="9000" tIns="9000" rIns="9000" bIns="9000" anchor="t">
            <a:spAutoFit/>
          </a:bodyPr>
          <a:p>
            <a:pPr defTabSz="457200">
              <a:lnSpc>
                <a:spcPct val="100000"/>
              </a:lnSpc>
            </a:pPr>
            <a:r>
              <a:rPr lang="en-US" sz="1000" b="0" u="none" strike="noStrike">
                <a:solidFill>
                  <a:srgbClr val="4F5B62"/>
                </a:solidFill>
                <a:effectLst/>
                <a:uFillTx/>
                <a:latin typeface="Calibri"/>
              </a:rPr>
              <a:t>Also identity misuse and malware infection</a:t>
            </a:r>
            <a:endParaRPr lang="en-IN" sz="1000" b="0" u="none" strike="noStrike">
              <a:solidFill>
                <a:srgbClr val="000000"/>
              </a:solidFill>
              <a:effectLst/>
              <a:uFillTx/>
              <a:latin typeface="Arial"/>
            </a:endParaRPr>
          </a:p>
          <a:p>
            <a:pPr defTabSz="457200">
              <a:lnSpc>
                <a:spcPct val="100000"/>
              </a:lnSpc>
            </a:pPr>
            <a:r>
              <a:rPr lang="en-US" sz="1000" b="0" u="none" strike="noStrike">
                <a:solidFill>
                  <a:srgbClr val="4F5B62"/>
                </a:solidFill>
                <a:effectLst/>
                <a:uFillTx/>
                <a:latin typeface="Calibri"/>
              </a:rPr>
              <a:t>Evidence: [E03, E06]</a:t>
            </a:r>
            <a:endParaRPr lang="en-IN" sz="1000" b="0" u="none" strike="noStrike">
              <a:solidFill>
                <a:srgbClr val="000000"/>
              </a:solidFill>
              <a:effectLst/>
              <a:uFillTx/>
              <a:latin typeface="Arial"/>
            </a:endParaRPr>
          </a:p>
        </p:txBody>
      </p:sp>
      <p:sp>
        <p:nvSpPr>
          <p:cNvPr id="312" name="Rounded Rectangle 23"/>
          <p:cNvSpPr/>
          <p:nvPr/>
        </p:nvSpPr>
        <p:spPr>
          <a:xfrm>
            <a:off x="5833800" y="1170360"/>
            <a:ext cx="2468160" cy="1517040"/>
          </a:xfrm>
          <a:prstGeom prst="roundRect">
            <a:avLst>
              <a:gd name="adj" fmla="val 16667"/>
            </a:avLst>
          </a:prstGeom>
          <a:solidFill>
            <a:srgbClr val="FBEAEC"/>
          </a:solidFill>
          <a:ln w="13970">
            <a:solidFill>
              <a:srgbClr val="B23A4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3" name="TextBox 24"/>
          <p:cNvSpPr/>
          <p:nvPr/>
        </p:nvSpPr>
        <p:spPr>
          <a:xfrm>
            <a:off x="5998320" y="1307520"/>
            <a:ext cx="2139120" cy="236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B23A48"/>
                </a:solidFill>
                <a:effectLst/>
                <a:uFillTx/>
                <a:latin typeface="Calibri"/>
              </a:rPr>
              <a:t>CONSEQUENCE</a:t>
            </a:r>
            <a:endParaRPr lang="en-IN" sz="1050" b="0" u="none" strike="noStrike">
              <a:solidFill>
                <a:srgbClr val="000000"/>
              </a:solidFill>
              <a:effectLst/>
              <a:uFillTx/>
              <a:latin typeface="Arial"/>
            </a:endParaRPr>
          </a:p>
        </p:txBody>
      </p:sp>
      <p:sp>
        <p:nvSpPr>
          <p:cNvPr id="314" name="TextBox 25"/>
          <p:cNvSpPr/>
          <p:nvPr/>
        </p:nvSpPr>
        <p:spPr>
          <a:xfrm>
            <a:off x="5998320" y="1636920"/>
            <a:ext cx="2139120" cy="49320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500" b="1" u="none" strike="noStrike">
                <a:solidFill>
                  <a:srgbClr val="17324D"/>
                </a:solidFill>
                <a:effectLst/>
                <a:uFillTx/>
                <a:latin typeface="Calibri"/>
              </a:rPr>
              <a:t>Money · access · time</a:t>
            </a:r>
            <a:endParaRPr lang="en-IN" sz="1500" b="0" u="none" strike="noStrike">
              <a:solidFill>
                <a:srgbClr val="000000"/>
              </a:solidFill>
              <a:effectLst/>
              <a:uFillTx/>
              <a:latin typeface="Arial"/>
            </a:endParaRPr>
          </a:p>
        </p:txBody>
      </p:sp>
      <p:sp>
        <p:nvSpPr>
          <p:cNvPr id="315" name="TextBox 26"/>
          <p:cNvSpPr/>
          <p:nvPr/>
        </p:nvSpPr>
        <p:spPr>
          <a:xfrm>
            <a:off x="5998320" y="2176200"/>
            <a:ext cx="2139120" cy="383400"/>
          </a:xfrm>
          <a:prstGeom prst="rect">
            <a:avLst/>
          </a:prstGeom>
          <a:noFill/>
          <a:ln w="0">
            <a:noFill/>
          </a:ln>
        </p:spPr>
        <p:style>
          <a:lnRef idx="0"/>
          <a:fillRef idx="0"/>
          <a:effectRef idx="0"/>
          <a:fontRef idx="minor"/>
        </p:style>
        <p:txBody>
          <a:bodyPr lIns="9000" tIns="9000" rIns="9000" bIns="9000" anchor="t">
            <a:spAutoFit/>
          </a:bodyPr>
          <a:p>
            <a:pPr defTabSz="457200">
              <a:lnSpc>
                <a:spcPct val="100000"/>
              </a:lnSpc>
            </a:pPr>
            <a:r>
              <a:rPr lang="en-US" sz="1000" b="0" u="none" strike="noStrike">
                <a:solidFill>
                  <a:srgbClr val="4F5B62"/>
                </a:solidFill>
                <a:effectLst/>
                <a:uFillTx/>
                <a:latin typeface="Calibri"/>
              </a:rPr>
              <a:t>Also account recovery time and delayed reporting</a:t>
            </a:r>
            <a:endParaRPr lang="en-IN" sz="1000" b="0" u="none" strike="noStrike">
              <a:solidFill>
                <a:srgbClr val="000000"/>
              </a:solidFill>
              <a:effectLst/>
              <a:uFillTx/>
              <a:latin typeface="Arial"/>
            </a:endParaRPr>
          </a:p>
          <a:p>
            <a:pPr defTabSz="457200">
              <a:lnSpc>
                <a:spcPct val="100000"/>
              </a:lnSpc>
            </a:pPr>
            <a:r>
              <a:rPr lang="en-US" sz="1000" b="0" u="none" strike="noStrike">
                <a:solidFill>
                  <a:srgbClr val="4F5B62"/>
                </a:solidFill>
                <a:effectLst/>
                <a:uFillTx/>
                <a:latin typeface="Calibri"/>
              </a:rPr>
              <a:t>Evidence: [E04, E07]</a:t>
            </a:r>
            <a:endParaRPr lang="en-IN" sz="1000" b="0" u="none" strike="noStrike">
              <a:solidFill>
                <a:srgbClr val="000000"/>
              </a:solidFill>
              <a:effectLst/>
              <a:uFillTx/>
              <a:latin typeface="Arial"/>
            </a:endParaRPr>
          </a:p>
        </p:txBody>
      </p:sp>
      <p:sp>
        <p:nvSpPr>
          <p:cNvPr id="316" name="Rounded Rectangle 27"/>
          <p:cNvSpPr/>
          <p:nvPr/>
        </p:nvSpPr>
        <p:spPr>
          <a:xfrm>
            <a:off x="8485560" y="1170360"/>
            <a:ext cx="3199680" cy="1517040"/>
          </a:xfrm>
          <a:prstGeom prst="roundRect">
            <a:avLst>
              <a:gd name="adj" fmla="val 16667"/>
            </a:avLst>
          </a:prstGeom>
          <a:solidFill>
            <a:srgbClr val="EAF4EA"/>
          </a:solidFill>
          <a:ln w="13970">
            <a:solidFill>
              <a:srgbClr val="2E7D3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7" name="TextBox 28"/>
          <p:cNvSpPr/>
          <p:nvPr/>
        </p:nvSpPr>
        <p:spPr>
          <a:xfrm>
            <a:off x="8650080" y="1307520"/>
            <a:ext cx="2870640" cy="236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2E7D32"/>
                </a:solidFill>
                <a:effectLst/>
                <a:uFillTx/>
                <a:latin typeface="Calibri"/>
              </a:rPr>
              <a:t>VALUE</a:t>
            </a:r>
            <a:endParaRPr lang="en-IN" sz="1050" b="0" u="none" strike="noStrike">
              <a:solidFill>
                <a:srgbClr val="000000"/>
              </a:solidFill>
              <a:effectLst/>
              <a:uFillTx/>
              <a:latin typeface="Arial"/>
            </a:endParaRPr>
          </a:p>
        </p:txBody>
      </p:sp>
      <p:sp>
        <p:nvSpPr>
          <p:cNvPr id="318" name="TextBox 29"/>
          <p:cNvSpPr/>
          <p:nvPr/>
        </p:nvSpPr>
        <p:spPr>
          <a:xfrm>
            <a:off x="8650080" y="1636920"/>
            <a:ext cx="2870640" cy="49320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500" b="1" u="none" strike="noStrike">
                <a:solidFill>
                  <a:srgbClr val="17324D"/>
                </a:solidFill>
                <a:effectLst/>
                <a:uFillTx/>
                <a:latin typeface="Calibri"/>
              </a:rPr>
              <a:t>Users and their families</a:t>
            </a:r>
            <a:endParaRPr lang="en-IN" sz="1500" b="0" u="none" strike="noStrike">
              <a:solidFill>
                <a:srgbClr val="000000"/>
              </a:solidFill>
              <a:effectLst/>
              <a:uFillTx/>
              <a:latin typeface="Arial"/>
            </a:endParaRPr>
          </a:p>
        </p:txBody>
      </p:sp>
      <p:sp>
        <p:nvSpPr>
          <p:cNvPr id="319" name="TextBox 30"/>
          <p:cNvSpPr/>
          <p:nvPr/>
        </p:nvSpPr>
        <p:spPr>
          <a:xfrm>
            <a:off x="8650080" y="2176200"/>
            <a:ext cx="2870640" cy="383400"/>
          </a:xfrm>
          <a:prstGeom prst="rect">
            <a:avLst/>
          </a:prstGeom>
          <a:noFill/>
          <a:ln w="0">
            <a:noFill/>
          </a:ln>
        </p:spPr>
        <p:style>
          <a:lnRef idx="0"/>
          <a:fillRef idx="0"/>
          <a:effectRef idx="0"/>
          <a:fontRef idx="minor"/>
        </p:style>
        <p:txBody>
          <a:bodyPr lIns="9000" tIns="9000" rIns="9000" bIns="9000" anchor="t">
            <a:spAutoFit/>
          </a:bodyPr>
          <a:p>
            <a:pPr defTabSz="457200">
              <a:lnSpc>
                <a:spcPct val="100000"/>
              </a:lnSpc>
            </a:pPr>
            <a:r>
              <a:rPr lang="en-US" sz="1000" b="0" u="none" strike="noStrike">
                <a:solidFill>
                  <a:srgbClr val="4F5B62"/>
                </a:solidFill>
                <a:effectLst/>
                <a:uFillTx/>
                <a:latin typeface="Calibri"/>
              </a:rPr>
              <a:t>Confident decisions, safe responses, timely reporting, less avoidable loss</a:t>
            </a:r>
            <a:endParaRPr lang="en-IN" sz="1000" b="0" u="none" strike="noStrike">
              <a:solidFill>
                <a:srgbClr val="000000"/>
              </a:solidFill>
              <a:effectLst/>
              <a:uFillTx/>
              <a:latin typeface="Arial"/>
            </a:endParaRPr>
          </a:p>
          <a:p>
            <a:pPr defTabSz="457200">
              <a:lnSpc>
                <a:spcPct val="100000"/>
              </a:lnSpc>
            </a:pPr>
            <a:r>
              <a:rPr lang="en-US" sz="1000" b="0" u="none" strike="noStrike">
                <a:solidFill>
                  <a:srgbClr val="4F5B62"/>
                </a:solidFill>
                <a:effectLst/>
                <a:uFillTx/>
                <a:latin typeface="Calibri"/>
              </a:rPr>
              <a:t>Evidence: [E06, E08]</a:t>
            </a:r>
            <a:endParaRPr lang="en-IN" sz="1000" b="0" u="none" strike="noStrike">
              <a:solidFill>
                <a:srgbClr val="000000"/>
              </a:solidFill>
              <a:effectLst/>
              <a:uFillTx/>
              <a:latin typeface="Arial"/>
            </a:endParaRPr>
          </a:p>
        </p:txBody>
      </p:sp>
      <p:sp>
        <p:nvSpPr>
          <p:cNvPr id="320" name="Rounded Rectangle 31"/>
          <p:cNvSpPr/>
          <p:nvPr/>
        </p:nvSpPr>
        <p:spPr>
          <a:xfrm>
            <a:off x="530280" y="3017520"/>
            <a:ext cx="3675240" cy="1416600"/>
          </a:xfrm>
          <a:prstGeom prst="roundRect">
            <a:avLst>
              <a:gd name="adj" fmla="val 16667"/>
            </a:avLst>
          </a:prstGeom>
          <a:solidFill>
            <a:srgbClr val="FFFFFF"/>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1" name="Rectangle 32"/>
          <p:cNvSpPr/>
          <p:nvPr/>
        </p:nvSpPr>
        <p:spPr>
          <a:xfrm>
            <a:off x="530280" y="3017520"/>
            <a:ext cx="72360" cy="1416600"/>
          </a:xfrm>
          <a:prstGeom prst="rect">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322" name="TextBox 33"/>
          <p:cNvSpPr/>
          <p:nvPr/>
        </p:nvSpPr>
        <p:spPr>
          <a:xfrm>
            <a:off x="713160" y="3145680"/>
            <a:ext cx="336420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250" b="1" u="none" strike="noStrike">
                <a:solidFill>
                  <a:srgbClr val="17324D"/>
                </a:solidFill>
                <a:effectLst/>
                <a:uFillTx/>
                <a:latin typeface="Calibri"/>
              </a:rPr>
              <a:t>CURRENT ALTERNATIVES AND WHY USERS TOLERATE THEM</a:t>
            </a:r>
            <a:endParaRPr lang="en-IN" sz="1250" b="0" u="none" strike="noStrike">
              <a:solidFill>
                <a:srgbClr val="000000"/>
              </a:solidFill>
              <a:effectLst/>
              <a:uFillTx/>
              <a:latin typeface="Arial"/>
            </a:endParaRPr>
          </a:p>
        </p:txBody>
      </p:sp>
      <p:sp>
        <p:nvSpPr>
          <p:cNvPr id="323" name="TextBox 34"/>
          <p:cNvSpPr/>
          <p:nvPr/>
        </p:nvSpPr>
        <p:spPr>
          <a:xfrm>
            <a:off x="713160" y="3675960"/>
            <a:ext cx="3364200" cy="77652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000" b="0" u="none" strike="noStrike">
                <a:solidFill>
                  <a:srgbClr val="4F5B62"/>
                </a:solidFill>
                <a:effectLst/>
                <a:uFillTx/>
                <a:latin typeface="Calibri"/>
              </a:rPr>
              <a:t>Security warnings, spam filters, awareness programs, bank alerts, reporting mechanisms, IT support</a:t>
            </a:r>
            <a:endParaRPr lang="en-IN" sz="1000" b="0" u="none" strike="noStrike">
              <a:solidFill>
                <a:srgbClr val="000000"/>
              </a:solidFill>
              <a:effectLst/>
              <a:uFillTx/>
              <a:latin typeface="Arial"/>
            </a:endParaRPr>
          </a:p>
          <a:p>
            <a:pPr defTabSz="457200">
              <a:lnSpc>
                <a:spcPct val="95000"/>
              </a:lnSpc>
            </a:pPr>
            <a:r>
              <a:rPr lang="en-US" sz="1000" b="0" u="none" strike="noStrike">
                <a:solidFill>
                  <a:srgbClr val="4F5B62"/>
                </a:solidFill>
                <a:effectLst/>
                <a:uFillTx/>
                <a:latin typeface="Calibri"/>
              </a:rPr>
              <a:t>Why the gap still matters: users say warnings are generic and reporting steps are unclear</a:t>
            </a:r>
            <a:endParaRPr lang="en-IN" sz="1000" b="0" u="none" strike="noStrike">
              <a:solidFill>
                <a:srgbClr val="000000"/>
              </a:solidFill>
              <a:effectLst/>
              <a:uFillTx/>
              <a:latin typeface="Arial"/>
            </a:endParaRPr>
          </a:p>
        </p:txBody>
      </p:sp>
      <p:sp>
        <p:nvSpPr>
          <p:cNvPr id="324" name="Rounded Rectangle 35"/>
          <p:cNvSpPr/>
          <p:nvPr/>
        </p:nvSpPr>
        <p:spPr>
          <a:xfrm>
            <a:off x="4443840" y="3017520"/>
            <a:ext cx="3675240" cy="1416600"/>
          </a:xfrm>
          <a:prstGeom prst="roundRect">
            <a:avLst>
              <a:gd name="adj" fmla="val 16667"/>
            </a:avLst>
          </a:prstGeom>
          <a:solidFill>
            <a:srgbClr val="FFF4DB"/>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5" name="Rectangle 36"/>
          <p:cNvSpPr/>
          <p:nvPr/>
        </p:nvSpPr>
        <p:spPr>
          <a:xfrm>
            <a:off x="4443840" y="3017520"/>
            <a:ext cx="72360" cy="1416600"/>
          </a:xfrm>
          <a:prstGeom prst="rect">
            <a:avLst/>
          </a:prstGeom>
          <a:solidFill>
            <a:srgbClr val="F3A71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326" name="TextBox 37"/>
          <p:cNvSpPr/>
          <p:nvPr/>
        </p:nvSpPr>
        <p:spPr>
          <a:xfrm>
            <a:off x="4626720" y="3145680"/>
            <a:ext cx="336420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250" b="1" u="none" strike="noStrike">
                <a:solidFill>
                  <a:srgbClr val="17324D"/>
                </a:solidFill>
                <a:effectLst/>
                <a:uFillTx/>
                <a:latin typeface="Calibri"/>
              </a:rPr>
              <a:t>ADOPTION / SUPPORT SIGNAL</a:t>
            </a:r>
            <a:endParaRPr lang="en-IN" sz="1250" b="0" u="none" strike="noStrike">
              <a:solidFill>
                <a:srgbClr val="000000"/>
              </a:solidFill>
              <a:effectLst/>
              <a:uFillTx/>
              <a:latin typeface="Arial"/>
            </a:endParaRPr>
          </a:p>
        </p:txBody>
      </p:sp>
      <p:sp>
        <p:nvSpPr>
          <p:cNvPr id="327" name="TextBox 38"/>
          <p:cNvSpPr/>
          <p:nvPr/>
        </p:nvSpPr>
        <p:spPr>
          <a:xfrm>
            <a:off x="4626720" y="3529440"/>
            <a:ext cx="3364200" cy="77652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100" b="0" u="none" strike="noStrike">
                <a:solidFill>
                  <a:srgbClr val="4F5B62"/>
                </a:solidFill>
                <a:effectLst/>
                <a:uFillTx/>
                <a:latin typeface="Calibri"/>
              </a:rPr>
              <a:t>Support person / IT: college IT staff</a:t>
            </a:r>
            <a:endParaRPr lang="en-IN" sz="1100" b="0" u="none" strike="noStrike">
              <a:solidFill>
                <a:srgbClr val="000000"/>
              </a:solidFill>
              <a:effectLst/>
              <a:uFillTx/>
              <a:latin typeface="Arial"/>
            </a:endParaRPr>
          </a:p>
          <a:p>
            <a:pPr defTabSz="457200">
              <a:lnSpc>
                <a:spcPct val="95000"/>
              </a:lnSpc>
            </a:pPr>
            <a:r>
              <a:rPr lang="en-US" sz="1100" b="0" u="none" strike="noStrike">
                <a:solidFill>
                  <a:srgbClr val="4F5B62"/>
                </a:solidFill>
                <a:effectLst/>
                <a:uFillTx/>
                <a:latin typeface="Calibri"/>
              </a:rPr>
              <a:t>What they said: supports awareness drives</a:t>
            </a:r>
            <a:endParaRPr lang="en-IN" sz="1100" b="0" u="none" strike="noStrike">
              <a:solidFill>
                <a:srgbClr val="000000"/>
              </a:solidFill>
              <a:effectLst/>
              <a:uFillTx/>
              <a:latin typeface="Arial"/>
            </a:endParaRPr>
          </a:p>
          <a:p>
            <a:pPr defTabSz="457200">
              <a:lnSpc>
                <a:spcPct val="95000"/>
              </a:lnSpc>
            </a:pPr>
            <a:r>
              <a:rPr lang="en-US" sz="1100" b="0" u="none" strike="noStrike">
                <a:solidFill>
                  <a:srgbClr val="4F5B62"/>
                </a:solidFill>
                <a:effectLst/>
                <a:uFillTx/>
                <a:latin typeface="Calibri"/>
              </a:rPr>
              <a:t>Barriers: privacy, limited staff time</a:t>
            </a:r>
            <a:endParaRPr lang="en-IN" sz="1100" b="0" u="none" strike="noStrike">
              <a:solidFill>
                <a:srgbClr val="000000"/>
              </a:solidFill>
              <a:effectLst/>
              <a:uFillTx/>
              <a:latin typeface="Arial"/>
            </a:endParaRPr>
          </a:p>
        </p:txBody>
      </p:sp>
      <p:sp>
        <p:nvSpPr>
          <p:cNvPr id="328" name="Rounded Rectangle 39"/>
          <p:cNvSpPr/>
          <p:nvPr/>
        </p:nvSpPr>
        <p:spPr>
          <a:xfrm>
            <a:off x="8357760" y="3017520"/>
            <a:ext cx="3327840" cy="1416600"/>
          </a:xfrm>
          <a:prstGeom prst="roundRect">
            <a:avLst>
              <a:gd name="adj" fmla="val 16667"/>
            </a:avLst>
          </a:prstGeom>
          <a:solidFill>
            <a:srgbClr val="EAF4EA"/>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9" name="Rectangle 40"/>
          <p:cNvSpPr/>
          <p:nvPr/>
        </p:nvSpPr>
        <p:spPr>
          <a:xfrm>
            <a:off x="8357760" y="3017520"/>
            <a:ext cx="72360" cy="1416600"/>
          </a:xfrm>
          <a:prstGeom prst="rect">
            <a:avLst/>
          </a:prstGeom>
          <a:solidFill>
            <a:srgbClr val="2E7D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330" name="TextBox 41"/>
          <p:cNvSpPr/>
          <p:nvPr/>
        </p:nvSpPr>
        <p:spPr>
          <a:xfrm>
            <a:off x="8540640" y="3145680"/>
            <a:ext cx="301680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210" b="1" u="none" strike="noStrike">
                <a:solidFill>
                  <a:srgbClr val="17324D"/>
                </a:solidFill>
                <a:effectLst/>
                <a:uFillTx/>
                <a:latin typeface="Calibri"/>
              </a:rPr>
              <a:t>BASELINE AND LATER SUCCESS TARGET</a:t>
            </a:r>
            <a:endParaRPr lang="en-IN" sz="1210" b="0" u="none" strike="noStrike">
              <a:solidFill>
                <a:srgbClr val="000000"/>
              </a:solidFill>
              <a:effectLst/>
              <a:uFillTx/>
              <a:latin typeface="Arial"/>
            </a:endParaRPr>
          </a:p>
        </p:txBody>
      </p:sp>
      <p:sp>
        <p:nvSpPr>
          <p:cNvPr id="331" name="TextBox 42"/>
          <p:cNvSpPr/>
          <p:nvPr/>
        </p:nvSpPr>
        <p:spPr>
          <a:xfrm>
            <a:off x="8540640" y="3529440"/>
            <a:ext cx="3016800" cy="77652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100" b="0" u="none" strike="noStrike">
                <a:solidFill>
                  <a:srgbClr val="4F5B62"/>
                </a:solidFill>
                <a:effectLst/>
                <a:uFillTx/>
                <a:latin typeface="Calibri"/>
              </a:rPr>
              <a:t>Current baseline: 60% unsure how to respond</a:t>
            </a:r>
            <a:endParaRPr lang="en-IN" sz="1100" b="0" u="none" strike="noStrike">
              <a:solidFill>
                <a:srgbClr val="000000"/>
              </a:solidFill>
              <a:effectLst/>
              <a:uFillTx/>
              <a:latin typeface="Arial"/>
            </a:endParaRPr>
          </a:p>
          <a:p>
            <a:pPr defTabSz="457200">
              <a:lnSpc>
                <a:spcPct val="95000"/>
              </a:lnSpc>
            </a:pPr>
            <a:r>
              <a:rPr lang="en-US" sz="1100" b="0" u="none" strike="noStrike">
                <a:solidFill>
                  <a:srgbClr val="4F5B62"/>
                </a:solidFill>
                <a:effectLst/>
                <a:uFillTx/>
                <a:latin typeface="Calibri"/>
              </a:rPr>
              <a:t>Meaningful improvement: below 30% unsure</a:t>
            </a:r>
            <a:endParaRPr lang="en-IN" sz="1100" b="0" u="none" strike="noStrike">
              <a:solidFill>
                <a:srgbClr val="000000"/>
              </a:solidFill>
              <a:effectLst/>
              <a:uFillTx/>
              <a:latin typeface="Arial"/>
            </a:endParaRPr>
          </a:p>
          <a:p>
            <a:pPr defTabSz="457200">
              <a:lnSpc>
                <a:spcPct val="95000"/>
              </a:lnSpc>
            </a:pPr>
            <a:r>
              <a:rPr lang="en-US" sz="1100" b="0" u="none" strike="noStrike">
                <a:solidFill>
                  <a:srgbClr val="4F5B62"/>
                </a:solidFill>
                <a:effectLst/>
                <a:uFillTx/>
                <a:latin typeface="Calibri"/>
              </a:rPr>
              <a:t>Measurement method: user survey + decision time</a:t>
            </a:r>
            <a:endParaRPr lang="en-IN" sz="1100" b="0" u="none" strike="noStrike">
              <a:solidFill>
                <a:srgbClr val="000000"/>
              </a:solidFill>
              <a:effectLst/>
              <a:uFillTx/>
              <a:latin typeface="Arial"/>
            </a:endParaRPr>
          </a:p>
        </p:txBody>
      </p:sp>
      <p:sp>
        <p:nvSpPr>
          <p:cNvPr id="332" name="Rounded Rectangle 43"/>
          <p:cNvSpPr/>
          <p:nvPr/>
        </p:nvSpPr>
        <p:spPr>
          <a:xfrm>
            <a:off x="530280" y="4773240"/>
            <a:ext cx="11154960" cy="867960"/>
          </a:xfrm>
          <a:prstGeom prst="roundRect">
            <a:avLst>
              <a:gd name="adj" fmla="val 16667"/>
            </a:avLst>
          </a:prstGeom>
          <a:solidFill>
            <a:srgbClr val="17324D"/>
          </a:solidFill>
          <a:ln w="12700">
            <a:solidFill>
              <a:srgbClr val="17324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3" name="TextBox 44"/>
          <p:cNvSpPr/>
          <p:nvPr/>
        </p:nvSpPr>
        <p:spPr>
          <a:xfrm>
            <a:off x="786240" y="4965120"/>
            <a:ext cx="10643040" cy="45648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400" b="1" u="none" strike="noStrike">
                <a:solidFill>
                  <a:srgbClr val="FFFFFF"/>
                </a:solidFill>
                <a:effectLst/>
                <a:uFillTx/>
                <a:latin typeface="Calibri"/>
              </a:rPr>
              <a:t>Phase 1 conclusion: </a:t>
            </a:r>
            <a:r>
              <a:rPr lang="en-US" sz="1400" b="0" u="none" strike="noStrike">
                <a:solidFill>
                  <a:srgbClr val="DDEFF0"/>
                </a:solidFill>
                <a:effectLst/>
                <a:uFillTx/>
                <a:latin typeface="Calibri"/>
              </a:rPr>
              <a:t>The problem is significant and valuable because most users face threats regularly, risk money and account loss, and lack clear verification and reporting help.</a:t>
            </a:r>
            <a:endParaRPr lang="en-IN" sz="1400" b="0" u="none" strike="noStrike">
              <a:solidFill>
                <a:srgbClr val="000000"/>
              </a:solidFill>
              <a:effectLst/>
              <a:uFillTx/>
              <a:latin typeface="Arial"/>
            </a:endParaRPr>
          </a:p>
        </p:txBody>
      </p:sp>
      <p:sp>
        <p:nvSpPr>
          <p:cNvPr id="334" name="TextBox 45"/>
          <p:cNvSpPr/>
          <p:nvPr/>
        </p:nvSpPr>
        <p:spPr>
          <a:xfrm>
            <a:off x="530280" y="5888880"/>
            <a:ext cx="11154960" cy="236880"/>
          </a:xfrm>
          <a:prstGeom prst="rect">
            <a:avLst/>
          </a:prstGeom>
          <a:noFill/>
          <a:ln w="0">
            <a:noFill/>
          </a:ln>
        </p:spPr>
        <p:style>
          <a:lnRef idx="0"/>
          <a:fillRef idx="0"/>
          <a:effectRef idx="0"/>
          <a:fontRef idx="minor"/>
        </p:style>
        <p:txBody>
          <a:bodyPr lIns="0" tIns="0" rIns="0" bIns="0" anchor="t">
            <a:spAutoFit/>
          </a:bodyPr>
          <a:p>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B"/>
        </a:solidFill>
      </p:bgPr>
    </p:bg>
    <p:spTree>
      <p:nvGrpSpPr>
        <p:cNvPr id="1" name=""/>
        <p:cNvGrpSpPr/>
        <p:nvPr/>
      </p:nvGrpSpPr>
      <p:grpSpPr>
        <a:xfrm>
          <a:off x="0" y="0"/>
          <a:ext cx="0" cy="0"/>
          <a:chOff x="0" y="0"/>
          <a:chExt cx="0" cy="0"/>
        </a:xfrm>
      </p:grpSpPr>
      <p:sp>
        <p:nvSpPr>
          <p:cNvPr id="335" name="Rectangle 1"/>
          <p:cNvSpPr/>
          <p:nvPr/>
        </p:nvSpPr>
        <p:spPr>
          <a:xfrm>
            <a:off x="9000" y="0"/>
            <a:ext cx="163800" cy="6848280"/>
          </a:xfrm>
          <a:prstGeom prst="rect">
            <a:avLst/>
          </a:prstGeom>
          <a:solidFill>
            <a:srgbClr val="F3A71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82080" tIns="45000" rIns="82080" bIns="45000" anchor="ctr">
            <a:noAutofit/>
          </a:bodyPr>
          <a:p>
            <a:endParaRPr lang="en-US" sz="1800" b="0" u="none" strike="noStrike">
              <a:solidFill>
                <a:schemeClr val="lt1"/>
              </a:solidFill>
              <a:effectLst/>
              <a:uFillTx/>
              <a:latin typeface="Calibri"/>
            </a:endParaRPr>
          </a:p>
        </p:txBody>
      </p:sp>
      <p:sp>
        <p:nvSpPr>
          <p:cNvPr id="336" name="Oval 2"/>
          <p:cNvSpPr/>
          <p:nvPr/>
        </p:nvSpPr>
        <p:spPr>
          <a:xfrm>
            <a:off x="420480" y="265320"/>
            <a:ext cx="474840" cy="474840"/>
          </a:xfrm>
          <a:prstGeom prst="ellipse">
            <a:avLst/>
          </a:prstGeom>
          <a:solidFill>
            <a:srgbClr val="F3A71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7" name="TextBox 3"/>
          <p:cNvSpPr/>
          <p:nvPr/>
        </p:nvSpPr>
        <p:spPr>
          <a:xfrm>
            <a:off x="420480" y="260640"/>
            <a:ext cx="474840" cy="4748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600" b="1" u="none" strike="noStrike">
                <a:solidFill>
                  <a:srgbClr val="FFFFFF"/>
                </a:solidFill>
                <a:effectLst/>
                <a:uFillTx/>
                <a:latin typeface="Calibri"/>
              </a:rPr>
              <a:t>7</a:t>
            </a:r>
            <a:endParaRPr lang="en-IN" sz="1600" b="0" u="none" strike="noStrike">
              <a:solidFill>
                <a:srgbClr val="000000"/>
              </a:solidFill>
              <a:effectLst/>
              <a:uFillTx/>
              <a:latin typeface="Arial"/>
            </a:endParaRPr>
          </a:p>
        </p:txBody>
      </p:sp>
      <p:sp>
        <p:nvSpPr>
          <p:cNvPr id="338" name="TextBox 4"/>
          <p:cNvSpPr/>
          <p:nvPr/>
        </p:nvSpPr>
        <p:spPr>
          <a:xfrm>
            <a:off x="1005840" y="210240"/>
            <a:ext cx="7634520" cy="42912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2300" b="1" u="none" strike="noStrike">
                <a:solidFill>
                  <a:srgbClr val="17324D"/>
                </a:solidFill>
                <a:effectLst/>
                <a:uFillTx/>
                <a:latin typeface="Calibri"/>
              </a:rPr>
              <a:t>Learning loop, problem boundary and remaining risks</a:t>
            </a:r>
            <a:endParaRPr lang="en-IN" sz="2300" b="0" u="none" strike="noStrike">
              <a:solidFill>
                <a:srgbClr val="000000"/>
              </a:solidFill>
              <a:effectLst/>
              <a:uFillTx/>
              <a:latin typeface="Arial"/>
            </a:endParaRPr>
          </a:p>
        </p:txBody>
      </p:sp>
      <p:sp>
        <p:nvSpPr>
          <p:cNvPr id="339" name="TextBox 5"/>
          <p:cNvSpPr/>
          <p:nvPr/>
        </p:nvSpPr>
        <p:spPr>
          <a:xfrm>
            <a:off x="1005840" y="667440"/>
            <a:ext cx="763452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070" b="0" u="none" strike="noStrike">
                <a:solidFill>
                  <a:srgbClr val="7B878E"/>
                </a:solidFill>
                <a:effectLst/>
                <a:uFillTx/>
                <a:latin typeface="Calibri"/>
              </a:rPr>
              <a:t>A strong Phase 1 submission shows changed thinking and makes the remaining uncertainty explicit.</a:t>
            </a:r>
            <a:endParaRPr lang="en-IN" sz="1070" b="0" u="none" strike="noStrike">
              <a:solidFill>
                <a:srgbClr val="000000"/>
              </a:solidFill>
              <a:effectLst/>
              <a:uFillTx/>
              <a:latin typeface="Arial"/>
            </a:endParaRPr>
          </a:p>
        </p:txBody>
      </p:sp>
      <p:sp>
        <p:nvSpPr>
          <p:cNvPr id="340" name="Rounded Rectangle 6"/>
          <p:cNvSpPr/>
          <p:nvPr/>
        </p:nvSpPr>
        <p:spPr>
          <a:xfrm>
            <a:off x="8796600" y="283320"/>
            <a:ext cx="876960" cy="282600"/>
          </a:xfrm>
          <a:prstGeom prst="roundRect">
            <a:avLst>
              <a:gd name="adj" fmla="val 16667"/>
            </a:avLst>
          </a:prstGeom>
          <a:solidFill>
            <a:srgbClr val="F5F7F8"/>
          </a:solidFill>
          <a:ln w="1016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41" name="TextBox 7"/>
          <p:cNvSpPr/>
          <p:nvPr/>
        </p:nvSpPr>
        <p:spPr>
          <a:xfrm>
            <a:off x="879660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7B878E"/>
                </a:solidFill>
                <a:effectLst/>
                <a:uFillTx/>
                <a:latin typeface="Calibri"/>
              </a:rPr>
              <a:t>DISCOVER</a:t>
            </a:r>
            <a:endParaRPr lang="en-IN" sz="870" b="0" u="none" strike="noStrike">
              <a:solidFill>
                <a:srgbClr val="000000"/>
              </a:solidFill>
              <a:effectLst/>
              <a:uFillTx/>
              <a:latin typeface="Arial"/>
            </a:endParaRPr>
          </a:p>
        </p:txBody>
      </p:sp>
      <p:sp>
        <p:nvSpPr>
          <p:cNvPr id="342" name="Rounded Rectangle 8"/>
          <p:cNvSpPr/>
          <p:nvPr/>
        </p:nvSpPr>
        <p:spPr>
          <a:xfrm>
            <a:off x="9756720" y="283320"/>
            <a:ext cx="876960" cy="282600"/>
          </a:xfrm>
          <a:prstGeom prst="roundRect">
            <a:avLst>
              <a:gd name="adj" fmla="val 16667"/>
            </a:avLst>
          </a:prstGeom>
          <a:solidFill>
            <a:srgbClr val="F3A712"/>
          </a:solidFill>
          <a:ln w="10160">
            <a:solidFill>
              <a:srgbClr val="F3A71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43" name="TextBox 9"/>
          <p:cNvSpPr/>
          <p:nvPr/>
        </p:nvSpPr>
        <p:spPr>
          <a:xfrm>
            <a:off x="975672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FFFFFF"/>
                </a:solidFill>
                <a:effectLst/>
                <a:uFillTx/>
                <a:latin typeface="Calibri"/>
              </a:rPr>
              <a:t>VALIDATE</a:t>
            </a:r>
            <a:endParaRPr lang="en-IN" sz="870" b="0" u="none" strike="noStrike">
              <a:solidFill>
                <a:srgbClr val="000000"/>
              </a:solidFill>
              <a:effectLst/>
              <a:uFillTx/>
              <a:latin typeface="Arial"/>
            </a:endParaRPr>
          </a:p>
        </p:txBody>
      </p:sp>
      <p:sp>
        <p:nvSpPr>
          <p:cNvPr id="344" name="Rounded Rectangle 10"/>
          <p:cNvSpPr/>
          <p:nvPr/>
        </p:nvSpPr>
        <p:spPr>
          <a:xfrm>
            <a:off x="10716840" y="283320"/>
            <a:ext cx="876960" cy="282600"/>
          </a:xfrm>
          <a:prstGeom prst="roundRect">
            <a:avLst>
              <a:gd name="adj" fmla="val 16667"/>
            </a:avLst>
          </a:prstGeom>
          <a:solidFill>
            <a:srgbClr val="F5F7F8"/>
          </a:solidFill>
          <a:ln w="1016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45" name="TextBox 11"/>
          <p:cNvSpPr/>
          <p:nvPr/>
        </p:nvSpPr>
        <p:spPr>
          <a:xfrm>
            <a:off x="1071684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7B878E"/>
                </a:solidFill>
                <a:effectLst/>
                <a:uFillTx/>
                <a:latin typeface="Calibri"/>
              </a:rPr>
              <a:t>DECIDE</a:t>
            </a:r>
            <a:endParaRPr lang="en-IN" sz="870" b="0" u="none" strike="noStrike">
              <a:solidFill>
                <a:srgbClr val="000000"/>
              </a:solidFill>
              <a:effectLst/>
              <a:uFillTx/>
              <a:latin typeface="Arial"/>
            </a:endParaRPr>
          </a:p>
        </p:txBody>
      </p:sp>
      <p:sp>
        <p:nvSpPr>
          <p:cNvPr id="346" name="Rectangle 12"/>
          <p:cNvSpPr/>
          <p:nvPr/>
        </p:nvSpPr>
        <p:spPr>
          <a:xfrm>
            <a:off x="420480" y="6492240"/>
            <a:ext cx="11337840" cy="17640"/>
          </a:xfrm>
          <a:prstGeom prst="rect">
            <a:avLst/>
          </a:prstGeom>
          <a:solidFill>
            <a:srgbClr val="D9E0E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347" name="TextBox 13"/>
          <p:cNvSpPr/>
          <p:nvPr/>
        </p:nvSpPr>
        <p:spPr>
          <a:xfrm>
            <a:off x="438840" y="6556320"/>
            <a:ext cx="6674400" cy="182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9" b="0" u="none" strike="noStrike">
                <a:solidFill>
                  <a:srgbClr val="7B878E"/>
                </a:solidFill>
                <a:effectLst/>
                <a:uFillTx/>
                <a:latin typeface="Calibri"/>
              </a:rPr>
              <a:t>SoI Innovation Projects AY2026-27  |  Phase 1 due 30 September 2026</a:t>
            </a:r>
            <a:endParaRPr lang="en-IN" sz="889" b="0" u="none" strike="noStrike">
              <a:solidFill>
                <a:srgbClr val="000000"/>
              </a:solidFill>
              <a:effectLst/>
              <a:uFillTx/>
              <a:latin typeface="Arial"/>
            </a:endParaRPr>
          </a:p>
        </p:txBody>
      </p:sp>
      <p:sp>
        <p:nvSpPr>
          <p:cNvPr id="348" name="TextBox 14"/>
          <p:cNvSpPr/>
          <p:nvPr/>
        </p:nvSpPr>
        <p:spPr>
          <a:xfrm>
            <a:off x="11064240" y="6556320"/>
            <a:ext cx="657720" cy="1821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850" b="1" u="none" strike="noStrike">
                <a:solidFill>
                  <a:srgbClr val="7B878E"/>
                </a:solidFill>
                <a:effectLst/>
                <a:uFillTx/>
                <a:latin typeface="Calibri"/>
              </a:rPr>
              <a:t>7/10</a:t>
            </a:r>
            <a:endParaRPr lang="en-IN" sz="850" b="0" u="none" strike="noStrike">
              <a:solidFill>
                <a:srgbClr val="000000"/>
              </a:solidFill>
              <a:effectLst/>
              <a:uFillTx/>
              <a:latin typeface="Arial"/>
            </a:endParaRPr>
          </a:p>
        </p:txBody>
      </p:sp>
      <p:sp>
        <p:nvSpPr>
          <p:cNvPr id="349" name="Rounded Rectangle 15"/>
          <p:cNvSpPr/>
          <p:nvPr/>
        </p:nvSpPr>
        <p:spPr>
          <a:xfrm>
            <a:off x="530280" y="1161360"/>
            <a:ext cx="3126600" cy="1233720"/>
          </a:xfrm>
          <a:prstGeom prst="roundRect">
            <a:avLst>
              <a:gd name="adj" fmla="val 16667"/>
            </a:avLst>
          </a:prstGeom>
          <a:solidFill>
            <a:srgbClr val="F5F7F8"/>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0" name="Rectangle 16"/>
          <p:cNvSpPr/>
          <p:nvPr/>
        </p:nvSpPr>
        <p:spPr>
          <a:xfrm>
            <a:off x="530280" y="1161360"/>
            <a:ext cx="72360" cy="1233720"/>
          </a:xfrm>
          <a:prstGeom prst="rect">
            <a:avLst/>
          </a:prstGeom>
          <a:solidFill>
            <a:srgbClr val="607D8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351" name="TextBox 17"/>
          <p:cNvSpPr/>
          <p:nvPr/>
        </p:nvSpPr>
        <p:spPr>
          <a:xfrm>
            <a:off x="713160" y="1289160"/>
            <a:ext cx="281556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320" b="1" u="none" strike="noStrike">
                <a:solidFill>
                  <a:srgbClr val="17324D"/>
                </a:solidFill>
                <a:effectLst/>
                <a:uFillTx/>
                <a:latin typeface="Calibri"/>
              </a:rPr>
              <a:t>INITIAL BELIEF</a:t>
            </a:r>
            <a:endParaRPr lang="en-IN" sz="1320" b="0" u="none" strike="noStrike">
              <a:solidFill>
                <a:srgbClr val="000000"/>
              </a:solidFill>
              <a:effectLst/>
              <a:uFillTx/>
              <a:latin typeface="Arial"/>
            </a:endParaRPr>
          </a:p>
        </p:txBody>
      </p:sp>
      <p:sp>
        <p:nvSpPr>
          <p:cNvPr id="352" name="TextBox 18"/>
          <p:cNvSpPr/>
          <p:nvPr/>
        </p:nvSpPr>
        <p:spPr>
          <a:xfrm>
            <a:off x="713160" y="1673280"/>
            <a:ext cx="2815560" cy="59364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100" b="0" u="none" strike="noStrike">
                <a:solidFill>
                  <a:srgbClr val="4F5B62"/>
                </a:solidFill>
                <a:effectLst/>
                <a:uFillTx/>
                <a:latin typeface="Calibri"/>
              </a:rPr>
              <a:t>Users primarily need better support to identify suspicious digital interactions before taking an unsafe action.</a:t>
            </a:r>
            <a:endParaRPr lang="en-IN" sz="1100" b="0" u="none" strike="noStrike">
              <a:solidFill>
                <a:srgbClr val="000000"/>
              </a:solidFill>
              <a:effectLst/>
              <a:uFillTx/>
              <a:latin typeface="Arial"/>
            </a:endParaRPr>
          </a:p>
        </p:txBody>
      </p:sp>
      <p:cxnSp>
        <p:nvCxnSpPr>
          <p:cNvPr id="353" name="Connector 19"/>
          <p:cNvCxnSpPr/>
          <p:nvPr/>
        </p:nvCxnSpPr>
        <p:spPr>
          <a:xfrm>
            <a:off x="3703320" y="1773720"/>
            <a:ext cx="439560" cy="720"/>
          </a:xfrm>
          <a:prstGeom prst="straightConnector1">
            <a:avLst/>
          </a:prstGeom>
          <a:ln w="0">
            <a:solidFill>
              <a:srgbClr val="F3A712"/>
            </a:solidFill>
          </a:ln>
        </p:spPr>
      </p:cxnSp>
      <p:sp>
        <p:nvSpPr>
          <p:cNvPr id="354" name="Rounded Rectangle 20"/>
          <p:cNvSpPr/>
          <p:nvPr/>
        </p:nvSpPr>
        <p:spPr>
          <a:xfrm>
            <a:off x="4187880" y="1161360"/>
            <a:ext cx="3126600" cy="1233720"/>
          </a:xfrm>
          <a:prstGeom prst="roundRect">
            <a:avLst>
              <a:gd name="adj" fmla="val 16667"/>
            </a:avLst>
          </a:prstGeom>
          <a:solidFill>
            <a:srgbClr val="FFF4DB"/>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5" name="Rectangle 21"/>
          <p:cNvSpPr/>
          <p:nvPr/>
        </p:nvSpPr>
        <p:spPr>
          <a:xfrm>
            <a:off x="4187880" y="1161360"/>
            <a:ext cx="72360" cy="1233720"/>
          </a:xfrm>
          <a:prstGeom prst="rect">
            <a:avLst/>
          </a:prstGeom>
          <a:solidFill>
            <a:srgbClr val="F3A71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356" name="TextBox 22"/>
          <p:cNvSpPr/>
          <p:nvPr/>
        </p:nvSpPr>
        <p:spPr>
          <a:xfrm>
            <a:off x="4370760" y="1289160"/>
            <a:ext cx="281556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320" b="1" u="none" strike="noStrike">
                <a:solidFill>
                  <a:srgbClr val="17324D"/>
                </a:solidFill>
                <a:effectLst/>
                <a:uFillTx/>
                <a:latin typeface="Calibri"/>
              </a:rPr>
              <a:t>EVIDENCE</a:t>
            </a:r>
            <a:endParaRPr lang="en-IN" sz="1320" b="0" u="none" strike="noStrike">
              <a:solidFill>
                <a:srgbClr val="000000"/>
              </a:solidFill>
              <a:effectLst/>
              <a:uFillTx/>
              <a:latin typeface="Arial"/>
            </a:endParaRPr>
          </a:p>
        </p:txBody>
      </p:sp>
      <p:sp>
        <p:nvSpPr>
          <p:cNvPr id="357" name="TextBox 23"/>
          <p:cNvSpPr/>
          <p:nvPr/>
        </p:nvSpPr>
        <p:spPr>
          <a:xfrm>
            <a:off x="4370760" y="1673280"/>
            <a:ext cx="2815560" cy="59364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100" b="0" u="none" strike="noStrike">
                <a:solidFill>
                  <a:srgbClr val="4F5B62"/>
                </a:solidFill>
                <a:effectLst/>
                <a:uFillTx/>
                <a:latin typeface="Calibri"/>
              </a:rPr>
              <a:t>Interviews partly confirm it: users also struggle to decide and to report.</a:t>
            </a:r>
            <a:endParaRPr lang="en-IN" sz="1100" b="0" u="none" strike="noStrike">
              <a:solidFill>
                <a:srgbClr val="000000"/>
              </a:solidFill>
              <a:effectLst/>
              <a:uFillTx/>
              <a:latin typeface="Arial"/>
            </a:endParaRPr>
          </a:p>
          <a:p>
            <a:pPr defTabSz="457200">
              <a:lnSpc>
                <a:spcPct val="95000"/>
              </a:lnSpc>
            </a:pPr>
            <a:r>
              <a:rPr lang="en-US" sz="1100" b="0" u="none" strike="noStrike">
                <a:solidFill>
                  <a:srgbClr val="4F5B62"/>
                </a:solidFill>
                <a:effectLst/>
                <a:uFillTx/>
                <a:latin typeface="Calibri"/>
              </a:rPr>
              <a:t>Evidence: [E01, E04, E06]</a:t>
            </a:r>
            <a:endParaRPr lang="en-IN" sz="1100" b="0" u="none" strike="noStrike">
              <a:solidFill>
                <a:srgbClr val="000000"/>
              </a:solidFill>
              <a:effectLst/>
              <a:uFillTx/>
              <a:latin typeface="Arial"/>
            </a:endParaRPr>
          </a:p>
        </p:txBody>
      </p:sp>
      <p:cxnSp>
        <p:nvCxnSpPr>
          <p:cNvPr id="358" name="Connector 24"/>
          <p:cNvCxnSpPr/>
          <p:nvPr/>
        </p:nvCxnSpPr>
        <p:spPr>
          <a:xfrm>
            <a:off x="7360920" y="1773720"/>
            <a:ext cx="439560" cy="720"/>
          </a:xfrm>
          <a:prstGeom prst="straightConnector1">
            <a:avLst/>
          </a:prstGeom>
          <a:ln w="0">
            <a:solidFill>
              <a:srgbClr val="008C95"/>
            </a:solidFill>
          </a:ln>
        </p:spPr>
      </p:cxnSp>
      <p:sp>
        <p:nvSpPr>
          <p:cNvPr id="359" name="Rounded Rectangle 25"/>
          <p:cNvSpPr/>
          <p:nvPr/>
        </p:nvSpPr>
        <p:spPr>
          <a:xfrm>
            <a:off x="7845480" y="1161360"/>
            <a:ext cx="3839760" cy="1233720"/>
          </a:xfrm>
          <a:prstGeom prst="roundRect">
            <a:avLst>
              <a:gd name="adj" fmla="val 16667"/>
            </a:avLst>
          </a:prstGeom>
          <a:solidFill>
            <a:srgbClr val="E8F5F5"/>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0" name="Rectangle 26"/>
          <p:cNvSpPr/>
          <p:nvPr/>
        </p:nvSpPr>
        <p:spPr>
          <a:xfrm>
            <a:off x="7845480" y="1161360"/>
            <a:ext cx="72360" cy="1233720"/>
          </a:xfrm>
          <a:prstGeom prst="rect">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361" name="TextBox 27"/>
          <p:cNvSpPr/>
          <p:nvPr/>
        </p:nvSpPr>
        <p:spPr>
          <a:xfrm>
            <a:off x="8028360" y="1289160"/>
            <a:ext cx="352872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320" b="1" u="none" strike="noStrike">
                <a:solidFill>
                  <a:srgbClr val="17324D"/>
                </a:solidFill>
                <a:effectLst/>
                <a:uFillTx/>
                <a:latin typeface="Calibri"/>
              </a:rPr>
              <a:t>REVISED FOCUS</a:t>
            </a:r>
            <a:endParaRPr lang="en-IN" sz="1320" b="0" u="none" strike="noStrike">
              <a:solidFill>
                <a:srgbClr val="000000"/>
              </a:solidFill>
              <a:effectLst/>
              <a:uFillTx/>
              <a:latin typeface="Arial"/>
            </a:endParaRPr>
          </a:p>
        </p:txBody>
      </p:sp>
      <p:sp>
        <p:nvSpPr>
          <p:cNvPr id="362" name="TextBox 28"/>
          <p:cNvSpPr/>
          <p:nvPr/>
        </p:nvSpPr>
        <p:spPr>
          <a:xfrm>
            <a:off x="8028360" y="1673280"/>
            <a:ext cx="3528720" cy="59364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100" b="0" u="none" strike="noStrike">
                <a:solidFill>
                  <a:srgbClr val="4F5B62"/>
                </a:solidFill>
                <a:effectLst/>
                <a:uFillTx/>
                <a:latin typeface="Calibri"/>
              </a:rPr>
              <a:t>Final focus depends on evidence: threat recognition, decision-making, incident reporting, response or recovery.</a:t>
            </a:r>
            <a:endParaRPr lang="en-IN" sz="1100" b="0" u="none" strike="noStrike">
              <a:solidFill>
                <a:srgbClr val="000000"/>
              </a:solidFill>
              <a:effectLst/>
              <a:uFillTx/>
              <a:latin typeface="Arial"/>
            </a:endParaRPr>
          </a:p>
        </p:txBody>
      </p:sp>
      <p:sp>
        <p:nvSpPr>
          <p:cNvPr id="363" name="Rounded Rectangle 29"/>
          <p:cNvSpPr/>
          <p:nvPr/>
        </p:nvSpPr>
        <p:spPr>
          <a:xfrm>
            <a:off x="530280" y="2724840"/>
            <a:ext cx="2852280" cy="1032480"/>
          </a:xfrm>
          <a:prstGeom prst="roundRect">
            <a:avLst>
              <a:gd name="adj" fmla="val 16667"/>
            </a:avLst>
          </a:prstGeom>
          <a:solidFill>
            <a:srgbClr val="EAF4EA"/>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4" name="Rectangle 30"/>
          <p:cNvSpPr/>
          <p:nvPr/>
        </p:nvSpPr>
        <p:spPr>
          <a:xfrm>
            <a:off x="530280" y="2724840"/>
            <a:ext cx="72360" cy="1032480"/>
          </a:xfrm>
          <a:prstGeom prst="rect">
            <a:avLst/>
          </a:prstGeom>
          <a:solidFill>
            <a:srgbClr val="2E7D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365" name="TextBox 31"/>
          <p:cNvSpPr/>
          <p:nvPr/>
        </p:nvSpPr>
        <p:spPr>
          <a:xfrm>
            <a:off x="713160" y="2853000"/>
            <a:ext cx="254124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220" b="1" u="none" strike="noStrike">
                <a:solidFill>
                  <a:srgbClr val="17324D"/>
                </a:solidFill>
                <a:effectLst/>
                <a:uFillTx/>
                <a:latin typeface="Calibri"/>
              </a:rPr>
              <a:t>IN SCOPE</a:t>
            </a:r>
            <a:endParaRPr lang="en-IN" sz="1220" b="0" u="none" strike="noStrike">
              <a:solidFill>
                <a:srgbClr val="000000"/>
              </a:solidFill>
              <a:effectLst/>
              <a:uFillTx/>
              <a:latin typeface="Arial"/>
            </a:endParaRPr>
          </a:p>
        </p:txBody>
      </p:sp>
      <p:sp>
        <p:nvSpPr>
          <p:cNvPr id="366" name="TextBox 32"/>
          <p:cNvSpPr/>
          <p:nvPr/>
        </p:nvSpPr>
        <p:spPr>
          <a:xfrm>
            <a:off x="713160" y="3237120"/>
            <a:ext cx="2541240" cy="39240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050" b="0" u="none" strike="noStrike">
                <a:solidFill>
                  <a:srgbClr val="4F5B62"/>
                </a:solidFill>
                <a:effectLst/>
                <a:uFillTx/>
                <a:latin typeface="Calibri"/>
              </a:rPr>
              <a:t>Personal digital users; data-breach awareness, phishing, social engineering, suspicious links, QR codes and calls.</a:t>
            </a:r>
            <a:endParaRPr lang="en-IN" sz="1050" b="0" u="none" strike="noStrike">
              <a:solidFill>
                <a:srgbClr val="000000"/>
              </a:solidFill>
              <a:effectLst/>
              <a:uFillTx/>
              <a:latin typeface="Arial"/>
            </a:endParaRPr>
          </a:p>
        </p:txBody>
      </p:sp>
      <p:sp>
        <p:nvSpPr>
          <p:cNvPr id="367" name="Rounded Rectangle 33"/>
          <p:cNvSpPr/>
          <p:nvPr/>
        </p:nvSpPr>
        <p:spPr>
          <a:xfrm>
            <a:off x="3602880" y="2724840"/>
            <a:ext cx="2852280" cy="1032480"/>
          </a:xfrm>
          <a:prstGeom prst="roundRect">
            <a:avLst>
              <a:gd name="adj" fmla="val 16667"/>
            </a:avLst>
          </a:prstGeom>
          <a:solidFill>
            <a:srgbClr val="FBEAEC"/>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8" name="Rectangle 34"/>
          <p:cNvSpPr/>
          <p:nvPr/>
        </p:nvSpPr>
        <p:spPr>
          <a:xfrm>
            <a:off x="3602880" y="2724840"/>
            <a:ext cx="72360" cy="1032480"/>
          </a:xfrm>
          <a:prstGeom prst="rect">
            <a:avLst/>
          </a:prstGeom>
          <a:solidFill>
            <a:srgbClr val="B23A4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369" name="TextBox 35"/>
          <p:cNvSpPr/>
          <p:nvPr/>
        </p:nvSpPr>
        <p:spPr>
          <a:xfrm>
            <a:off x="3785760" y="2853000"/>
            <a:ext cx="254124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220" b="1" u="none" strike="noStrike">
                <a:solidFill>
                  <a:srgbClr val="17324D"/>
                </a:solidFill>
                <a:effectLst/>
                <a:uFillTx/>
                <a:latin typeface="Calibri"/>
              </a:rPr>
              <a:t>OUT OF SCOPE FOR NOW</a:t>
            </a:r>
            <a:endParaRPr lang="en-IN" sz="1220" b="0" u="none" strike="noStrike">
              <a:solidFill>
                <a:srgbClr val="000000"/>
              </a:solidFill>
              <a:effectLst/>
              <a:uFillTx/>
              <a:latin typeface="Arial"/>
            </a:endParaRPr>
          </a:p>
        </p:txBody>
      </p:sp>
      <p:sp>
        <p:nvSpPr>
          <p:cNvPr id="370" name="TextBox 36"/>
          <p:cNvSpPr/>
          <p:nvPr/>
        </p:nvSpPr>
        <p:spPr>
          <a:xfrm>
            <a:off x="3785760" y="3237120"/>
            <a:ext cx="2541240" cy="39240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000" b="0" u="none" strike="noStrike">
                <a:solidFill>
                  <a:srgbClr val="4F5B62"/>
                </a:solidFill>
                <a:effectLst/>
                <a:uFillTx/>
                <a:latin typeface="Calibri"/>
              </a:rPr>
              <a:t>Fixed AI model, specific application, browser extension, detection engine, automated response, specific device/platform.</a:t>
            </a:r>
            <a:endParaRPr lang="en-IN" sz="1000" b="0" u="none" strike="noStrike">
              <a:solidFill>
                <a:srgbClr val="000000"/>
              </a:solidFill>
              <a:effectLst/>
              <a:uFillTx/>
              <a:latin typeface="Arial"/>
            </a:endParaRPr>
          </a:p>
        </p:txBody>
      </p:sp>
      <p:sp>
        <p:nvSpPr>
          <p:cNvPr id="371" name="Rounded Rectangle 37"/>
          <p:cNvSpPr/>
          <p:nvPr/>
        </p:nvSpPr>
        <p:spPr>
          <a:xfrm>
            <a:off x="6675120" y="2724840"/>
            <a:ext cx="5010120" cy="1032480"/>
          </a:xfrm>
          <a:prstGeom prst="roundRect">
            <a:avLst>
              <a:gd name="adj" fmla="val 16667"/>
            </a:avLst>
          </a:prstGeom>
          <a:solidFill>
            <a:srgbClr val="F0ECFF"/>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72" name="Rectangle 38"/>
          <p:cNvSpPr/>
          <p:nvPr/>
        </p:nvSpPr>
        <p:spPr>
          <a:xfrm>
            <a:off x="6675120" y="2724840"/>
            <a:ext cx="72360" cy="1032480"/>
          </a:xfrm>
          <a:prstGeom prst="rect">
            <a:avLst/>
          </a:prstGeom>
          <a:solidFill>
            <a:srgbClr val="6E56C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373" name="TextBox 39"/>
          <p:cNvSpPr/>
          <p:nvPr/>
        </p:nvSpPr>
        <p:spPr>
          <a:xfrm>
            <a:off x="6858000" y="2853000"/>
            <a:ext cx="469944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220" b="1" u="none" strike="noStrike">
                <a:solidFill>
                  <a:srgbClr val="17324D"/>
                </a:solidFill>
                <a:effectLst/>
                <a:uFillTx/>
                <a:latin typeface="Calibri"/>
              </a:rPr>
              <a:t>KEY EVIDENCE GAP</a:t>
            </a:r>
            <a:endParaRPr lang="en-IN" sz="1220" b="0" u="none" strike="noStrike">
              <a:solidFill>
                <a:srgbClr val="000000"/>
              </a:solidFill>
              <a:effectLst/>
              <a:uFillTx/>
              <a:latin typeface="Arial"/>
            </a:endParaRPr>
          </a:p>
        </p:txBody>
      </p:sp>
      <p:sp>
        <p:nvSpPr>
          <p:cNvPr id="374" name="TextBox 40"/>
          <p:cNvSpPr/>
          <p:nvPr/>
        </p:nvSpPr>
        <p:spPr>
          <a:xfrm>
            <a:off x="6858000" y="3237120"/>
            <a:ext cx="4699440" cy="39240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100" b="0" u="none" strike="noStrike">
                <a:solidFill>
                  <a:srgbClr val="4F5B62"/>
                </a:solidFill>
                <a:effectLst/>
                <a:uFillTx/>
                <a:latin typeface="Calibri"/>
              </a:rPr>
              <a:t>Where users still fail to recognize, decide, report or respond, and whether the gap is an awareness/process problem or a technical-detection problem.</a:t>
            </a:r>
            <a:endParaRPr lang="en-IN" sz="1100" b="0" u="none" strike="noStrike">
              <a:solidFill>
                <a:srgbClr val="000000"/>
              </a:solidFill>
              <a:effectLst/>
              <a:uFillTx/>
              <a:latin typeface="Arial"/>
            </a:endParaRPr>
          </a:p>
        </p:txBody>
      </p:sp>
      <p:graphicFrame>
        <p:nvGraphicFramePr>
          <p:cNvPr id="375" name="Table 41"/>
          <p:cNvGraphicFramePr/>
          <p:nvPr/>
        </p:nvGraphicFramePr>
        <p:xfrm>
          <a:off x="530280" y="4096440"/>
          <a:ext cx="11154600" cy="1589760"/>
        </p:xfrm>
        <a:graphic>
          <a:graphicData uri="http://schemas.openxmlformats.org/drawingml/2006/table">
            <a:tbl>
              <a:tblPr/>
              <a:tblGrid>
                <a:gridCol w="4034880"/>
                <a:gridCol w="2183400"/>
                <a:gridCol w="4936680"/>
              </a:tblGrid>
              <a:tr h="397440">
                <a:tc>
                  <a:txBody>
                    <a:bodyPr lIns="54720" tIns="36360" rIns="54720" bIns="36360" anchor="ctr">
                      <a:noAutofit/>
                    </a:bodyPr>
                    <a:p>
                      <a:pPr defTabSz="457200">
                        <a:lnSpc>
                          <a:spcPct val="90000"/>
                        </a:lnSpc>
                      </a:pPr>
                      <a:r>
                        <a:rPr lang="en-US" sz="1140" b="1" u="none" strike="noStrike">
                          <a:solidFill>
                            <a:srgbClr val="FFFFFF"/>
                          </a:solidFill>
                          <a:effectLst/>
                          <a:uFillTx/>
                          <a:latin typeface="Calibri"/>
                        </a:rPr>
                        <a:t>Assumption / risk</a:t>
                      </a:r>
                      <a:endParaRPr lang="en-IN" sz="1140" b="0" u="none" strike="noStrike">
                        <a:solidFill>
                          <a:srgbClr val="FFFFFF"/>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7324D"/>
                    </a:solidFill>
                  </a:tcPr>
                </a:tc>
                <a:tc>
                  <a:txBody>
                    <a:bodyPr lIns="54720" tIns="36360" rIns="54720" bIns="36360" anchor="ctr">
                      <a:noAutofit/>
                    </a:bodyPr>
                    <a:p>
                      <a:pPr defTabSz="457200">
                        <a:lnSpc>
                          <a:spcPct val="90000"/>
                        </a:lnSpc>
                      </a:pPr>
                      <a:r>
                        <a:rPr lang="en-US" sz="1140" b="1" u="none" strike="noStrike">
                          <a:solidFill>
                            <a:srgbClr val="FFFFFF"/>
                          </a:solidFill>
                          <a:effectLst/>
                          <a:uFillTx/>
                          <a:latin typeface="Calibri"/>
                        </a:rPr>
                        <a:t>Current evidence</a:t>
                      </a:r>
                      <a:endParaRPr lang="en-IN" sz="1140" b="0" u="none" strike="noStrike">
                        <a:solidFill>
                          <a:srgbClr val="FFFFFF"/>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7324D"/>
                    </a:solidFill>
                  </a:tcPr>
                </a:tc>
                <a:tc>
                  <a:txBody>
                    <a:bodyPr lIns="54720" tIns="36360" rIns="54720" bIns="36360" anchor="ctr">
                      <a:noAutofit/>
                    </a:bodyPr>
                    <a:p>
                      <a:pPr defTabSz="457200">
                        <a:lnSpc>
                          <a:spcPct val="90000"/>
                        </a:lnSpc>
                      </a:pPr>
                      <a:r>
                        <a:rPr lang="en-US" sz="1140" b="1" u="none" strike="noStrike">
                          <a:solidFill>
                            <a:srgbClr val="FFFFFF"/>
                          </a:solidFill>
                          <a:effectLst/>
                          <a:uFillTx/>
                          <a:latin typeface="Calibri"/>
                        </a:rPr>
                        <a:t>Next test / control</a:t>
                      </a:r>
                      <a:endParaRPr lang="en-IN" sz="1140" b="0" u="none" strike="noStrike">
                        <a:solidFill>
                          <a:srgbClr val="FFFFFF"/>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7324D"/>
                    </a:solidFill>
                  </a:tcPr>
                </a:tc>
              </a:tr>
              <a:tr h="397440">
                <a:tc>
                  <a:txBody>
                    <a:bodyPr lIns="54720" tIns="36360" rIns="54720" bIns="36360" anchor="ctr">
                      <a:noAutofit/>
                    </a:bodyPr>
                    <a:p>
                      <a:pPr defTabSz="457200">
                        <a:lnSpc>
                          <a:spcPct val="90000"/>
                        </a:lnSpc>
                      </a:pPr>
                      <a:r>
                        <a:rPr lang="en-US" sz="1090" b="0" u="none" strike="noStrike">
                          <a:solidFill>
                            <a:srgbClr val="4F5B62"/>
                          </a:solidFill>
                          <a:effectLst/>
                          <a:uFillTx/>
                          <a:latin typeface="Calibri"/>
                        </a:rPr>
                        <a:t>Customer / access / value</a:t>
                      </a:r>
                      <a:endParaRPr lang="en-IN" sz="109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tIns="36360" rIns="54720" bIns="36360" anchor="ctr">
                      <a:noAutofit/>
                    </a:bodyPr>
                    <a:p>
                      <a:pPr defTabSz="457200">
                        <a:lnSpc>
                          <a:spcPct val="90000"/>
                        </a:lnSpc>
                      </a:pPr>
                      <a:r>
                        <a:rPr lang="en-US" sz="1090" b="0" u="none" strike="noStrike">
                          <a:solidFill>
                            <a:srgbClr val="4F5B62"/>
                          </a:solidFill>
                          <a:effectLst/>
                          <a:uFillTx/>
                          <a:latin typeface="Calibri"/>
                        </a:rPr>
                        <a:t>Medium</a:t>
                      </a:r>
                      <a:endParaRPr lang="en-IN" sz="109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tIns="36360" rIns="54720" bIns="36360" anchor="ctr">
                      <a:noAutofit/>
                    </a:bodyPr>
                    <a:p>
                      <a:pPr defTabSz="457200">
                        <a:lnSpc>
                          <a:spcPct val="90000"/>
                        </a:lnSpc>
                      </a:pPr>
                      <a:r>
                        <a:rPr lang="en-US" sz="1090" b="0" u="none" strike="noStrike">
                          <a:solidFill>
                            <a:srgbClr val="4F5B62"/>
                          </a:solidFill>
                          <a:effectLst/>
                          <a:uFillTx/>
                          <a:latin typeface="Calibri"/>
                        </a:rPr>
                        <a:t>Interview 3 more users - Mari - 05/10</a:t>
                      </a:r>
                      <a:endParaRPr lang="en-IN" sz="109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97440">
                <a:tc>
                  <a:txBody>
                    <a:bodyPr lIns="54720" tIns="36360" rIns="54720" bIns="36360" anchor="ctr">
                      <a:noAutofit/>
                    </a:bodyPr>
                    <a:p>
                      <a:pPr defTabSz="457200">
                        <a:lnSpc>
                          <a:spcPct val="90000"/>
                        </a:lnSpc>
                      </a:pPr>
                      <a:r>
                        <a:rPr lang="en-US" sz="1090" b="0" u="none" strike="noStrike">
                          <a:solidFill>
                            <a:srgbClr val="4F5B62"/>
                          </a:solidFill>
                          <a:effectLst/>
                          <a:uFillTx/>
                          <a:latin typeface="Calibri"/>
                        </a:rPr>
                        <a:t>Technical / data / resource</a:t>
                      </a:r>
                      <a:endParaRPr lang="en-IN" sz="109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7F8"/>
                    </a:solidFill>
                  </a:tcPr>
                </a:tc>
                <a:tc>
                  <a:txBody>
                    <a:bodyPr lIns="54720" tIns="36360" rIns="54720" bIns="36360" anchor="ctr">
                      <a:noAutofit/>
                    </a:bodyPr>
                    <a:p>
                      <a:pPr defTabSz="457200">
                        <a:lnSpc>
                          <a:spcPct val="90000"/>
                        </a:lnSpc>
                      </a:pPr>
                      <a:r>
                        <a:rPr lang="en-US" sz="1090" b="0" u="none" strike="noStrike">
                          <a:solidFill>
                            <a:srgbClr val="4F5B62"/>
                          </a:solidFill>
                          <a:effectLst/>
                          <a:uFillTx/>
                          <a:latin typeface="Calibri"/>
                        </a:rPr>
                        <a:t>Weak</a:t>
                      </a:r>
                      <a:endParaRPr lang="en-IN" sz="109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7F8"/>
                    </a:solidFill>
                  </a:tcPr>
                </a:tc>
                <a:tc>
                  <a:txBody>
                    <a:bodyPr lIns="54720" tIns="36360" rIns="54720" bIns="36360" anchor="ctr">
                      <a:noAutofit/>
                    </a:bodyPr>
                    <a:p>
                      <a:pPr defTabSz="457200">
                        <a:lnSpc>
                          <a:spcPct val="90000"/>
                        </a:lnSpc>
                      </a:pPr>
                      <a:r>
                        <a:rPr lang="en-US" sz="1090" b="0" u="none" strike="noStrike">
                          <a:solidFill>
                            <a:srgbClr val="4F5B62"/>
                          </a:solidFill>
                          <a:effectLst/>
                          <a:uFillTx/>
                          <a:latin typeface="Calibri"/>
                        </a:rPr>
                        <a:t>Check feasible data sources - Giriswar - 08/10</a:t>
                      </a:r>
                      <a:endParaRPr lang="en-IN" sz="109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7F8"/>
                    </a:solidFill>
                  </a:tcPr>
                </a:tc>
              </a:tr>
              <a:tr h="397440">
                <a:tc>
                  <a:txBody>
                    <a:bodyPr lIns="54720" tIns="36360" rIns="54720" bIns="36360" anchor="ctr">
                      <a:noAutofit/>
                    </a:bodyPr>
                    <a:p>
                      <a:pPr defTabSz="457200">
                        <a:lnSpc>
                          <a:spcPct val="90000"/>
                        </a:lnSpc>
                      </a:pPr>
                      <a:r>
                        <a:rPr lang="en-US" sz="1090" b="0" u="none" strike="noStrike">
                          <a:solidFill>
                            <a:srgbClr val="4F5B62"/>
                          </a:solidFill>
                          <a:effectLst/>
                          <a:uFillTx/>
                          <a:latin typeface="Calibri"/>
                        </a:rPr>
                        <a:t>Ethics / safety / privacy / authorization</a:t>
                      </a:r>
                      <a:endParaRPr lang="en-IN" sz="109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tIns="36360" rIns="54720" bIns="36360" anchor="ctr">
                      <a:noAutofit/>
                    </a:bodyPr>
                    <a:p>
                      <a:pPr defTabSz="457200">
                        <a:lnSpc>
                          <a:spcPct val="90000"/>
                        </a:lnSpc>
                      </a:pPr>
                      <a:r>
                        <a:rPr lang="en-US" sz="1090" b="0" u="none" strike="noStrike">
                          <a:solidFill>
                            <a:srgbClr val="4F5B62"/>
                          </a:solidFill>
                          <a:effectLst/>
                          <a:uFillTx/>
                          <a:latin typeface="Calibri"/>
                        </a:rPr>
                        <a:t>Strong</a:t>
                      </a:r>
                      <a:endParaRPr lang="en-IN" sz="109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tIns="36360" rIns="54720" bIns="36360" anchor="ctr">
                      <a:noAutofit/>
                    </a:bodyPr>
                    <a:p>
                      <a:pPr defTabSz="457200">
                        <a:lnSpc>
                          <a:spcPct val="90000"/>
                        </a:lnSpc>
                      </a:pPr>
                      <a:r>
                        <a:rPr lang="en-US" sz="1090" b="0" u="none" strike="noStrike">
                          <a:solidFill>
                            <a:srgbClr val="4F5B62"/>
                          </a:solidFill>
                          <a:effectLst/>
                          <a:uFillTx/>
                          <a:latin typeface="Calibri"/>
                        </a:rPr>
                        <a:t>Consent form, no live testing - Anas - 03/10</a:t>
                      </a:r>
                      <a:endParaRPr lang="en-IN" sz="109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376" name="TextBox 42"/>
          <p:cNvSpPr/>
          <p:nvPr/>
        </p:nvSpPr>
        <p:spPr>
          <a:xfrm>
            <a:off x="530280" y="5870520"/>
            <a:ext cx="11154960" cy="158400"/>
          </a:xfrm>
          <a:prstGeom prst="rect">
            <a:avLst/>
          </a:prstGeom>
          <a:noFill/>
          <a:ln w="0">
            <a:noFill/>
          </a:ln>
        </p:spPr>
        <p:style>
          <a:lnRef idx="0"/>
          <a:fillRef idx="0"/>
          <a:effectRef idx="0"/>
          <a:fontRef idx="minor"/>
        </p:style>
        <p:txBody>
          <a:bodyPr lIns="0" tIns="0" rIns="0" bIns="0" anchor="t">
            <a:spAutoFit/>
          </a:bodyPr>
          <a:p>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B"/>
        </a:solidFill>
      </p:bgPr>
    </p:bg>
    <p:spTree>
      <p:nvGrpSpPr>
        <p:cNvPr id="1" name=""/>
        <p:cNvGrpSpPr/>
        <p:nvPr/>
      </p:nvGrpSpPr>
      <p:grpSpPr>
        <a:xfrm>
          <a:off x="0" y="0"/>
          <a:ext cx="0" cy="0"/>
          <a:chOff x="0" y="0"/>
          <a:chExt cx="0" cy="0"/>
        </a:xfrm>
      </p:grpSpPr>
      <p:sp>
        <p:nvSpPr>
          <p:cNvPr id="377" name="Rectangle 1"/>
          <p:cNvSpPr/>
          <p:nvPr/>
        </p:nvSpPr>
        <p:spPr>
          <a:xfrm>
            <a:off x="9000" y="0"/>
            <a:ext cx="163800" cy="6848280"/>
          </a:xfrm>
          <a:prstGeom prst="rect">
            <a:avLst/>
          </a:prstGeom>
          <a:solidFill>
            <a:srgbClr val="F3A71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82080" tIns="45000" rIns="82080" bIns="45000" anchor="ctr">
            <a:noAutofit/>
          </a:bodyPr>
          <a:p>
            <a:endParaRPr lang="en-US" sz="1800" b="0" u="none" strike="noStrike">
              <a:solidFill>
                <a:schemeClr val="lt1"/>
              </a:solidFill>
              <a:effectLst/>
              <a:uFillTx/>
              <a:latin typeface="Calibri"/>
            </a:endParaRPr>
          </a:p>
        </p:txBody>
      </p:sp>
      <p:sp>
        <p:nvSpPr>
          <p:cNvPr id="378" name="Oval 2"/>
          <p:cNvSpPr/>
          <p:nvPr/>
        </p:nvSpPr>
        <p:spPr>
          <a:xfrm>
            <a:off x="420480" y="265320"/>
            <a:ext cx="474840" cy="474840"/>
          </a:xfrm>
          <a:prstGeom prst="ellipse">
            <a:avLst/>
          </a:prstGeom>
          <a:solidFill>
            <a:srgbClr val="F3A71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79" name="TextBox 3"/>
          <p:cNvSpPr/>
          <p:nvPr/>
        </p:nvSpPr>
        <p:spPr>
          <a:xfrm>
            <a:off x="420480" y="260640"/>
            <a:ext cx="474840" cy="4748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600" b="1" u="none" strike="noStrike">
                <a:solidFill>
                  <a:srgbClr val="FFFFFF"/>
                </a:solidFill>
                <a:effectLst/>
                <a:uFillTx/>
                <a:latin typeface="Calibri"/>
              </a:rPr>
              <a:t>8</a:t>
            </a:r>
            <a:endParaRPr lang="en-IN" sz="1600" b="0" u="none" strike="noStrike">
              <a:solidFill>
                <a:srgbClr val="000000"/>
              </a:solidFill>
              <a:effectLst/>
              <a:uFillTx/>
              <a:latin typeface="Arial"/>
            </a:endParaRPr>
          </a:p>
        </p:txBody>
      </p:sp>
      <p:sp>
        <p:nvSpPr>
          <p:cNvPr id="380" name="TextBox 4"/>
          <p:cNvSpPr/>
          <p:nvPr/>
        </p:nvSpPr>
        <p:spPr>
          <a:xfrm>
            <a:off x="1005840" y="210240"/>
            <a:ext cx="7634520" cy="42912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2300" b="1" u="none" strike="noStrike">
                <a:solidFill>
                  <a:srgbClr val="17324D"/>
                </a:solidFill>
                <a:effectLst/>
                <a:uFillTx/>
                <a:latin typeface="Calibri"/>
              </a:rPr>
              <a:t>Vertical-specific Phase 1 checklist</a:t>
            </a:r>
            <a:endParaRPr lang="en-IN" sz="2300" b="0" u="none" strike="noStrike">
              <a:solidFill>
                <a:srgbClr val="000000"/>
              </a:solidFill>
              <a:effectLst/>
              <a:uFillTx/>
              <a:latin typeface="Arial"/>
            </a:endParaRPr>
          </a:p>
        </p:txBody>
      </p:sp>
      <p:sp>
        <p:nvSpPr>
          <p:cNvPr id="381" name="TextBox 5"/>
          <p:cNvSpPr/>
          <p:nvPr/>
        </p:nvSpPr>
        <p:spPr>
          <a:xfrm>
            <a:off x="1005840" y="667440"/>
            <a:ext cx="763452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070" b="0" u="none" strike="noStrike">
                <a:solidFill>
                  <a:srgbClr val="7B878E"/>
                </a:solidFill>
                <a:effectLst/>
                <a:uFillTx/>
                <a:latin typeface="Calibri"/>
              </a:rPr>
              <a:t>Selected vertical: Cyber Security (CS) — asset, user, threat, impact, controls and authorization boundary.</a:t>
            </a:r>
            <a:endParaRPr lang="en-IN" sz="1070" b="0" u="none" strike="noStrike">
              <a:solidFill>
                <a:srgbClr val="000000"/>
              </a:solidFill>
              <a:effectLst/>
              <a:uFillTx/>
              <a:latin typeface="Arial"/>
            </a:endParaRPr>
          </a:p>
        </p:txBody>
      </p:sp>
      <p:sp>
        <p:nvSpPr>
          <p:cNvPr id="382" name="Rounded Rectangle 6"/>
          <p:cNvSpPr/>
          <p:nvPr/>
        </p:nvSpPr>
        <p:spPr>
          <a:xfrm>
            <a:off x="8796600" y="283320"/>
            <a:ext cx="876960" cy="282600"/>
          </a:xfrm>
          <a:prstGeom prst="roundRect">
            <a:avLst>
              <a:gd name="adj" fmla="val 16667"/>
            </a:avLst>
          </a:prstGeom>
          <a:solidFill>
            <a:srgbClr val="F5F7F8"/>
          </a:solidFill>
          <a:ln w="1016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83" name="TextBox 7"/>
          <p:cNvSpPr/>
          <p:nvPr/>
        </p:nvSpPr>
        <p:spPr>
          <a:xfrm>
            <a:off x="879660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7B878E"/>
                </a:solidFill>
                <a:effectLst/>
                <a:uFillTx/>
                <a:latin typeface="Calibri"/>
              </a:rPr>
              <a:t>DISCOVER</a:t>
            </a:r>
            <a:endParaRPr lang="en-IN" sz="870" b="0" u="none" strike="noStrike">
              <a:solidFill>
                <a:srgbClr val="000000"/>
              </a:solidFill>
              <a:effectLst/>
              <a:uFillTx/>
              <a:latin typeface="Arial"/>
            </a:endParaRPr>
          </a:p>
        </p:txBody>
      </p:sp>
      <p:sp>
        <p:nvSpPr>
          <p:cNvPr id="384" name="Rounded Rectangle 8"/>
          <p:cNvSpPr/>
          <p:nvPr/>
        </p:nvSpPr>
        <p:spPr>
          <a:xfrm>
            <a:off x="9756720" y="283320"/>
            <a:ext cx="876960" cy="282600"/>
          </a:xfrm>
          <a:prstGeom prst="roundRect">
            <a:avLst>
              <a:gd name="adj" fmla="val 16667"/>
            </a:avLst>
          </a:prstGeom>
          <a:solidFill>
            <a:srgbClr val="F3A712"/>
          </a:solidFill>
          <a:ln w="10160">
            <a:solidFill>
              <a:srgbClr val="F3A71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85" name="TextBox 9"/>
          <p:cNvSpPr/>
          <p:nvPr/>
        </p:nvSpPr>
        <p:spPr>
          <a:xfrm>
            <a:off x="975672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FFFFFF"/>
                </a:solidFill>
                <a:effectLst/>
                <a:uFillTx/>
                <a:latin typeface="Calibri"/>
              </a:rPr>
              <a:t>VALIDATE</a:t>
            </a:r>
            <a:endParaRPr lang="en-IN" sz="870" b="0" u="none" strike="noStrike">
              <a:solidFill>
                <a:srgbClr val="000000"/>
              </a:solidFill>
              <a:effectLst/>
              <a:uFillTx/>
              <a:latin typeface="Arial"/>
            </a:endParaRPr>
          </a:p>
        </p:txBody>
      </p:sp>
      <p:sp>
        <p:nvSpPr>
          <p:cNvPr id="386" name="Rounded Rectangle 10"/>
          <p:cNvSpPr/>
          <p:nvPr/>
        </p:nvSpPr>
        <p:spPr>
          <a:xfrm>
            <a:off x="10716840" y="283320"/>
            <a:ext cx="876960" cy="282600"/>
          </a:xfrm>
          <a:prstGeom prst="roundRect">
            <a:avLst>
              <a:gd name="adj" fmla="val 16667"/>
            </a:avLst>
          </a:prstGeom>
          <a:solidFill>
            <a:srgbClr val="F5F7F8"/>
          </a:solidFill>
          <a:ln w="1016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87" name="TextBox 11"/>
          <p:cNvSpPr/>
          <p:nvPr/>
        </p:nvSpPr>
        <p:spPr>
          <a:xfrm>
            <a:off x="1071684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7B878E"/>
                </a:solidFill>
                <a:effectLst/>
                <a:uFillTx/>
                <a:latin typeface="Calibri"/>
              </a:rPr>
              <a:t>DECIDE</a:t>
            </a:r>
            <a:endParaRPr lang="en-IN" sz="870" b="0" u="none" strike="noStrike">
              <a:solidFill>
                <a:srgbClr val="000000"/>
              </a:solidFill>
              <a:effectLst/>
              <a:uFillTx/>
              <a:latin typeface="Arial"/>
            </a:endParaRPr>
          </a:p>
        </p:txBody>
      </p:sp>
      <p:sp>
        <p:nvSpPr>
          <p:cNvPr id="388" name="Rectangle 12"/>
          <p:cNvSpPr/>
          <p:nvPr/>
        </p:nvSpPr>
        <p:spPr>
          <a:xfrm>
            <a:off x="420480" y="6492240"/>
            <a:ext cx="11337840" cy="17640"/>
          </a:xfrm>
          <a:prstGeom prst="rect">
            <a:avLst/>
          </a:prstGeom>
          <a:solidFill>
            <a:srgbClr val="D9E0E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389" name="TextBox 13"/>
          <p:cNvSpPr/>
          <p:nvPr/>
        </p:nvSpPr>
        <p:spPr>
          <a:xfrm>
            <a:off x="438840" y="6556320"/>
            <a:ext cx="6674400" cy="182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9" b="0" u="none" strike="noStrike">
                <a:solidFill>
                  <a:srgbClr val="7B878E"/>
                </a:solidFill>
                <a:effectLst/>
                <a:uFillTx/>
                <a:latin typeface="Calibri"/>
              </a:rPr>
              <a:t>SoI Innovation Projects AY2026-27  |  Phase 1 due 30 September 2026</a:t>
            </a:r>
            <a:endParaRPr lang="en-IN" sz="889" b="0" u="none" strike="noStrike">
              <a:solidFill>
                <a:srgbClr val="000000"/>
              </a:solidFill>
              <a:effectLst/>
              <a:uFillTx/>
              <a:latin typeface="Arial"/>
            </a:endParaRPr>
          </a:p>
        </p:txBody>
      </p:sp>
      <p:sp>
        <p:nvSpPr>
          <p:cNvPr id="390" name="TextBox 14"/>
          <p:cNvSpPr/>
          <p:nvPr/>
        </p:nvSpPr>
        <p:spPr>
          <a:xfrm>
            <a:off x="11064240" y="6556320"/>
            <a:ext cx="657720" cy="1821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850" b="1" u="none" strike="noStrike">
                <a:solidFill>
                  <a:srgbClr val="7B878E"/>
                </a:solidFill>
                <a:effectLst/>
                <a:uFillTx/>
                <a:latin typeface="Calibri"/>
              </a:rPr>
              <a:t>8/10</a:t>
            </a:r>
            <a:endParaRPr lang="en-IN" sz="850" b="0" u="none" strike="noStrike">
              <a:solidFill>
                <a:srgbClr val="000000"/>
              </a:solidFill>
              <a:effectLst/>
              <a:uFillTx/>
              <a:latin typeface="Arial"/>
            </a:endParaRPr>
          </a:p>
        </p:txBody>
      </p:sp>
      <p:sp>
        <p:nvSpPr>
          <p:cNvPr id="391" name="Rounded Rectangle 15"/>
          <p:cNvSpPr/>
          <p:nvPr/>
        </p:nvSpPr>
        <p:spPr>
          <a:xfrm>
            <a:off x="530280" y="1170360"/>
            <a:ext cx="2468160" cy="1755000"/>
          </a:xfrm>
          <a:prstGeom prst="roundRect">
            <a:avLst>
              <a:gd name="adj" fmla="val 16667"/>
            </a:avLst>
          </a:prstGeom>
          <a:solidFill>
            <a:srgbClr val="F0ECFF"/>
          </a:solidFill>
          <a:ln w="1143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2" name="Oval 16"/>
          <p:cNvSpPr/>
          <p:nvPr/>
        </p:nvSpPr>
        <p:spPr>
          <a:xfrm>
            <a:off x="694800" y="1316880"/>
            <a:ext cx="438120" cy="438120"/>
          </a:xfrm>
          <a:prstGeom prst="ellipse">
            <a:avLst/>
          </a:prstGeom>
          <a:solidFill>
            <a:srgbClr val="6E56C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3" name="TextBox 17"/>
          <p:cNvSpPr/>
          <p:nvPr/>
        </p:nvSpPr>
        <p:spPr>
          <a:xfrm>
            <a:off x="694800" y="1312200"/>
            <a:ext cx="438120" cy="43812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250" b="1" u="none" strike="noStrike">
                <a:solidFill>
                  <a:srgbClr val="FFFFFF"/>
                </a:solidFill>
                <a:effectLst/>
                <a:uFillTx/>
                <a:latin typeface="Calibri"/>
              </a:rPr>
              <a:t>1</a:t>
            </a:r>
            <a:endParaRPr lang="en-IN" sz="1250" b="0" u="none" strike="noStrike">
              <a:solidFill>
                <a:srgbClr val="000000"/>
              </a:solidFill>
              <a:effectLst/>
              <a:uFillTx/>
              <a:latin typeface="Arial"/>
            </a:endParaRPr>
          </a:p>
        </p:txBody>
      </p:sp>
      <p:sp>
        <p:nvSpPr>
          <p:cNvPr id="394" name="TextBox 18"/>
          <p:cNvSpPr/>
          <p:nvPr/>
        </p:nvSpPr>
        <p:spPr>
          <a:xfrm>
            <a:off x="1243440" y="1316880"/>
            <a:ext cx="1599480" cy="32832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200" b="1" u="none" strike="noStrike">
                <a:solidFill>
                  <a:srgbClr val="17324D"/>
                </a:solidFill>
                <a:effectLst/>
                <a:uFillTx/>
                <a:latin typeface="Calibri"/>
              </a:rPr>
              <a:t>User &amp; threat</a:t>
            </a:r>
            <a:endParaRPr lang="en-IN" sz="1200" b="0" u="none" strike="noStrike">
              <a:solidFill>
                <a:srgbClr val="000000"/>
              </a:solidFill>
              <a:effectLst/>
              <a:uFillTx/>
              <a:latin typeface="Arial"/>
            </a:endParaRPr>
          </a:p>
        </p:txBody>
      </p:sp>
      <p:sp>
        <p:nvSpPr>
          <p:cNvPr id="395" name="TextBox 19"/>
          <p:cNvSpPr/>
          <p:nvPr/>
        </p:nvSpPr>
        <p:spPr>
          <a:xfrm>
            <a:off x="713160" y="1828800"/>
            <a:ext cx="2120760" cy="968400"/>
          </a:xfrm>
          <a:prstGeom prst="rect">
            <a:avLst/>
          </a:prstGeom>
          <a:noFill/>
          <a:ln w="0">
            <a:noFill/>
          </a:ln>
        </p:spPr>
        <p:style>
          <a:lnRef idx="0"/>
          <a:fillRef idx="0"/>
          <a:effectRef idx="0"/>
          <a:fontRef idx="minor"/>
        </p:style>
        <p:txBody>
          <a:bodyPr lIns="9000" tIns="9000" rIns="9000" bIns="9000" anchor="t">
            <a:spAutoFit/>
          </a:bodyPr>
          <a:p>
            <a:pPr defTabSz="457200">
              <a:lnSpc>
                <a:spcPct val="92000"/>
              </a:lnSpc>
            </a:pPr>
            <a:r>
              <a:rPr lang="en-US" sz="1100" b="0" u="none" strike="noStrike">
                <a:solidFill>
                  <a:srgbClr val="4F5B62"/>
                </a:solidFill>
                <a:effectLst/>
                <a:uFillTx/>
                <a:latin typeface="Calibri"/>
              </a:rPr>
              <a:t>User: Individual digital users</a:t>
            </a:r>
            <a:endParaRPr lang="en-IN" sz="1100" b="0" u="none" strike="noStrike">
              <a:solidFill>
                <a:srgbClr val="000000"/>
              </a:solidFill>
              <a:effectLst/>
              <a:uFillTx/>
              <a:latin typeface="Arial"/>
            </a:endParaRPr>
          </a:p>
          <a:p>
            <a:pPr defTabSz="457200">
              <a:lnSpc>
                <a:spcPct val="92000"/>
              </a:lnSpc>
            </a:pPr>
            <a:r>
              <a:rPr lang="en-US" sz="1100" b="0" u="none" strike="noStrike">
                <a:solidFill>
                  <a:srgbClr val="4F5B62"/>
                </a:solidFill>
                <a:effectLst/>
                <a:uFillTx/>
                <a:latin typeface="Calibri"/>
              </a:rPr>
              <a:t>Threats: Phishing, social engineering, data breaches, malicious links, scam calls</a:t>
            </a:r>
            <a:endParaRPr lang="en-IN" sz="1100" b="0" u="none" strike="noStrike">
              <a:solidFill>
                <a:srgbClr val="000000"/>
              </a:solidFill>
              <a:effectLst/>
              <a:uFillTx/>
              <a:latin typeface="Arial"/>
            </a:endParaRPr>
          </a:p>
        </p:txBody>
      </p:sp>
      <p:sp>
        <p:nvSpPr>
          <p:cNvPr id="396" name="Rounded Rectangle 20"/>
          <p:cNvSpPr/>
          <p:nvPr/>
        </p:nvSpPr>
        <p:spPr>
          <a:xfrm>
            <a:off x="3337560" y="1170360"/>
            <a:ext cx="2468160" cy="1755000"/>
          </a:xfrm>
          <a:prstGeom prst="roundRect">
            <a:avLst>
              <a:gd name="adj" fmla="val 16667"/>
            </a:avLst>
          </a:prstGeom>
          <a:solidFill>
            <a:srgbClr val="FFF7E6"/>
          </a:solidFill>
          <a:ln w="1143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7" name="Oval 21"/>
          <p:cNvSpPr/>
          <p:nvPr/>
        </p:nvSpPr>
        <p:spPr>
          <a:xfrm>
            <a:off x="3502080" y="1316880"/>
            <a:ext cx="438120" cy="438120"/>
          </a:xfrm>
          <a:prstGeom prst="ellipse">
            <a:avLst/>
          </a:prstGeom>
          <a:solidFill>
            <a:srgbClr val="B779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8" name="TextBox 22"/>
          <p:cNvSpPr/>
          <p:nvPr/>
        </p:nvSpPr>
        <p:spPr>
          <a:xfrm>
            <a:off x="3502080" y="1312200"/>
            <a:ext cx="438120" cy="43812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250" b="1" u="none" strike="noStrike">
                <a:solidFill>
                  <a:srgbClr val="FFFFFF"/>
                </a:solidFill>
                <a:effectLst/>
                <a:uFillTx/>
                <a:latin typeface="Calibri"/>
              </a:rPr>
              <a:t>2</a:t>
            </a:r>
            <a:endParaRPr lang="en-IN" sz="1250" b="0" u="none" strike="noStrike">
              <a:solidFill>
                <a:srgbClr val="000000"/>
              </a:solidFill>
              <a:effectLst/>
              <a:uFillTx/>
              <a:latin typeface="Arial"/>
            </a:endParaRPr>
          </a:p>
        </p:txBody>
      </p:sp>
      <p:sp>
        <p:nvSpPr>
          <p:cNvPr id="399" name="TextBox 23"/>
          <p:cNvSpPr/>
          <p:nvPr/>
        </p:nvSpPr>
        <p:spPr>
          <a:xfrm>
            <a:off x="4050720" y="1316880"/>
            <a:ext cx="1599480" cy="32832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200" b="1" u="none" strike="noStrike">
                <a:solidFill>
                  <a:srgbClr val="17324D"/>
                </a:solidFill>
                <a:effectLst/>
                <a:uFillTx/>
                <a:latin typeface="Calibri"/>
              </a:rPr>
              <a:t>Protected assets</a:t>
            </a:r>
            <a:endParaRPr lang="en-IN" sz="1200" b="0" u="none" strike="noStrike">
              <a:solidFill>
                <a:srgbClr val="000000"/>
              </a:solidFill>
              <a:effectLst/>
              <a:uFillTx/>
              <a:latin typeface="Arial"/>
            </a:endParaRPr>
          </a:p>
        </p:txBody>
      </p:sp>
      <p:sp>
        <p:nvSpPr>
          <p:cNvPr id="400" name="TextBox 24"/>
          <p:cNvSpPr/>
          <p:nvPr/>
        </p:nvSpPr>
        <p:spPr>
          <a:xfrm>
            <a:off x="3520440" y="1828800"/>
            <a:ext cx="2120760" cy="968400"/>
          </a:xfrm>
          <a:prstGeom prst="rect">
            <a:avLst/>
          </a:prstGeom>
          <a:noFill/>
          <a:ln w="0">
            <a:noFill/>
          </a:ln>
        </p:spPr>
        <p:style>
          <a:lnRef idx="0"/>
          <a:fillRef idx="0"/>
          <a:effectRef idx="0"/>
          <a:fontRef idx="minor"/>
        </p:style>
        <p:txBody>
          <a:bodyPr lIns="9000" tIns="9000" rIns="9000" bIns="9000" anchor="t">
            <a:spAutoFit/>
          </a:bodyPr>
          <a:p>
            <a:pPr defTabSz="457200">
              <a:lnSpc>
                <a:spcPct val="92000"/>
              </a:lnSpc>
            </a:pPr>
            <a:r>
              <a:rPr lang="en-US" sz="1100" b="0" u="none" strike="noStrike">
                <a:solidFill>
                  <a:srgbClr val="4F5B62"/>
                </a:solidFill>
                <a:effectLst/>
                <a:uFillTx/>
                <a:latin typeface="Calibri"/>
              </a:rPr>
              <a:t>User accounts</a:t>
            </a:r>
            <a:endParaRPr lang="en-IN" sz="1100" b="0" u="none" strike="noStrike">
              <a:solidFill>
                <a:srgbClr val="000000"/>
              </a:solidFill>
              <a:effectLst/>
              <a:uFillTx/>
              <a:latin typeface="Arial"/>
            </a:endParaRPr>
          </a:p>
          <a:p>
            <a:pPr defTabSz="457200">
              <a:lnSpc>
                <a:spcPct val="92000"/>
              </a:lnSpc>
            </a:pPr>
            <a:r>
              <a:rPr lang="en-US" sz="1100" b="0" u="none" strike="noStrike">
                <a:solidFill>
                  <a:srgbClr val="4F5B62"/>
                </a:solidFill>
                <a:effectLst/>
                <a:uFillTx/>
                <a:latin typeface="Calibri"/>
              </a:rPr>
              <a:t>Personal information</a:t>
            </a:r>
            <a:endParaRPr lang="en-IN" sz="1100" b="0" u="none" strike="noStrike">
              <a:solidFill>
                <a:srgbClr val="000000"/>
              </a:solidFill>
              <a:effectLst/>
              <a:uFillTx/>
              <a:latin typeface="Arial"/>
            </a:endParaRPr>
          </a:p>
          <a:p>
            <a:pPr defTabSz="457200">
              <a:lnSpc>
                <a:spcPct val="92000"/>
              </a:lnSpc>
            </a:pPr>
            <a:r>
              <a:rPr lang="en-US" sz="1100" b="0" u="none" strike="noStrike">
                <a:solidFill>
                  <a:srgbClr val="4F5B62"/>
                </a:solidFill>
                <a:effectLst/>
                <a:uFillTx/>
                <a:latin typeface="Calibri"/>
              </a:rPr>
              <a:t>Credentials</a:t>
            </a:r>
            <a:endParaRPr lang="en-IN" sz="1100" b="0" u="none" strike="noStrike">
              <a:solidFill>
                <a:srgbClr val="000000"/>
              </a:solidFill>
              <a:effectLst/>
              <a:uFillTx/>
              <a:latin typeface="Arial"/>
            </a:endParaRPr>
          </a:p>
          <a:p>
            <a:pPr defTabSz="457200">
              <a:lnSpc>
                <a:spcPct val="92000"/>
              </a:lnSpc>
            </a:pPr>
            <a:r>
              <a:rPr lang="en-US" sz="1100" b="0" u="none" strike="noStrike">
                <a:solidFill>
                  <a:srgbClr val="4F5B62"/>
                </a:solidFill>
                <a:effectLst/>
                <a:uFillTx/>
                <a:latin typeface="Calibri"/>
              </a:rPr>
              <a:t>Financial information</a:t>
            </a:r>
            <a:endParaRPr lang="en-IN" sz="1100" b="0" u="none" strike="noStrike">
              <a:solidFill>
                <a:srgbClr val="000000"/>
              </a:solidFill>
              <a:effectLst/>
              <a:uFillTx/>
              <a:latin typeface="Arial"/>
            </a:endParaRPr>
          </a:p>
        </p:txBody>
      </p:sp>
      <p:sp>
        <p:nvSpPr>
          <p:cNvPr id="401" name="Rounded Rectangle 25"/>
          <p:cNvSpPr/>
          <p:nvPr/>
        </p:nvSpPr>
        <p:spPr>
          <a:xfrm>
            <a:off x="6144840" y="1170360"/>
            <a:ext cx="2468160" cy="1755000"/>
          </a:xfrm>
          <a:prstGeom prst="roundRect">
            <a:avLst>
              <a:gd name="adj" fmla="val 16667"/>
            </a:avLst>
          </a:prstGeom>
          <a:solidFill>
            <a:srgbClr val="EAF3FB"/>
          </a:solidFill>
          <a:ln w="1143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2" name="Oval 26"/>
          <p:cNvSpPr/>
          <p:nvPr/>
        </p:nvSpPr>
        <p:spPr>
          <a:xfrm>
            <a:off x="6309360" y="1316880"/>
            <a:ext cx="438120" cy="438120"/>
          </a:xfrm>
          <a:prstGeom prst="ellipse">
            <a:avLst/>
          </a:prstGeom>
          <a:solidFill>
            <a:srgbClr val="3178C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3" name="TextBox 27"/>
          <p:cNvSpPr/>
          <p:nvPr/>
        </p:nvSpPr>
        <p:spPr>
          <a:xfrm>
            <a:off x="6309360" y="1312200"/>
            <a:ext cx="438120" cy="43812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250" b="1" u="none" strike="noStrike">
                <a:solidFill>
                  <a:srgbClr val="FFFFFF"/>
                </a:solidFill>
                <a:effectLst/>
                <a:uFillTx/>
                <a:latin typeface="Calibri"/>
              </a:rPr>
              <a:t>3</a:t>
            </a:r>
            <a:endParaRPr lang="en-IN" sz="1250" b="0" u="none" strike="noStrike">
              <a:solidFill>
                <a:srgbClr val="000000"/>
              </a:solidFill>
              <a:effectLst/>
              <a:uFillTx/>
              <a:latin typeface="Arial"/>
            </a:endParaRPr>
          </a:p>
        </p:txBody>
      </p:sp>
      <p:sp>
        <p:nvSpPr>
          <p:cNvPr id="404" name="TextBox 28"/>
          <p:cNvSpPr/>
          <p:nvPr/>
        </p:nvSpPr>
        <p:spPr>
          <a:xfrm>
            <a:off x="6858000" y="1316880"/>
            <a:ext cx="1599480" cy="32832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200" b="1" u="none" strike="noStrike">
                <a:solidFill>
                  <a:srgbClr val="17324D"/>
                </a:solidFill>
                <a:effectLst/>
                <a:uFillTx/>
                <a:latin typeface="Calibri"/>
              </a:rPr>
              <a:t>Potential impact</a:t>
            </a:r>
            <a:endParaRPr lang="en-IN" sz="1200" b="0" u="none" strike="noStrike">
              <a:solidFill>
                <a:srgbClr val="000000"/>
              </a:solidFill>
              <a:effectLst/>
              <a:uFillTx/>
              <a:latin typeface="Arial"/>
            </a:endParaRPr>
          </a:p>
        </p:txBody>
      </p:sp>
      <p:sp>
        <p:nvSpPr>
          <p:cNvPr id="405" name="TextBox 29"/>
          <p:cNvSpPr/>
          <p:nvPr/>
        </p:nvSpPr>
        <p:spPr>
          <a:xfrm>
            <a:off x="6327720" y="1828800"/>
            <a:ext cx="2120760" cy="968400"/>
          </a:xfrm>
          <a:prstGeom prst="rect">
            <a:avLst/>
          </a:prstGeom>
          <a:noFill/>
          <a:ln w="0">
            <a:noFill/>
          </a:ln>
        </p:spPr>
        <p:style>
          <a:lnRef idx="0"/>
          <a:fillRef idx="0"/>
          <a:effectRef idx="0"/>
          <a:fontRef idx="minor"/>
        </p:style>
        <p:txBody>
          <a:bodyPr lIns="9000" tIns="9000" rIns="9000" bIns="9000" anchor="t">
            <a:spAutoFit/>
          </a:bodyPr>
          <a:p>
            <a:pPr defTabSz="457200">
              <a:lnSpc>
                <a:spcPct val="92000"/>
              </a:lnSpc>
            </a:pPr>
            <a:r>
              <a:rPr lang="en-US" sz="1100" b="0" u="none" strike="noStrike">
                <a:solidFill>
                  <a:srgbClr val="4F5B62"/>
                </a:solidFill>
                <a:effectLst/>
                <a:uFillTx/>
                <a:latin typeface="Calibri"/>
              </a:rPr>
              <a:t>Account compromise</a:t>
            </a:r>
            <a:endParaRPr lang="en-IN" sz="1100" b="0" u="none" strike="noStrike">
              <a:solidFill>
                <a:srgbClr val="000000"/>
              </a:solidFill>
              <a:effectLst/>
              <a:uFillTx/>
              <a:latin typeface="Arial"/>
            </a:endParaRPr>
          </a:p>
          <a:p>
            <a:pPr defTabSz="457200">
              <a:lnSpc>
                <a:spcPct val="92000"/>
              </a:lnSpc>
            </a:pPr>
            <a:r>
              <a:rPr lang="en-US" sz="1100" b="0" u="none" strike="noStrike">
                <a:solidFill>
                  <a:srgbClr val="4F5B62"/>
                </a:solidFill>
                <a:effectLst/>
                <a:uFillTx/>
                <a:latin typeface="Calibri"/>
              </a:rPr>
              <a:t>Financial loss</a:t>
            </a:r>
            <a:endParaRPr lang="en-IN" sz="1100" b="0" u="none" strike="noStrike">
              <a:solidFill>
                <a:srgbClr val="000000"/>
              </a:solidFill>
              <a:effectLst/>
              <a:uFillTx/>
              <a:latin typeface="Arial"/>
            </a:endParaRPr>
          </a:p>
          <a:p>
            <a:pPr defTabSz="457200">
              <a:lnSpc>
                <a:spcPct val="92000"/>
              </a:lnSpc>
            </a:pPr>
            <a:r>
              <a:rPr lang="en-US" sz="1100" b="0" u="none" strike="noStrike">
                <a:solidFill>
                  <a:srgbClr val="4F5B62"/>
                </a:solidFill>
                <a:effectLst/>
                <a:uFillTx/>
                <a:latin typeface="Calibri"/>
              </a:rPr>
              <a:t>Identity misuse</a:t>
            </a:r>
            <a:endParaRPr lang="en-IN" sz="1100" b="0" u="none" strike="noStrike">
              <a:solidFill>
                <a:srgbClr val="000000"/>
              </a:solidFill>
              <a:effectLst/>
              <a:uFillTx/>
              <a:latin typeface="Arial"/>
            </a:endParaRPr>
          </a:p>
          <a:p>
            <a:pPr defTabSz="457200">
              <a:lnSpc>
                <a:spcPct val="92000"/>
              </a:lnSpc>
            </a:pPr>
            <a:r>
              <a:rPr lang="en-US" sz="1100" b="0" u="none" strike="noStrike">
                <a:solidFill>
                  <a:srgbClr val="4F5B62"/>
                </a:solidFill>
                <a:effectLst/>
                <a:uFillTx/>
                <a:latin typeface="Calibri"/>
              </a:rPr>
              <a:t>Information exposure</a:t>
            </a:r>
            <a:endParaRPr lang="en-IN" sz="1100" b="0" u="none" strike="noStrike">
              <a:solidFill>
                <a:srgbClr val="000000"/>
              </a:solidFill>
              <a:effectLst/>
              <a:uFillTx/>
              <a:latin typeface="Arial"/>
            </a:endParaRPr>
          </a:p>
        </p:txBody>
      </p:sp>
      <p:sp>
        <p:nvSpPr>
          <p:cNvPr id="406" name="Rounded Rectangle 30"/>
          <p:cNvSpPr/>
          <p:nvPr/>
        </p:nvSpPr>
        <p:spPr>
          <a:xfrm>
            <a:off x="8952120" y="1170360"/>
            <a:ext cx="2468160" cy="1755000"/>
          </a:xfrm>
          <a:prstGeom prst="roundRect">
            <a:avLst>
              <a:gd name="adj" fmla="val 16667"/>
            </a:avLst>
          </a:prstGeom>
          <a:solidFill>
            <a:srgbClr val="FBEAEC"/>
          </a:solidFill>
          <a:ln w="1143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7" name="Oval 31"/>
          <p:cNvSpPr/>
          <p:nvPr/>
        </p:nvSpPr>
        <p:spPr>
          <a:xfrm>
            <a:off x="9116640" y="1316880"/>
            <a:ext cx="438120" cy="438120"/>
          </a:xfrm>
          <a:prstGeom prst="ellipse">
            <a:avLst/>
          </a:prstGeom>
          <a:solidFill>
            <a:srgbClr val="B23A4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8" name="TextBox 32"/>
          <p:cNvSpPr/>
          <p:nvPr/>
        </p:nvSpPr>
        <p:spPr>
          <a:xfrm>
            <a:off x="9116640" y="1312200"/>
            <a:ext cx="438120" cy="43812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250" b="1" u="none" strike="noStrike">
                <a:solidFill>
                  <a:srgbClr val="FFFFFF"/>
                </a:solidFill>
                <a:effectLst/>
                <a:uFillTx/>
                <a:latin typeface="Calibri"/>
              </a:rPr>
              <a:t>4</a:t>
            </a:r>
            <a:endParaRPr lang="en-IN" sz="1250" b="0" u="none" strike="noStrike">
              <a:solidFill>
                <a:srgbClr val="000000"/>
              </a:solidFill>
              <a:effectLst/>
              <a:uFillTx/>
              <a:latin typeface="Arial"/>
            </a:endParaRPr>
          </a:p>
        </p:txBody>
      </p:sp>
      <p:sp>
        <p:nvSpPr>
          <p:cNvPr id="409" name="TextBox 33"/>
          <p:cNvSpPr/>
          <p:nvPr/>
        </p:nvSpPr>
        <p:spPr>
          <a:xfrm>
            <a:off x="9665280" y="1316880"/>
            <a:ext cx="1599480" cy="32832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200" b="1" u="none" strike="noStrike">
                <a:solidFill>
                  <a:srgbClr val="17324D"/>
                </a:solidFill>
                <a:effectLst/>
                <a:uFillTx/>
                <a:latin typeface="Calibri"/>
              </a:rPr>
              <a:t>Authorization boundary</a:t>
            </a:r>
            <a:endParaRPr lang="en-IN" sz="1200" b="0" u="none" strike="noStrike">
              <a:solidFill>
                <a:srgbClr val="000000"/>
              </a:solidFill>
              <a:effectLst/>
              <a:uFillTx/>
              <a:latin typeface="Arial"/>
            </a:endParaRPr>
          </a:p>
        </p:txBody>
      </p:sp>
      <p:sp>
        <p:nvSpPr>
          <p:cNvPr id="410" name="TextBox 34"/>
          <p:cNvSpPr/>
          <p:nvPr/>
        </p:nvSpPr>
        <p:spPr>
          <a:xfrm>
            <a:off x="9135000" y="1828800"/>
            <a:ext cx="2120760" cy="968400"/>
          </a:xfrm>
          <a:prstGeom prst="rect">
            <a:avLst/>
          </a:prstGeom>
          <a:noFill/>
          <a:ln w="0">
            <a:noFill/>
          </a:ln>
        </p:spPr>
        <p:style>
          <a:lnRef idx="0"/>
          <a:fillRef idx="0"/>
          <a:effectRef idx="0"/>
          <a:fontRef idx="minor"/>
        </p:style>
        <p:txBody>
          <a:bodyPr lIns="9000" tIns="9000" rIns="9000" bIns="9000" anchor="t">
            <a:spAutoFit/>
          </a:bodyPr>
          <a:p>
            <a:pPr defTabSz="457200">
              <a:lnSpc>
                <a:spcPct val="92000"/>
              </a:lnSpc>
            </a:pPr>
            <a:r>
              <a:rPr lang="en-US" sz="1100" b="0" u="none" strike="noStrike">
                <a:solidFill>
                  <a:srgbClr val="4F5B62"/>
                </a:solidFill>
                <a:effectLst/>
                <a:uFillTx/>
                <a:latin typeface="Calibri"/>
              </a:rPr>
              <a:t>Explicit user permission</a:t>
            </a:r>
            <a:endParaRPr lang="en-IN" sz="1100" b="0" u="none" strike="noStrike">
              <a:solidFill>
                <a:srgbClr val="000000"/>
              </a:solidFill>
              <a:effectLst/>
              <a:uFillTx/>
              <a:latin typeface="Arial"/>
            </a:endParaRPr>
          </a:p>
          <a:p>
            <a:pPr defTabSz="457200">
              <a:lnSpc>
                <a:spcPct val="92000"/>
              </a:lnSpc>
            </a:pPr>
            <a:r>
              <a:rPr lang="en-US" sz="1100" b="0" u="none" strike="noStrike">
                <a:solidFill>
                  <a:srgbClr val="4F5B62"/>
                </a:solidFill>
                <a:effectLst/>
                <a:uFillTx/>
                <a:latin typeface="Calibri"/>
              </a:rPr>
              <a:t>Minimum data collection</a:t>
            </a:r>
            <a:endParaRPr lang="en-IN" sz="1100" b="0" u="none" strike="noStrike">
              <a:solidFill>
                <a:srgbClr val="000000"/>
              </a:solidFill>
              <a:effectLst/>
              <a:uFillTx/>
              <a:latin typeface="Arial"/>
            </a:endParaRPr>
          </a:p>
          <a:p>
            <a:pPr defTabSz="457200">
              <a:lnSpc>
                <a:spcPct val="92000"/>
              </a:lnSpc>
            </a:pPr>
            <a:r>
              <a:rPr lang="en-US" sz="1100" b="0" u="none" strike="noStrike">
                <a:solidFill>
                  <a:srgbClr val="4F5B62"/>
                </a:solidFill>
                <a:effectLst/>
                <a:uFillTx/>
                <a:latin typeface="Calibri"/>
              </a:rPr>
              <a:t>No password or OTP collection</a:t>
            </a:r>
            <a:endParaRPr lang="en-IN" sz="1100" b="0" u="none" strike="noStrike">
              <a:solidFill>
                <a:srgbClr val="000000"/>
              </a:solidFill>
              <a:effectLst/>
              <a:uFillTx/>
              <a:latin typeface="Arial"/>
            </a:endParaRPr>
          </a:p>
          <a:p>
            <a:pPr defTabSz="457200">
              <a:lnSpc>
                <a:spcPct val="92000"/>
              </a:lnSpc>
            </a:pPr>
            <a:r>
              <a:rPr lang="en-US" sz="1100" b="0" u="none" strike="noStrike">
                <a:solidFill>
                  <a:srgbClr val="4F5B62"/>
                </a:solidFill>
                <a:effectLst/>
                <a:uFillTx/>
                <a:latin typeface="Calibri"/>
              </a:rPr>
              <a:t>No unauthorized testing</a:t>
            </a:r>
            <a:endParaRPr lang="en-IN" sz="1100" b="0" u="none" strike="noStrike">
              <a:solidFill>
                <a:srgbClr val="000000"/>
              </a:solidFill>
              <a:effectLst/>
              <a:uFillTx/>
              <a:latin typeface="Arial"/>
            </a:endParaRPr>
          </a:p>
        </p:txBody>
      </p:sp>
      <p:sp>
        <p:nvSpPr>
          <p:cNvPr id="411" name="Rounded Rectangle 35"/>
          <p:cNvSpPr/>
          <p:nvPr/>
        </p:nvSpPr>
        <p:spPr>
          <a:xfrm>
            <a:off x="530280" y="3401640"/>
            <a:ext cx="6948720" cy="1755000"/>
          </a:xfrm>
          <a:prstGeom prst="roundRect">
            <a:avLst>
              <a:gd name="adj" fmla="val 16667"/>
            </a:avLst>
          </a:prstGeom>
          <a:solidFill>
            <a:srgbClr val="EAF4EA"/>
          </a:solidFill>
          <a:ln w="1143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2" name="Oval 36"/>
          <p:cNvSpPr/>
          <p:nvPr/>
        </p:nvSpPr>
        <p:spPr>
          <a:xfrm>
            <a:off x="694800" y="3547800"/>
            <a:ext cx="438120" cy="438120"/>
          </a:xfrm>
          <a:prstGeom prst="ellipse">
            <a:avLst/>
          </a:prstGeom>
          <a:solidFill>
            <a:srgbClr val="2E7D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3" name="TextBox 37"/>
          <p:cNvSpPr/>
          <p:nvPr/>
        </p:nvSpPr>
        <p:spPr>
          <a:xfrm>
            <a:off x="694800" y="3543480"/>
            <a:ext cx="438120" cy="43812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250" b="1" u="none" strike="noStrike">
                <a:solidFill>
                  <a:srgbClr val="FFFFFF"/>
                </a:solidFill>
                <a:effectLst/>
                <a:uFillTx/>
                <a:latin typeface="Calibri"/>
              </a:rPr>
              <a:t>5</a:t>
            </a:r>
            <a:endParaRPr lang="en-IN" sz="1250" b="0" u="none" strike="noStrike">
              <a:solidFill>
                <a:srgbClr val="000000"/>
              </a:solidFill>
              <a:effectLst/>
              <a:uFillTx/>
              <a:latin typeface="Arial"/>
            </a:endParaRPr>
          </a:p>
        </p:txBody>
      </p:sp>
      <p:sp>
        <p:nvSpPr>
          <p:cNvPr id="414" name="TextBox 38"/>
          <p:cNvSpPr/>
          <p:nvPr/>
        </p:nvSpPr>
        <p:spPr>
          <a:xfrm>
            <a:off x="1243440" y="3547800"/>
            <a:ext cx="5028480" cy="32832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200" b="1" u="none" strike="noStrike">
                <a:solidFill>
                  <a:srgbClr val="17324D"/>
                </a:solidFill>
                <a:effectLst/>
                <a:uFillTx/>
                <a:latin typeface="Calibri"/>
              </a:rPr>
              <a:t>Current controls to investigate</a:t>
            </a:r>
            <a:endParaRPr lang="en-IN" sz="1200" b="0" u="none" strike="noStrike">
              <a:solidFill>
                <a:srgbClr val="000000"/>
              </a:solidFill>
              <a:effectLst/>
              <a:uFillTx/>
              <a:latin typeface="Arial"/>
            </a:endParaRPr>
          </a:p>
        </p:txBody>
      </p:sp>
      <p:sp>
        <p:nvSpPr>
          <p:cNvPr id="415" name="TextBox 39"/>
          <p:cNvSpPr/>
          <p:nvPr/>
        </p:nvSpPr>
        <p:spPr>
          <a:xfrm>
            <a:off x="713160" y="4060080"/>
            <a:ext cx="6582960" cy="968400"/>
          </a:xfrm>
          <a:prstGeom prst="rect">
            <a:avLst/>
          </a:prstGeom>
          <a:noFill/>
          <a:ln w="0">
            <a:noFill/>
          </a:ln>
        </p:spPr>
        <p:style>
          <a:lnRef idx="0"/>
          <a:fillRef idx="0"/>
          <a:effectRef idx="0"/>
          <a:fontRef idx="minor"/>
        </p:style>
        <p:txBody>
          <a:bodyPr numCol="2" spcCol="182880" lIns="9000" tIns="9000" rIns="9000" bIns="9000" anchor="t">
            <a:spAutoFit/>
          </a:bodyPr>
          <a:p>
            <a:pPr defTabSz="457200">
              <a:lnSpc>
                <a:spcPct val="92000"/>
              </a:lnSpc>
            </a:pPr>
            <a:r>
              <a:rPr lang="en-US" sz="1100" b="0" u="none" strike="noStrike">
                <a:solidFill>
                  <a:srgbClr val="4F5B62"/>
                </a:solidFill>
                <a:effectLst/>
                <a:uFillTx/>
                <a:latin typeface="Calibri"/>
              </a:rPr>
              <a:t>Security awareness</a:t>
            </a:r>
            <a:endParaRPr lang="en-IN" sz="1100" b="0" u="none" strike="noStrike">
              <a:solidFill>
                <a:srgbClr val="000000"/>
              </a:solidFill>
              <a:effectLst/>
              <a:uFillTx/>
              <a:latin typeface="Arial"/>
            </a:endParaRPr>
          </a:p>
          <a:p>
            <a:pPr defTabSz="457200">
              <a:lnSpc>
                <a:spcPct val="92000"/>
              </a:lnSpc>
            </a:pPr>
            <a:r>
              <a:rPr lang="en-US" sz="1100" b="0" u="none" strike="noStrike">
                <a:solidFill>
                  <a:srgbClr val="4F5B62"/>
                </a:solidFill>
                <a:effectLst/>
                <a:uFillTx/>
                <a:latin typeface="Calibri"/>
              </a:rPr>
              <a:t>Spam filters</a:t>
            </a:r>
            <a:endParaRPr lang="en-IN" sz="1100" b="0" u="none" strike="noStrike">
              <a:solidFill>
                <a:srgbClr val="000000"/>
              </a:solidFill>
              <a:effectLst/>
              <a:uFillTx/>
              <a:latin typeface="Arial"/>
            </a:endParaRPr>
          </a:p>
          <a:p>
            <a:pPr defTabSz="457200">
              <a:lnSpc>
                <a:spcPct val="92000"/>
              </a:lnSpc>
            </a:pPr>
            <a:r>
              <a:rPr lang="en-US" sz="1100" b="0" u="none" strike="noStrike">
                <a:solidFill>
                  <a:srgbClr val="4F5B62"/>
                </a:solidFill>
                <a:effectLst/>
                <a:uFillTx/>
                <a:latin typeface="Calibri"/>
              </a:rPr>
              <a:t>Authentication controls</a:t>
            </a:r>
            <a:endParaRPr lang="en-IN" sz="1100" b="0" u="none" strike="noStrike">
              <a:solidFill>
                <a:srgbClr val="000000"/>
              </a:solidFill>
              <a:effectLst/>
              <a:uFillTx/>
              <a:latin typeface="Arial"/>
            </a:endParaRPr>
          </a:p>
          <a:p>
            <a:pPr defTabSz="457200">
              <a:lnSpc>
                <a:spcPct val="92000"/>
              </a:lnSpc>
            </a:pPr>
            <a:r>
              <a:rPr lang="en-US" sz="1100" b="0" u="none" strike="noStrike">
                <a:solidFill>
                  <a:srgbClr val="4F5B62"/>
                </a:solidFill>
                <a:effectLst/>
                <a:uFillTx/>
                <a:latin typeface="Calibri"/>
              </a:rPr>
              <a:t>Reporting mechanisms</a:t>
            </a:r>
            <a:endParaRPr lang="en-IN" sz="1100" b="0" u="none" strike="noStrike">
              <a:solidFill>
                <a:srgbClr val="000000"/>
              </a:solidFill>
              <a:effectLst/>
              <a:uFillTx/>
              <a:latin typeface="Arial"/>
            </a:endParaRPr>
          </a:p>
          <a:p>
            <a:pPr defTabSz="457200">
              <a:lnSpc>
                <a:spcPct val="92000"/>
              </a:lnSpc>
            </a:pPr>
            <a:r>
              <a:rPr lang="en-US" sz="1100" b="0" u="none" strike="noStrike">
                <a:solidFill>
                  <a:srgbClr val="4F5B62"/>
                </a:solidFill>
                <a:effectLst/>
                <a:uFillTx/>
                <a:latin typeface="Calibri"/>
              </a:rPr>
              <a:t>IT support</a:t>
            </a:r>
            <a:endParaRPr lang="en-IN" sz="1100" b="0" u="none" strike="noStrike">
              <a:solidFill>
                <a:srgbClr val="000000"/>
              </a:solidFill>
              <a:effectLst/>
              <a:uFillTx/>
              <a:latin typeface="Arial"/>
            </a:endParaRPr>
          </a:p>
          <a:p>
            <a:pPr defTabSz="457200">
              <a:lnSpc>
                <a:spcPct val="92000"/>
              </a:lnSpc>
            </a:pPr>
            <a:r>
              <a:rPr lang="en-US" sz="1100" b="0" u="none" strike="noStrike">
                <a:solidFill>
                  <a:srgbClr val="4F5B62"/>
                </a:solidFill>
                <a:effectLst/>
                <a:uFillTx/>
                <a:latin typeface="Calibri"/>
              </a:rPr>
              <a:t>Bank alerts</a:t>
            </a:r>
            <a:endParaRPr lang="en-IN" sz="1100" b="0" u="none" strike="noStrike">
              <a:solidFill>
                <a:srgbClr val="000000"/>
              </a:solidFill>
              <a:effectLst/>
              <a:uFillTx/>
              <a:latin typeface="Arial"/>
            </a:endParaRPr>
          </a:p>
        </p:txBody>
      </p:sp>
      <p:sp>
        <p:nvSpPr>
          <p:cNvPr id="416" name="Rounded Rectangle 40"/>
          <p:cNvSpPr/>
          <p:nvPr/>
        </p:nvSpPr>
        <p:spPr>
          <a:xfrm>
            <a:off x="7772400" y="3401640"/>
            <a:ext cx="3647880" cy="1755000"/>
          </a:xfrm>
          <a:prstGeom prst="roundRect">
            <a:avLst>
              <a:gd name="adj" fmla="val 16667"/>
            </a:avLst>
          </a:prstGeom>
          <a:solidFill>
            <a:srgbClr val="E8F5F5"/>
          </a:solidFill>
          <a:ln w="1143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7" name="Oval 41"/>
          <p:cNvSpPr/>
          <p:nvPr/>
        </p:nvSpPr>
        <p:spPr>
          <a:xfrm>
            <a:off x="7936920" y="3547800"/>
            <a:ext cx="438120" cy="438120"/>
          </a:xfrm>
          <a:prstGeom prst="ellipse">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8" name="TextBox 42"/>
          <p:cNvSpPr/>
          <p:nvPr/>
        </p:nvSpPr>
        <p:spPr>
          <a:xfrm>
            <a:off x="7936920" y="3543480"/>
            <a:ext cx="438120" cy="43812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250" b="1" u="none" strike="noStrike">
                <a:solidFill>
                  <a:srgbClr val="FFFFFF"/>
                </a:solidFill>
                <a:effectLst/>
                <a:uFillTx/>
                <a:latin typeface="Calibri"/>
              </a:rPr>
              <a:t>6</a:t>
            </a:r>
            <a:endParaRPr lang="en-IN" sz="1250" b="0" u="none" strike="noStrike">
              <a:solidFill>
                <a:srgbClr val="000000"/>
              </a:solidFill>
              <a:effectLst/>
              <a:uFillTx/>
              <a:latin typeface="Arial"/>
            </a:endParaRPr>
          </a:p>
        </p:txBody>
      </p:sp>
      <p:sp>
        <p:nvSpPr>
          <p:cNvPr id="419" name="TextBox 43"/>
          <p:cNvSpPr/>
          <p:nvPr/>
        </p:nvSpPr>
        <p:spPr>
          <a:xfrm>
            <a:off x="8485560" y="3547800"/>
            <a:ext cx="2742480" cy="32832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200" b="1" u="none" strike="noStrike">
                <a:solidFill>
                  <a:srgbClr val="17324D"/>
                </a:solidFill>
                <a:effectLst/>
                <a:uFillTx/>
                <a:latin typeface="Calibri"/>
              </a:rPr>
              <a:t>Key question</a:t>
            </a:r>
            <a:endParaRPr lang="en-IN" sz="1200" b="0" u="none" strike="noStrike">
              <a:solidFill>
                <a:srgbClr val="000000"/>
              </a:solidFill>
              <a:effectLst/>
              <a:uFillTx/>
              <a:latin typeface="Arial"/>
            </a:endParaRPr>
          </a:p>
        </p:txBody>
      </p:sp>
      <p:sp>
        <p:nvSpPr>
          <p:cNvPr id="420" name="TextBox 44"/>
          <p:cNvSpPr/>
          <p:nvPr/>
        </p:nvSpPr>
        <p:spPr>
          <a:xfrm>
            <a:off x="7955280" y="4060080"/>
            <a:ext cx="3291120" cy="968400"/>
          </a:xfrm>
          <a:prstGeom prst="rect">
            <a:avLst/>
          </a:prstGeom>
          <a:noFill/>
          <a:ln w="0">
            <a:noFill/>
          </a:ln>
        </p:spPr>
        <p:style>
          <a:lnRef idx="0"/>
          <a:fillRef idx="0"/>
          <a:effectRef idx="0"/>
          <a:fontRef idx="minor"/>
        </p:style>
        <p:txBody>
          <a:bodyPr lIns="9000" tIns="9000" rIns="9000" bIns="9000" anchor="t">
            <a:spAutoFit/>
          </a:bodyPr>
          <a:p>
            <a:pPr defTabSz="457200">
              <a:lnSpc>
                <a:spcPct val="92000"/>
              </a:lnSpc>
            </a:pPr>
            <a:r>
              <a:rPr lang="en-US" sz="1100" b="0" u="none" strike="noStrike">
                <a:solidFill>
                  <a:srgbClr val="4F5B62"/>
                </a:solidFill>
                <a:effectLst/>
                <a:uFillTx/>
                <a:latin typeface="Calibri"/>
              </a:rPr>
              <a:t>Where in the real user workflow does uncertainty or failure occur, and what evidence shows that the gap is significant enough to address?</a:t>
            </a:r>
            <a:endParaRPr lang="en-IN" sz="1100" b="0" u="none" strike="noStrike">
              <a:solidFill>
                <a:srgbClr val="000000"/>
              </a:solidFill>
              <a:effectLst/>
              <a:uFillTx/>
              <a:latin typeface="Arial"/>
            </a:endParaRPr>
          </a:p>
        </p:txBody>
      </p:sp>
      <p:sp>
        <p:nvSpPr>
          <p:cNvPr id="421" name="TextBox 51"/>
          <p:cNvSpPr/>
          <p:nvPr/>
        </p:nvSpPr>
        <p:spPr>
          <a:xfrm>
            <a:off x="749880" y="5577840"/>
            <a:ext cx="10716120" cy="170640"/>
          </a:xfrm>
          <a:prstGeom prst="rect">
            <a:avLst/>
          </a:prstGeom>
          <a:noFill/>
          <a:ln w="0">
            <a:noFill/>
          </a:ln>
        </p:spPr>
        <p:style>
          <a:lnRef idx="0"/>
          <a:fillRef idx="0"/>
          <a:effectRef idx="0"/>
          <a:fontRef idx="minor"/>
        </p:style>
        <p:txBody>
          <a:bodyPr lIns="0" tIns="0" rIns="0" bIns="0" anchor="t">
            <a:spAutoFit/>
          </a:bodyPr>
          <a:p>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B"/>
        </a:solidFill>
      </p:bgPr>
    </p:bg>
    <p:spTree>
      <p:nvGrpSpPr>
        <p:cNvPr id="1" name=""/>
        <p:cNvGrpSpPr/>
        <p:nvPr/>
      </p:nvGrpSpPr>
      <p:grpSpPr>
        <a:xfrm>
          <a:off x="0" y="0"/>
          <a:ext cx="0" cy="0"/>
          <a:chOff x="0" y="0"/>
          <a:chExt cx="0" cy="0"/>
        </a:xfrm>
      </p:grpSpPr>
      <p:sp>
        <p:nvSpPr>
          <p:cNvPr id="422" name="Rectangle 1"/>
          <p:cNvSpPr/>
          <p:nvPr/>
        </p:nvSpPr>
        <p:spPr>
          <a:xfrm>
            <a:off x="9000" y="0"/>
            <a:ext cx="163800" cy="6848280"/>
          </a:xfrm>
          <a:prstGeom prst="rect">
            <a:avLst/>
          </a:prstGeom>
          <a:solidFill>
            <a:srgbClr val="F3A71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82080" tIns="45000" rIns="82080" bIns="45000" anchor="ctr">
            <a:noAutofit/>
          </a:bodyPr>
          <a:p>
            <a:endParaRPr lang="en-US" sz="1800" b="0" u="none" strike="noStrike">
              <a:solidFill>
                <a:schemeClr val="lt1"/>
              </a:solidFill>
              <a:effectLst/>
              <a:uFillTx/>
              <a:latin typeface="Calibri"/>
            </a:endParaRPr>
          </a:p>
        </p:txBody>
      </p:sp>
      <p:sp>
        <p:nvSpPr>
          <p:cNvPr id="423" name="Oval 2"/>
          <p:cNvSpPr/>
          <p:nvPr/>
        </p:nvSpPr>
        <p:spPr>
          <a:xfrm>
            <a:off x="420480" y="265320"/>
            <a:ext cx="474840" cy="474840"/>
          </a:xfrm>
          <a:prstGeom prst="ellipse">
            <a:avLst/>
          </a:prstGeom>
          <a:solidFill>
            <a:srgbClr val="F3A71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24" name="TextBox 3"/>
          <p:cNvSpPr/>
          <p:nvPr/>
        </p:nvSpPr>
        <p:spPr>
          <a:xfrm>
            <a:off x="420480" y="260640"/>
            <a:ext cx="474840" cy="4748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600" b="1" u="none" strike="noStrike">
                <a:solidFill>
                  <a:srgbClr val="FFFFFF"/>
                </a:solidFill>
                <a:effectLst/>
                <a:uFillTx/>
                <a:latin typeface="Calibri"/>
              </a:rPr>
              <a:t>9</a:t>
            </a:r>
            <a:endParaRPr lang="en-IN" sz="1600" b="0" u="none" strike="noStrike">
              <a:solidFill>
                <a:srgbClr val="000000"/>
              </a:solidFill>
              <a:effectLst/>
              <a:uFillTx/>
              <a:latin typeface="Arial"/>
            </a:endParaRPr>
          </a:p>
        </p:txBody>
      </p:sp>
      <p:sp>
        <p:nvSpPr>
          <p:cNvPr id="425" name="TextBox 4"/>
          <p:cNvSpPr/>
          <p:nvPr/>
        </p:nvSpPr>
        <p:spPr>
          <a:xfrm>
            <a:off x="1005840" y="210240"/>
            <a:ext cx="7634520" cy="42912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2300" b="1" u="none" strike="noStrike">
                <a:solidFill>
                  <a:srgbClr val="17324D"/>
                </a:solidFill>
                <a:effectLst/>
                <a:uFillTx/>
                <a:latin typeface="Calibri"/>
              </a:rPr>
              <a:t>Our selected vertical: evidence and early success measures</a:t>
            </a:r>
            <a:endParaRPr lang="en-IN" sz="2300" b="0" u="none" strike="noStrike">
              <a:solidFill>
                <a:srgbClr val="000000"/>
              </a:solidFill>
              <a:effectLst/>
              <a:uFillTx/>
              <a:latin typeface="Arial"/>
            </a:endParaRPr>
          </a:p>
        </p:txBody>
      </p:sp>
      <p:sp>
        <p:nvSpPr>
          <p:cNvPr id="426" name="TextBox 5"/>
          <p:cNvSpPr/>
          <p:nvPr/>
        </p:nvSpPr>
        <p:spPr>
          <a:xfrm>
            <a:off x="1005840" y="667440"/>
            <a:ext cx="763452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070" b="0" u="none" strike="noStrike">
                <a:solidFill>
                  <a:srgbClr val="7B878E"/>
                </a:solidFill>
                <a:effectLst/>
                <a:uFillTx/>
                <a:latin typeface="Calibri"/>
              </a:rPr>
              <a:t>Use the prompts from Slide 8 to show that the problem is both customer-relevant and technically responsible within your lab.</a:t>
            </a:r>
            <a:endParaRPr lang="en-IN" sz="1070" b="0" u="none" strike="noStrike">
              <a:solidFill>
                <a:srgbClr val="000000"/>
              </a:solidFill>
              <a:effectLst/>
              <a:uFillTx/>
              <a:latin typeface="Arial"/>
            </a:endParaRPr>
          </a:p>
        </p:txBody>
      </p:sp>
      <p:sp>
        <p:nvSpPr>
          <p:cNvPr id="427" name="Rounded Rectangle 6"/>
          <p:cNvSpPr/>
          <p:nvPr/>
        </p:nvSpPr>
        <p:spPr>
          <a:xfrm>
            <a:off x="8796600" y="283320"/>
            <a:ext cx="876960" cy="282600"/>
          </a:xfrm>
          <a:prstGeom prst="roundRect">
            <a:avLst>
              <a:gd name="adj" fmla="val 16667"/>
            </a:avLst>
          </a:prstGeom>
          <a:solidFill>
            <a:srgbClr val="F5F7F8"/>
          </a:solidFill>
          <a:ln w="1016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28" name="TextBox 7"/>
          <p:cNvSpPr/>
          <p:nvPr/>
        </p:nvSpPr>
        <p:spPr>
          <a:xfrm>
            <a:off x="879660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7B878E"/>
                </a:solidFill>
                <a:effectLst/>
                <a:uFillTx/>
                <a:latin typeface="Calibri"/>
              </a:rPr>
              <a:t>DISCOVER</a:t>
            </a:r>
            <a:endParaRPr lang="en-IN" sz="870" b="0" u="none" strike="noStrike">
              <a:solidFill>
                <a:srgbClr val="000000"/>
              </a:solidFill>
              <a:effectLst/>
              <a:uFillTx/>
              <a:latin typeface="Arial"/>
            </a:endParaRPr>
          </a:p>
        </p:txBody>
      </p:sp>
      <p:sp>
        <p:nvSpPr>
          <p:cNvPr id="429" name="Rounded Rectangle 8"/>
          <p:cNvSpPr/>
          <p:nvPr/>
        </p:nvSpPr>
        <p:spPr>
          <a:xfrm>
            <a:off x="9756720" y="283320"/>
            <a:ext cx="876960" cy="282600"/>
          </a:xfrm>
          <a:prstGeom prst="roundRect">
            <a:avLst>
              <a:gd name="adj" fmla="val 16667"/>
            </a:avLst>
          </a:prstGeom>
          <a:solidFill>
            <a:srgbClr val="F3A712"/>
          </a:solidFill>
          <a:ln w="10160">
            <a:solidFill>
              <a:srgbClr val="F3A71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30" name="TextBox 9"/>
          <p:cNvSpPr/>
          <p:nvPr/>
        </p:nvSpPr>
        <p:spPr>
          <a:xfrm>
            <a:off x="975672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FFFFFF"/>
                </a:solidFill>
                <a:effectLst/>
                <a:uFillTx/>
                <a:latin typeface="Calibri"/>
              </a:rPr>
              <a:t>VALIDATE</a:t>
            </a:r>
            <a:endParaRPr lang="en-IN" sz="870" b="0" u="none" strike="noStrike">
              <a:solidFill>
                <a:srgbClr val="000000"/>
              </a:solidFill>
              <a:effectLst/>
              <a:uFillTx/>
              <a:latin typeface="Arial"/>
            </a:endParaRPr>
          </a:p>
        </p:txBody>
      </p:sp>
      <p:sp>
        <p:nvSpPr>
          <p:cNvPr id="431" name="Rounded Rectangle 10"/>
          <p:cNvSpPr/>
          <p:nvPr/>
        </p:nvSpPr>
        <p:spPr>
          <a:xfrm>
            <a:off x="10716840" y="283320"/>
            <a:ext cx="876960" cy="282600"/>
          </a:xfrm>
          <a:prstGeom prst="roundRect">
            <a:avLst>
              <a:gd name="adj" fmla="val 16667"/>
            </a:avLst>
          </a:prstGeom>
          <a:solidFill>
            <a:srgbClr val="F5F7F8"/>
          </a:solidFill>
          <a:ln w="1016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32" name="TextBox 11"/>
          <p:cNvSpPr/>
          <p:nvPr/>
        </p:nvSpPr>
        <p:spPr>
          <a:xfrm>
            <a:off x="1071684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7B878E"/>
                </a:solidFill>
                <a:effectLst/>
                <a:uFillTx/>
                <a:latin typeface="Calibri"/>
              </a:rPr>
              <a:t>DECIDE</a:t>
            </a:r>
            <a:endParaRPr lang="en-IN" sz="870" b="0" u="none" strike="noStrike">
              <a:solidFill>
                <a:srgbClr val="000000"/>
              </a:solidFill>
              <a:effectLst/>
              <a:uFillTx/>
              <a:latin typeface="Arial"/>
            </a:endParaRPr>
          </a:p>
        </p:txBody>
      </p:sp>
      <p:sp>
        <p:nvSpPr>
          <p:cNvPr id="433" name="Rectangle 12"/>
          <p:cNvSpPr/>
          <p:nvPr/>
        </p:nvSpPr>
        <p:spPr>
          <a:xfrm>
            <a:off x="420480" y="6492240"/>
            <a:ext cx="11337840" cy="17640"/>
          </a:xfrm>
          <a:prstGeom prst="rect">
            <a:avLst/>
          </a:prstGeom>
          <a:solidFill>
            <a:srgbClr val="D9E0E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434" name="TextBox 13"/>
          <p:cNvSpPr/>
          <p:nvPr/>
        </p:nvSpPr>
        <p:spPr>
          <a:xfrm>
            <a:off x="438840" y="6556320"/>
            <a:ext cx="6674400" cy="182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9" b="0" u="none" strike="noStrike">
                <a:solidFill>
                  <a:srgbClr val="7B878E"/>
                </a:solidFill>
                <a:effectLst/>
                <a:uFillTx/>
                <a:latin typeface="Calibri"/>
              </a:rPr>
              <a:t>SoI Innovation Projects AY2026-27  |  Phase 1 due 30 September 2026</a:t>
            </a:r>
            <a:endParaRPr lang="en-IN" sz="889" b="0" u="none" strike="noStrike">
              <a:solidFill>
                <a:srgbClr val="000000"/>
              </a:solidFill>
              <a:effectLst/>
              <a:uFillTx/>
              <a:latin typeface="Arial"/>
            </a:endParaRPr>
          </a:p>
        </p:txBody>
      </p:sp>
      <p:sp>
        <p:nvSpPr>
          <p:cNvPr id="435" name="TextBox 14"/>
          <p:cNvSpPr/>
          <p:nvPr/>
        </p:nvSpPr>
        <p:spPr>
          <a:xfrm>
            <a:off x="11064240" y="6556320"/>
            <a:ext cx="657720" cy="1821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850" b="1" u="none" strike="noStrike">
                <a:solidFill>
                  <a:srgbClr val="7B878E"/>
                </a:solidFill>
                <a:effectLst/>
                <a:uFillTx/>
                <a:latin typeface="Calibri"/>
              </a:rPr>
              <a:t>9/10</a:t>
            </a:r>
            <a:endParaRPr lang="en-IN" sz="850" b="0" u="none" strike="noStrike">
              <a:solidFill>
                <a:srgbClr val="000000"/>
              </a:solidFill>
              <a:effectLst/>
              <a:uFillTx/>
              <a:latin typeface="Arial"/>
            </a:endParaRPr>
          </a:p>
        </p:txBody>
      </p:sp>
      <p:sp>
        <p:nvSpPr>
          <p:cNvPr id="436" name="Rounded Rectangle 15"/>
          <p:cNvSpPr/>
          <p:nvPr/>
        </p:nvSpPr>
        <p:spPr>
          <a:xfrm>
            <a:off x="530280" y="1152000"/>
            <a:ext cx="2331000" cy="4507200"/>
          </a:xfrm>
          <a:prstGeom prst="roundRect">
            <a:avLst>
              <a:gd name="adj" fmla="val 16667"/>
            </a:avLst>
          </a:prstGeom>
          <a:solidFill>
            <a:srgbClr val="17324D"/>
          </a:solidFill>
          <a:ln w="12700">
            <a:solidFill>
              <a:srgbClr val="17324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37" name="Rounded Rectangle 16"/>
          <p:cNvSpPr/>
          <p:nvPr/>
        </p:nvSpPr>
        <p:spPr>
          <a:xfrm>
            <a:off x="822960" y="1463040"/>
            <a:ext cx="1736640" cy="282600"/>
          </a:xfrm>
          <a:prstGeom prst="roundRect">
            <a:avLst>
              <a:gd name="adj" fmla="val 16667"/>
            </a:avLst>
          </a:prstGeom>
          <a:solidFill>
            <a:srgbClr val="224766"/>
          </a:solidFill>
          <a:ln w="12700">
            <a:solidFill>
              <a:srgbClr val="22476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38" name="TextBox 17"/>
          <p:cNvSpPr/>
          <p:nvPr/>
        </p:nvSpPr>
        <p:spPr>
          <a:xfrm>
            <a:off x="859680" y="1472040"/>
            <a:ext cx="1663560" cy="26460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pPr>
            <a:r>
              <a:rPr lang="en-US" sz="1050" b="1" u="none" strike="noStrike">
                <a:solidFill>
                  <a:srgbClr val="FFFFFF"/>
                </a:solidFill>
                <a:effectLst/>
                <a:uFillTx/>
                <a:latin typeface="Calibri"/>
              </a:rPr>
              <a:t>SELECTED VERTICAL</a:t>
            </a:r>
            <a:endParaRPr lang="en-IN" sz="1050" b="0" u="none" strike="noStrike">
              <a:solidFill>
                <a:srgbClr val="000000"/>
              </a:solidFill>
              <a:effectLst/>
              <a:uFillTx/>
              <a:latin typeface="Arial"/>
            </a:endParaRPr>
          </a:p>
        </p:txBody>
      </p:sp>
      <p:sp>
        <p:nvSpPr>
          <p:cNvPr id="439" name="TextBox 18"/>
          <p:cNvSpPr/>
          <p:nvPr/>
        </p:nvSpPr>
        <p:spPr>
          <a:xfrm>
            <a:off x="822960" y="1947600"/>
            <a:ext cx="1736640" cy="146232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2200" b="1" u="none" strike="noStrike">
                <a:solidFill>
                  <a:srgbClr val="008C95"/>
                </a:solidFill>
                <a:effectLst/>
                <a:uFillTx/>
                <a:latin typeface="Calibri"/>
              </a:rPr>
              <a:t>CS</a:t>
            </a:r>
            <a:endParaRPr lang="en-IN" sz="2200" b="0" u="none" strike="noStrike">
              <a:solidFill>
                <a:srgbClr val="000000"/>
              </a:solidFill>
              <a:effectLst/>
              <a:uFillTx/>
              <a:latin typeface="Arial"/>
            </a:endParaRPr>
          </a:p>
          <a:p>
            <a:pPr algn="ctr" defTabSz="457200">
              <a:lnSpc>
                <a:spcPct val="100000"/>
              </a:lnSpc>
            </a:pPr>
            <a:r>
              <a:rPr lang="en-US" sz="2200" b="1" u="none" strike="noStrike">
                <a:solidFill>
                  <a:srgbClr val="008C95"/>
                </a:solidFill>
                <a:effectLst/>
                <a:uFillTx/>
                <a:latin typeface="Calibri"/>
              </a:rPr>
              <a:t>Cyber</a:t>
            </a:r>
            <a:endParaRPr lang="en-IN" sz="2200" b="0" u="none" strike="noStrike">
              <a:solidFill>
                <a:srgbClr val="000000"/>
              </a:solidFill>
              <a:effectLst/>
              <a:uFillTx/>
              <a:latin typeface="Arial"/>
            </a:endParaRPr>
          </a:p>
          <a:p>
            <a:pPr algn="ctr" defTabSz="457200">
              <a:lnSpc>
                <a:spcPct val="100000"/>
              </a:lnSpc>
            </a:pPr>
            <a:r>
              <a:rPr lang="en-US" sz="2200" b="1" u="none" strike="noStrike">
                <a:solidFill>
                  <a:srgbClr val="008C95"/>
                </a:solidFill>
                <a:effectLst/>
                <a:uFillTx/>
                <a:latin typeface="Calibri"/>
              </a:rPr>
              <a:t>Security</a:t>
            </a:r>
            <a:endParaRPr lang="en-IN" sz="2200" b="0" u="none" strike="noStrike">
              <a:solidFill>
                <a:srgbClr val="000000"/>
              </a:solidFill>
              <a:effectLst/>
              <a:uFillTx/>
              <a:latin typeface="Arial"/>
            </a:endParaRPr>
          </a:p>
        </p:txBody>
      </p:sp>
      <p:sp>
        <p:nvSpPr>
          <p:cNvPr id="440" name="TextBox 19"/>
          <p:cNvSpPr/>
          <p:nvPr/>
        </p:nvSpPr>
        <p:spPr>
          <a:xfrm>
            <a:off x="822960" y="3703320"/>
            <a:ext cx="1736640" cy="47484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260" b="1" u="none" strike="noStrike">
                <a:solidFill>
                  <a:srgbClr val="FFFFFF"/>
                </a:solidFill>
                <a:effectLst/>
                <a:uFillTx/>
                <a:latin typeface="Calibri"/>
              </a:rPr>
              <a:t>Why this problem belongs in the chosen vertical</a:t>
            </a:r>
            <a:endParaRPr lang="en-IN" sz="1260" b="0" u="none" strike="noStrike">
              <a:solidFill>
                <a:srgbClr val="000000"/>
              </a:solidFill>
              <a:effectLst/>
              <a:uFillTx/>
              <a:latin typeface="Arial"/>
            </a:endParaRPr>
          </a:p>
        </p:txBody>
      </p:sp>
      <p:sp>
        <p:nvSpPr>
          <p:cNvPr id="441" name="TextBox 20"/>
          <p:cNvSpPr/>
          <p:nvPr/>
        </p:nvSpPr>
        <p:spPr>
          <a:xfrm>
            <a:off x="786240" y="4316040"/>
            <a:ext cx="1809720" cy="78552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000" b="0" u="none" strike="noStrike">
                <a:solidFill>
                  <a:srgbClr val="DDE9F0"/>
                </a:solidFill>
                <a:effectLst/>
                <a:uFillTx/>
                <a:latin typeface="Calibri"/>
              </a:rPr>
              <a:t>The problem concerns protecting users, accounts and personal information from phishing, social engineering, data breaches and other digital threats.</a:t>
            </a:r>
            <a:endParaRPr lang="en-IN" sz="1000" b="0" u="none" strike="noStrike">
              <a:solidFill>
                <a:srgbClr val="000000"/>
              </a:solidFill>
              <a:effectLst/>
              <a:uFillTx/>
              <a:latin typeface="Arial"/>
            </a:endParaRPr>
          </a:p>
        </p:txBody>
      </p:sp>
      <p:sp>
        <p:nvSpPr>
          <p:cNvPr id="442" name="Rounded Rectangle 21"/>
          <p:cNvSpPr/>
          <p:nvPr/>
        </p:nvSpPr>
        <p:spPr>
          <a:xfrm>
            <a:off x="3136320" y="1152000"/>
            <a:ext cx="3949560" cy="1252080"/>
          </a:xfrm>
          <a:prstGeom prst="roundRect">
            <a:avLst>
              <a:gd name="adj" fmla="val 16667"/>
            </a:avLst>
          </a:prstGeom>
          <a:solidFill>
            <a:srgbClr val="E8F5F5"/>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3" name="Rectangle 22"/>
          <p:cNvSpPr/>
          <p:nvPr/>
        </p:nvSpPr>
        <p:spPr>
          <a:xfrm>
            <a:off x="3136320" y="1152000"/>
            <a:ext cx="72360" cy="1252080"/>
          </a:xfrm>
          <a:prstGeom prst="rect">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444" name="TextBox 23"/>
          <p:cNvSpPr/>
          <p:nvPr/>
        </p:nvSpPr>
        <p:spPr>
          <a:xfrm>
            <a:off x="3319200" y="1280160"/>
            <a:ext cx="363852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240" b="1" u="none" strike="noStrike">
                <a:solidFill>
                  <a:srgbClr val="17324D"/>
                </a:solidFill>
                <a:effectLst/>
                <a:uFillTx/>
                <a:latin typeface="Calibri"/>
              </a:rPr>
              <a:t>VERTICAL CUSTOMER / TECHNICAL CONTEXT</a:t>
            </a:r>
            <a:endParaRPr lang="en-IN" sz="1240" b="0" u="none" strike="noStrike">
              <a:solidFill>
                <a:srgbClr val="000000"/>
              </a:solidFill>
              <a:effectLst/>
              <a:uFillTx/>
              <a:latin typeface="Arial"/>
            </a:endParaRPr>
          </a:p>
        </p:txBody>
      </p:sp>
      <p:sp>
        <p:nvSpPr>
          <p:cNvPr id="445" name="TextBox 24"/>
          <p:cNvSpPr/>
          <p:nvPr/>
        </p:nvSpPr>
        <p:spPr>
          <a:xfrm>
            <a:off x="3319200" y="1664280"/>
            <a:ext cx="3638520" cy="61200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100" b="0" u="none" strike="noStrike">
                <a:solidFill>
                  <a:srgbClr val="4F5B62"/>
                </a:solidFill>
                <a:effectLst/>
                <a:uFillTx/>
                <a:latin typeface="Calibri"/>
              </a:rPr>
              <a:t>Receive → Inspect → Decide → Respond / Report → Consequence</a:t>
            </a:r>
            <a:endParaRPr lang="en-IN" sz="1100" b="0" u="none" strike="noStrike">
              <a:solidFill>
                <a:srgbClr val="000000"/>
              </a:solidFill>
              <a:effectLst/>
              <a:uFillTx/>
              <a:latin typeface="Arial"/>
            </a:endParaRPr>
          </a:p>
        </p:txBody>
      </p:sp>
      <p:sp>
        <p:nvSpPr>
          <p:cNvPr id="446" name="Rounded Rectangle 25"/>
          <p:cNvSpPr/>
          <p:nvPr/>
        </p:nvSpPr>
        <p:spPr>
          <a:xfrm>
            <a:off x="7296840" y="1152000"/>
            <a:ext cx="4388400" cy="1252080"/>
          </a:xfrm>
          <a:prstGeom prst="roundRect">
            <a:avLst>
              <a:gd name="adj" fmla="val 16667"/>
            </a:avLst>
          </a:prstGeom>
          <a:solidFill>
            <a:srgbClr val="EAF3FB"/>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7" name="Rectangle 26"/>
          <p:cNvSpPr/>
          <p:nvPr/>
        </p:nvSpPr>
        <p:spPr>
          <a:xfrm>
            <a:off x="7296840" y="1152000"/>
            <a:ext cx="72360" cy="1252080"/>
          </a:xfrm>
          <a:prstGeom prst="rect">
            <a:avLst/>
          </a:prstGeom>
          <a:solidFill>
            <a:srgbClr val="3178C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448" name="TextBox 27"/>
          <p:cNvSpPr/>
          <p:nvPr/>
        </p:nvSpPr>
        <p:spPr>
          <a:xfrm>
            <a:off x="7479720" y="1280160"/>
            <a:ext cx="407736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240" b="1" u="none" strike="noStrike">
                <a:solidFill>
                  <a:srgbClr val="17324D"/>
                </a:solidFill>
                <a:effectLst/>
                <a:uFillTx/>
                <a:latin typeface="Calibri"/>
              </a:rPr>
              <a:t>VERTICAL EVIDENCE ALREADY COLLECTED</a:t>
            </a:r>
            <a:endParaRPr lang="en-IN" sz="1240" b="0" u="none" strike="noStrike">
              <a:solidFill>
                <a:srgbClr val="000000"/>
              </a:solidFill>
              <a:effectLst/>
              <a:uFillTx/>
              <a:latin typeface="Arial"/>
            </a:endParaRPr>
          </a:p>
        </p:txBody>
      </p:sp>
      <p:sp>
        <p:nvSpPr>
          <p:cNvPr id="449" name="TextBox 28"/>
          <p:cNvSpPr/>
          <p:nvPr/>
        </p:nvSpPr>
        <p:spPr>
          <a:xfrm>
            <a:off x="7479720" y="1664280"/>
            <a:ext cx="4077360" cy="61200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100" b="0" u="none" strike="noStrike">
                <a:solidFill>
                  <a:srgbClr val="4F5B62"/>
                </a:solidFill>
                <a:effectLst/>
                <a:uFillTx/>
                <a:latin typeface="Calibri"/>
              </a:rPr>
              <a:t>[E01] User finding: users check only sender name; cannot verify links or QR codes</a:t>
            </a:r>
            <a:endParaRPr lang="en-IN" sz="1100" b="0" u="none" strike="noStrike">
              <a:solidFill>
                <a:srgbClr val="000000"/>
              </a:solidFill>
              <a:effectLst/>
              <a:uFillTx/>
              <a:latin typeface="Arial"/>
            </a:endParaRPr>
          </a:p>
          <a:p>
            <a:pPr defTabSz="457200">
              <a:lnSpc>
                <a:spcPct val="95000"/>
              </a:lnSpc>
            </a:pPr>
            <a:r>
              <a:rPr lang="en-US" sz="1100" b="0" u="none" strike="noStrike">
                <a:solidFill>
                  <a:srgbClr val="4F5B62"/>
                </a:solidFill>
                <a:effectLst/>
                <a:uFillTx/>
                <a:latin typeface="Calibri"/>
              </a:rPr>
              <a:t>[E06] Current-control finding: spam filters and bank alerts exist, but reporting steps are unclear</a:t>
            </a:r>
            <a:endParaRPr lang="en-IN" sz="1100" b="0" u="none" strike="noStrike">
              <a:solidFill>
                <a:srgbClr val="000000"/>
              </a:solidFill>
              <a:effectLst/>
              <a:uFillTx/>
              <a:latin typeface="Arial"/>
            </a:endParaRPr>
          </a:p>
        </p:txBody>
      </p:sp>
      <p:sp>
        <p:nvSpPr>
          <p:cNvPr id="450" name="Rounded Rectangle 29"/>
          <p:cNvSpPr/>
          <p:nvPr/>
        </p:nvSpPr>
        <p:spPr>
          <a:xfrm>
            <a:off x="3136320" y="2688480"/>
            <a:ext cx="3949560" cy="1252080"/>
          </a:xfrm>
          <a:prstGeom prst="roundRect">
            <a:avLst>
              <a:gd name="adj" fmla="val 16667"/>
            </a:avLst>
          </a:prstGeom>
          <a:solidFill>
            <a:srgbClr val="FFF4DB"/>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1" name="Rectangle 30"/>
          <p:cNvSpPr/>
          <p:nvPr/>
        </p:nvSpPr>
        <p:spPr>
          <a:xfrm>
            <a:off x="3136320" y="2688480"/>
            <a:ext cx="72360" cy="1252080"/>
          </a:xfrm>
          <a:prstGeom prst="rect">
            <a:avLst/>
          </a:prstGeom>
          <a:solidFill>
            <a:srgbClr val="F3A71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452" name="TextBox 31"/>
          <p:cNvSpPr/>
          <p:nvPr/>
        </p:nvSpPr>
        <p:spPr>
          <a:xfrm>
            <a:off x="3319200" y="2816280"/>
            <a:ext cx="363852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240" b="1" u="none" strike="noStrike">
                <a:solidFill>
                  <a:srgbClr val="17324D"/>
                </a:solidFill>
                <a:effectLst/>
                <a:uFillTx/>
                <a:latin typeface="Calibri"/>
              </a:rPr>
              <a:t>KEY CONSTRAINT / RESPONSIBILITY</a:t>
            </a:r>
            <a:endParaRPr lang="en-IN" sz="1240" b="0" u="none" strike="noStrike">
              <a:solidFill>
                <a:srgbClr val="000000"/>
              </a:solidFill>
              <a:effectLst/>
              <a:uFillTx/>
              <a:latin typeface="Arial"/>
            </a:endParaRPr>
          </a:p>
        </p:txBody>
      </p:sp>
      <p:sp>
        <p:nvSpPr>
          <p:cNvPr id="453" name="TextBox 32"/>
          <p:cNvSpPr/>
          <p:nvPr/>
        </p:nvSpPr>
        <p:spPr>
          <a:xfrm>
            <a:off x="3319200" y="3200400"/>
            <a:ext cx="3638520" cy="61200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100" b="0" u="none" strike="noStrike">
                <a:solidFill>
                  <a:srgbClr val="4F5B62"/>
                </a:solidFill>
                <a:effectLst/>
                <a:uFillTx/>
                <a:latin typeface="Calibri"/>
              </a:rPr>
              <a:t>Privacy, authorization, safe testing and sensitive-data minimization.</a:t>
            </a:r>
            <a:endParaRPr lang="en-IN" sz="1100" b="0" u="none" strike="noStrike">
              <a:solidFill>
                <a:srgbClr val="000000"/>
              </a:solidFill>
              <a:effectLst/>
              <a:uFillTx/>
              <a:latin typeface="Arial"/>
            </a:endParaRPr>
          </a:p>
        </p:txBody>
      </p:sp>
      <p:sp>
        <p:nvSpPr>
          <p:cNvPr id="454" name="Rounded Rectangle 33"/>
          <p:cNvSpPr/>
          <p:nvPr/>
        </p:nvSpPr>
        <p:spPr>
          <a:xfrm>
            <a:off x="7296840" y="2688480"/>
            <a:ext cx="4388400" cy="1252080"/>
          </a:xfrm>
          <a:prstGeom prst="roundRect">
            <a:avLst>
              <a:gd name="adj" fmla="val 16667"/>
            </a:avLst>
          </a:prstGeom>
          <a:solidFill>
            <a:srgbClr val="EAF4EA"/>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5" name="Rectangle 34"/>
          <p:cNvSpPr/>
          <p:nvPr/>
        </p:nvSpPr>
        <p:spPr>
          <a:xfrm>
            <a:off x="7296840" y="2688480"/>
            <a:ext cx="72360" cy="1252080"/>
          </a:xfrm>
          <a:prstGeom prst="rect">
            <a:avLst/>
          </a:prstGeom>
          <a:solidFill>
            <a:srgbClr val="2E7D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456" name="TextBox 35"/>
          <p:cNvSpPr/>
          <p:nvPr/>
        </p:nvSpPr>
        <p:spPr>
          <a:xfrm>
            <a:off x="7479720" y="2816280"/>
            <a:ext cx="407736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240" b="1" u="none" strike="noStrike">
                <a:solidFill>
                  <a:srgbClr val="17324D"/>
                </a:solidFill>
                <a:effectLst/>
                <a:uFillTx/>
                <a:latin typeface="Calibri"/>
              </a:rPr>
              <a:t>EARLY SUCCESS MEASURE</a:t>
            </a:r>
            <a:endParaRPr lang="en-IN" sz="1240" b="0" u="none" strike="noStrike">
              <a:solidFill>
                <a:srgbClr val="000000"/>
              </a:solidFill>
              <a:effectLst/>
              <a:uFillTx/>
              <a:latin typeface="Arial"/>
            </a:endParaRPr>
          </a:p>
        </p:txBody>
      </p:sp>
      <p:sp>
        <p:nvSpPr>
          <p:cNvPr id="457" name="TextBox 36"/>
          <p:cNvSpPr/>
          <p:nvPr/>
        </p:nvSpPr>
        <p:spPr>
          <a:xfrm>
            <a:off x="7479720" y="3200400"/>
            <a:ext cx="4077360" cy="61200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050" b="0" u="none" strike="noStrike">
                <a:solidFill>
                  <a:srgbClr val="4F5B62"/>
                </a:solidFill>
                <a:effectLst/>
                <a:uFillTx/>
                <a:latin typeface="Calibri"/>
              </a:rPr>
              <a:t>Baseline: 60% unsure how to respond</a:t>
            </a:r>
            <a:endParaRPr lang="en-IN" sz="1050" b="0" u="none" strike="noStrike">
              <a:solidFill>
                <a:srgbClr val="000000"/>
              </a:solidFill>
              <a:effectLst/>
              <a:uFillTx/>
              <a:latin typeface="Arial"/>
            </a:endParaRPr>
          </a:p>
          <a:p>
            <a:pPr defTabSz="457200">
              <a:lnSpc>
                <a:spcPct val="95000"/>
              </a:lnSpc>
            </a:pPr>
            <a:r>
              <a:rPr lang="en-US" sz="1050" b="0" u="none" strike="noStrike">
                <a:solidFill>
                  <a:srgbClr val="4F5B62"/>
                </a:solidFill>
                <a:effectLst/>
                <a:uFillTx/>
                <a:latin typeface="Calibri"/>
              </a:rPr>
              <a:t>Later target: under 30% unsure</a:t>
            </a:r>
            <a:endParaRPr lang="en-IN" sz="1050" b="0" u="none" strike="noStrike">
              <a:solidFill>
                <a:srgbClr val="000000"/>
              </a:solidFill>
              <a:effectLst/>
              <a:uFillTx/>
              <a:latin typeface="Arial"/>
            </a:endParaRPr>
          </a:p>
          <a:p>
            <a:pPr defTabSz="457200">
              <a:lnSpc>
                <a:spcPct val="95000"/>
              </a:lnSpc>
            </a:pPr>
            <a:r>
              <a:rPr lang="en-US" sz="1050" b="0" u="none" strike="noStrike">
                <a:solidFill>
                  <a:srgbClr val="4F5B62"/>
                </a:solidFill>
                <a:effectLst/>
                <a:uFillTx/>
                <a:latin typeface="Calibri"/>
              </a:rPr>
              <a:t>Method: appropriate reporting / decision time</a:t>
            </a:r>
            <a:endParaRPr lang="en-IN" sz="1050" b="0" u="none" strike="noStrike">
              <a:solidFill>
                <a:srgbClr val="000000"/>
              </a:solidFill>
              <a:effectLst/>
              <a:uFillTx/>
              <a:latin typeface="Arial"/>
            </a:endParaRPr>
          </a:p>
        </p:txBody>
      </p:sp>
      <p:sp>
        <p:nvSpPr>
          <p:cNvPr id="458" name="Rounded Rectangle 37"/>
          <p:cNvSpPr/>
          <p:nvPr/>
        </p:nvSpPr>
        <p:spPr>
          <a:xfrm>
            <a:off x="3136320" y="4224600"/>
            <a:ext cx="3949560" cy="1252080"/>
          </a:xfrm>
          <a:prstGeom prst="roundRect">
            <a:avLst>
              <a:gd name="adj" fmla="val 16667"/>
            </a:avLst>
          </a:prstGeom>
          <a:solidFill>
            <a:srgbClr val="FBEAEC"/>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9" name="Rectangle 38"/>
          <p:cNvSpPr/>
          <p:nvPr/>
        </p:nvSpPr>
        <p:spPr>
          <a:xfrm>
            <a:off x="3136320" y="4224600"/>
            <a:ext cx="72360" cy="1252080"/>
          </a:xfrm>
          <a:prstGeom prst="rect">
            <a:avLst/>
          </a:prstGeom>
          <a:solidFill>
            <a:srgbClr val="B23A4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460" name="TextBox 39"/>
          <p:cNvSpPr/>
          <p:nvPr/>
        </p:nvSpPr>
        <p:spPr>
          <a:xfrm>
            <a:off x="3319200" y="4352400"/>
            <a:ext cx="363852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240" b="1" u="none" strike="noStrike">
                <a:solidFill>
                  <a:srgbClr val="17324D"/>
                </a:solidFill>
                <a:effectLst/>
                <a:uFillTx/>
                <a:latin typeface="Calibri"/>
              </a:rPr>
              <a:t>HIGHEST-RISK VERTICAL ASSUMPTION</a:t>
            </a:r>
            <a:endParaRPr lang="en-IN" sz="1240" b="0" u="none" strike="noStrike">
              <a:solidFill>
                <a:srgbClr val="000000"/>
              </a:solidFill>
              <a:effectLst/>
              <a:uFillTx/>
              <a:latin typeface="Arial"/>
            </a:endParaRPr>
          </a:p>
        </p:txBody>
      </p:sp>
      <p:sp>
        <p:nvSpPr>
          <p:cNvPr id="461" name="TextBox 40"/>
          <p:cNvSpPr/>
          <p:nvPr/>
        </p:nvSpPr>
        <p:spPr>
          <a:xfrm>
            <a:off x="3319200" y="4736520"/>
            <a:ext cx="3638520" cy="61200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050" b="0" u="none" strike="noStrike">
                <a:solidFill>
                  <a:srgbClr val="4F5B62"/>
                </a:solidFill>
                <a:effectLst/>
                <a:uFillTx/>
                <a:latin typeface="Calibri"/>
              </a:rPr>
              <a:t>The validated pain may be an organizational process/support problem rather than a technical detection problem.</a:t>
            </a:r>
            <a:endParaRPr lang="en-IN" sz="1050" b="0" u="none" strike="noStrike">
              <a:solidFill>
                <a:srgbClr val="000000"/>
              </a:solidFill>
              <a:effectLst/>
              <a:uFillTx/>
              <a:latin typeface="Arial"/>
            </a:endParaRPr>
          </a:p>
          <a:p>
            <a:pPr defTabSz="457200">
              <a:lnSpc>
                <a:spcPct val="95000"/>
              </a:lnSpc>
            </a:pPr>
            <a:r>
              <a:rPr lang="en-US" sz="1050" b="0" u="none" strike="noStrike">
                <a:solidFill>
                  <a:srgbClr val="4F5B62"/>
                </a:solidFill>
                <a:effectLst/>
                <a:uFillTx/>
                <a:latin typeface="Calibri"/>
              </a:rPr>
              <a:t>Next evidence: compare user and decision-maker findings with existing controls.</a:t>
            </a:r>
            <a:endParaRPr lang="en-IN" sz="1050" b="0" u="none" strike="noStrike">
              <a:solidFill>
                <a:srgbClr val="000000"/>
              </a:solidFill>
              <a:effectLst/>
              <a:uFillTx/>
              <a:latin typeface="Arial"/>
            </a:endParaRPr>
          </a:p>
        </p:txBody>
      </p:sp>
      <p:sp>
        <p:nvSpPr>
          <p:cNvPr id="462" name="Rounded Rectangle 41"/>
          <p:cNvSpPr/>
          <p:nvPr/>
        </p:nvSpPr>
        <p:spPr>
          <a:xfrm>
            <a:off x="7296840" y="4224600"/>
            <a:ext cx="4388400" cy="1252080"/>
          </a:xfrm>
          <a:prstGeom prst="roundRect">
            <a:avLst>
              <a:gd name="adj" fmla="val 16667"/>
            </a:avLst>
          </a:prstGeom>
          <a:solidFill>
            <a:srgbClr val="F0ECFF"/>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3" name="Rectangle 42"/>
          <p:cNvSpPr/>
          <p:nvPr/>
        </p:nvSpPr>
        <p:spPr>
          <a:xfrm>
            <a:off x="7296840" y="4224600"/>
            <a:ext cx="72360" cy="1252080"/>
          </a:xfrm>
          <a:prstGeom prst="rect">
            <a:avLst/>
          </a:prstGeom>
          <a:solidFill>
            <a:srgbClr val="6E56C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464" name="TextBox 43"/>
          <p:cNvSpPr/>
          <p:nvPr/>
        </p:nvSpPr>
        <p:spPr>
          <a:xfrm>
            <a:off x="7479720" y="4352400"/>
            <a:ext cx="407736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240" b="1" u="none" strike="noStrike">
                <a:solidFill>
                  <a:srgbClr val="17324D"/>
                </a:solidFill>
                <a:effectLst/>
                <a:uFillTx/>
                <a:latin typeface="Calibri"/>
              </a:rPr>
              <a:t>PHASE 2 TECHNICAL LEARNING QUESTION</a:t>
            </a:r>
            <a:endParaRPr lang="en-IN" sz="1240" b="0" u="none" strike="noStrike">
              <a:solidFill>
                <a:srgbClr val="000000"/>
              </a:solidFill>
              <a:effectLst/>
              <a:uFillTx/>
              <a:latin typeface="Arial"/>
            </a:endParaRPr>
          </a:p>
        </p:txBody>
      </p:sp>
      <p:sp>
        <p:nvSpPr>
          <p:cNvPr id="465" name="TextBox 44"/>
          <p:cNvSpPr/>
          <p:nvPr/>
        </p:nvSpPr>
        <p:spPr>
          <a:xfrm>
            <a:off x="7479720" y="4736520"/>
            <a:ext cx="4077360" cy="61200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050" b="0" u="none" strike="noStrike">
                <a:solidFill>
                  <a:srgbClr val="4F5B62"/>
                </a:solidFill>
                <a:effectLst/>
                <a:uFillTx/>
                <a:latin typeface="Calibri"/>
              </a:rPr>
              <a:t>Before choosing the final concept, we need to learn whether the validated user failure point can be meaningfully improved by a technical intervention compared with current process-based alternatives.</a:t>
            </a:r>
            <a:endParaRPr lang="en-IN"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B"/>
        </a:solidFill>
      </p:bgPr>
    </p:bg>
    <p:spTree>
      <p:nvGrpSpPr>
        <p:cNvPr id="1" name=""/>
        <p:cNvGrpSpPr/>
        <p:nvPr/>
      </p:nvGrpSpPr>
      <p:grpSpPr>
        <a:xfrm>
          <a:off x="0" y="0"/>
          <a:ext cx="0" cy="0"/>
          <a:chOff x="0" y="0"/>
          <a:chExt cx="0" cy="0"/>
        </a:xfrm>
      </p:grpSpPr>
      <p:sp>
        <p:nvSpPr>
          <p:cNvPr id="466" name="Rectangle 1"/>
          <p:cNvSpPr/>
          <p:nvPr/>
        </p:nvSpPr>
        <p:spPr>
          <a:xfrm>
            <a:off x="9000" y="0"/>
            <a:ext cx="163800" cy="6848280"/>
          </a:xfrm>
          <a:prstGeom prst="rect">
            <a:avLst/>
          </a:prstGeom>
          <a:solidFill>
            <a:srgbClr val="6E56C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82080" tIns="45000" rIns="82080" bIns="45000" anchor="ctr">
            <a:noAutofit/>
          </a:bodyPr>
          <a:p>
            <a:endParaRPr lang="en-US" sz="1800" b="0" u="none" strike="noStrike">
              <a:solidFill>
                <a:schemeClr val="lt1"/>
              </a:solidFill>
              <a:effectLst/>
              <a:uFillTx/>
              <a:latin typeface="Calibri"/>
            </a:endParaRPr>
          </a:p>
        </p:txBody>
      </p:sp>
      <p:sp>
        <p:nvSpPr>
          <p:cNvPr id="467" name="Oval 2"/>
          <p:cNvSpPr/>
          <p:nvPr/>
        </p:nvSpPr>
        <p:spPr>
          <a:xfrm>
            <a:off x="420480" y="265320"/>
            <a:ext cx="474840" cy="474840"/>
          </a:xfrm>
          <a:prstGeom prst="ellipse">
            <a:avLst/>
          </a:prstGeom>
          <a:solidFill>
            <a:srgbClr val="6E56C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8" name="TextBox 3"/>
          <p:cNvSpPr/>
          <p:nvPr/>
        </p:nvSpPr>
        <p:spPr>
          <a:xfrm>
            <a:off x="420480" y="260640"/>
            <a:ext cx="474840" cy="4748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600" b="1" u="none" strike="noStrike">
                <a:solidFill>
                  <a:srgbClr val="FFFFFF"/>
                </a:solidFill>
                <a:effectLst/>
                <a:uFillTx/>
                <a:latin typeface="Calibri"/>
              </a:rPr>
              <a:t>10</a:t>
            </a:r>
            <a:endParaRPr lang="en-IN" sz="1600" b="0" u="none" strike="noStrike">
              <a:solidFill>
                <a:srgbClr val="000000"/>
              </a:solidFill>
              <a:effectLst/>
              <a:uFillTx/>
              <a:latin typeface="Arial"/>
            </a:endParaRPr>
          </a:p>
        </p:txBody>
      </p:sp>
      <p:sp>
        <p:nvSpPr>
          <p:cNvPr id="469" name="TextBox 4"/>
          <p:cNvSpPr/>
          <p:nvPr/>
        </p:nvSpPr>
        <p:spPr>
          <a:xfrm>
            <a:off x="1005840" y="210240"/>
            <a:ext cx="7634520" cy="42912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800" b="1" u="none" strike="noStrike">
                <a:solidFill>
                  <a:srgbClr val="17324D"/>
                </a:solidFill>
                <a:effectLst/>
                <a:uFillTx/>
                <a:latin typeface="Calibri"/>
              </a:rPr>
              <a:t>Phase 2 ideation preparation and next actions</a:t>
            </a:r>
            <a:endParaRPr lang="en-IN" sz="1800" b="0" u="none" strike="noStrike">
              <a:solidFill>
                <a:srgbClr val="000000"/>
              </a:solidFill>
              <a:effectLst/>
              <a:uFillTx/>
              <a:latin typeface="Arial"/>
            </a:endParaRPr>
          </a:p>
        </p:txBody>
      </p:sp>
      <p:sp>
        <p:nvSpPr>
          <p:cNvPr id="470" name="TextBox 5"/>
          <p:cNvSpPr/>
          <p:nvPr/>
        </p:nvSpPr>
        <p:spPr>
          <a:xfrm>
            <a:off x="1005840" y="667440"/>
            <a:ext cx="763452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020" b="0" u="none" strike="noStrike">
                <a:solidFill>
                  <a:srgbClr val="7B878E"/>
                </a:solidFill>
                <a:effectLst/>
                <a:uFillTx/>
                <a:latin typeface="Calibri"/>
              </a:rPr>
              <a:t>First compare existing alternatives; then test the three concepts below with users before selecting one.</a:t>
            </a:r>
            <a:endParaRPr lang="en-IN" sz="1020" b="0" u="none" strike="noStrike">
              <a:solidFill>
                <a:srgbClr val="000000"/>
              </a:solidFill>
              <a:effectLst/>
              <a:uFillTx/>
              <a:latin typeface="Arial"/>
            </a:endParaRPr>
          </a:p>
        </p:txBody>
      </p:sp>
      <p:sp>
        <p:nvSpPr>
          <p:cNvPr id="471" name="Rounded Rectangle 6"/>
          <p:cNvSpPr/>
          <p:nvPr/>
        </p:nvSpPr>
        <p:spPr>
          <a:xfrm>
            <a:off x="8796600" y="283320"/>
            <a:ext cx="876960" cy="282600"/>
          </a:xfrm>
          <a:prstGeom prst="roundRect">
            <a:avLst>
              <a:gd name="adj" fmla="val 16667"/>
            </a:avLst>
          </a:prstGeom>
          <a:solidFill>
            <a:srgbClr val="F5F7F8"/>
          </a:solidFill>
          <a:ln w="1016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2" name="TextBox 7"/>
          <p:cNvSpPr/>
          <p:nvPr/>
        </p:nvSpPr>
        <p:spPr>
          <a:xfrm>
            <a:off x="879660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7B878E"/>
                </a:solidFill>
                <a:effectLst/>
                <a:uFillTx/>
                <a:latin typeface="Calibri"/>
              </a:rPr>
              <a:t>DISCOVER</a:t>
            </a:r>
            <a:endParaRPr lang="en-IN" sz="870" b="0" u="none" strike="noStrike">
              <a:solidFill>
                <a:srgbClr val="000000"/>
              </a:solidFill>
              <a:effectLst/>
              <a:uFillTx/>
              <a:latin typeface="Arial"/>
            </a:endParaRPr>
          </a:p>
        </p:txBody>
      </p:sp>
      <p:sp>
        <p:nvSpPr>
          <p:cNvPr id="473" name="Rounded Rectangle 8"/>
          <p:cNvSpPr/>
          <p:nvPr/>
        </p:nvSpPr>
        <p:spPr>
          <a:xfrm>
            <a:off x="9756720" y="283320"/>
            <a:ext cx="876960" cy="282600"/>
          </a:xfrm>
          <a:prstGeom prst="roundRect">
            <a:avLst>
              <a:gd name="adj" fmla="val 16667"/>
            </a:avLst>
          </a:prstGeom>
          <a:solidFill>
            <a:srgbClr val="F5F7F8"/>
          </a:solidFill>
          <a:ln w="1016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4" name="TextBox 9"/>
          <p:cNvSpPr/>
          <p:nvPr/>
        </p:nvSpPr>
        <p:spPr>
          <a:xfrm>
            <a:off x="975672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7B878E"/>
                </a:solidFill>
                <a:effectLst/>
                <a:uFillTx/>
                <a:latin typeface="Calibri"/>
              </a:rPr>
              <a:t>VALIDATE</a:t>
            </a:r>
            <a:endParaRPr lang="en-IN" sz="870" b="0" u="none" strike="noStrike">
              <a:solidFill>
                <a:srgbClr val="000000"/>
              </a:solidFill>
              <a:effectLst/>
              <a:uFillTx/>
              <a:latin typeface="Arial"/>
            </a:endParaRPr>
          </a:p>
        </p:txBody>
      </p:sp>
      <p:sp>
        <p:nvSpPr>
          <p:cNvPr id="475" name="Rounded Rectangle 10"/>
          <p:cNvSpPr/>
          <p:nvPr/>
        </p:nvSpPr>
        <p:spPr>
          <a:xfrm>
            <a:off x="10716840" y="283320"/>
            <a:ext cx="876960" cy="282600"/>
          </a:xfrm>
          <a:prstGeom prst="roundRect">
            <a:avLst>
              <a:gd name="adj" fmla="val 16667"/>
            </a:avLst>
          </a:prstGeom>
          <a:solidFill>
            <a:srgbClr val="6E56CF"/>
          </a:solidFill>
          <a:ln w="10160">
            <a:solidFill>
              <a:srgbClr val="6E56C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6" name="TextBox 11"/>
          <p:cNvSpPr/>
          <p:nvPr/>
        </p:nvSpPr>
        <p:spPr>
          <a:xfrm>
            <a:off x="10716840" y="292680"/>
            <a:ext cx="876960" cy="2552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870" b="1" u="none" strike="noStrike">
                <a:solidFill>
                  <a:srgbClr val="FFFFFF"/>
                </a:solidFill>
                <a:effectLst/>
                <a:uFillTx/>
                <a:latin typeface="Calibri"/>
              </a:rPr>
              <a:t>DECIDE</a:t>
            </a:r>
            <a:endParaRPr lang="en-IN" sz="870" b="0" u="none" strike="noStrike">
              <a:solidFill>
                <a:srgbClr val="000000"/>
              </a:solidFill>
              <a:effectLst/>
              <a:uFillTx/>
              <a:latin typeface="Arial"/>
            </a:endParaRPr>
          </a:p>
        </p:txBody>
      </p:sp>
      <p:sp>
        <p:nvSpPr>
          <p:cNvPr id="477" name="Rectangle 12"/>
          <p:cNvSpPr/>
          <p:nvPr/>
        </p:nvSpPr>
        <p:spPr>
          <a:xfrm>
            <a:off x="420480" y="6492240"/>
            <a:ext cx="11337840" cy="17640"/>
          </a:xfrm>
          <a:prstGeom prst="rect">
            <a:avLst/>
          </a:prstGeom>
          <a:solidFill>
            <a:srgbClr val="D9E0E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478" name="TextBox 13"/>
          <p:cNvSpPr/>
          <p:nvPr/>
        </p:nvSpPr>
        <p:spPr>
          <a:xfrm>
            <a:off x="438840" y="6556320"/>
            <a:ext cx="6674400" cy="182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89" b="0" u="none" strike="noStrike">
                <a:solidFill>
                  <a:srgbClr val="7B878E"/>
                </a:solidFill>
                <a:effectLst/>
                <a:uFillTx/>
                <a:latin typeface="Calibri"/>
              </a:rPr>
              <a:t>SoI Innovation Projects AY2026-27  |  Phase 1 due 30 September 2026</a:t>
            </a:r>
            <a:endParaRPr lang="en-IN" sz="889" b="0" u="none" strike="noStrike">
              <a:solidFill>
                <a:srgbClr val="000000"/>
              </a:solidFill>
              <a:effectLst/>
              <a:uFillTx/>
              <a:latin typeface="Arial"/>
            </a:endParaRPr>
          </a:p>
        </p:txBody>
      </p:sp>
      <p:sp>
        <p:nvSpPr>
          <p:cNvPr id="479" name="TextBox 14"/>
          <p:cNvSpPr/>
          <p:nvPr/>
        </p:nvSpPr>
        <p:spPr>
          <a:xfrm>
            <a:off x="11064240" y="6556320"/>
            <a:ext cx="657720" cy="1821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850" b="1" u="none" strike="noStrike">
                <a:solidFill>
                  <a:srgbClr val="7B878E"/>
                </a:solidFill>
                <a:effectLst/>
                <a:uFillTx/>
                <a:latin typeface="Calibri"/>
              </a:rPr>
              <a:t>10/10</a:t>
            </a:r>
            <a:endParaRPr lang="en-IN" sz="850" b="0" u="none" strike="noStrike">
              <a:solidFill>
                <a:srgbClr val="000000"/>
              </a:solidFill>
              <a:effectLst/>
              <a:uFillTx/>
              <a:latin typeface="Arial"/>
            </a:endParaRPr>
          </a:p>
        </p:txBody>
      </p:sp>
      <p:sp>
        <p:nvSpPr>
          <p:cNvPr id="480" name="Rounded Rectangle 15"/>
          <p:cNvSpPr/>
          <p:nvPr/>
        </p:nvSpPr>
        <p:spPr>
          <a:xfrm>
            <a:off x="530280" y="1124640"/>
            <a:ext cx="3162960" cy="282600"/>
          </a:xfrm>
          <a:prstGeom prst="roundRect">
            <a:avLst>
              <a:gd name="adj" fmla="val 16667"/>
            </a:avLst>
          </a:prstGeom>
          <a:solidFill>
            <a:srgbClr val="E8F5F5"/>
          </a:solidFill>
          <a:ln w="12700">
            <a:solidFill>
              <a:srgbClr val="E8F5F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1" name="TextBox 16"/>
          <p:cNvSpPr/>
          <p:nvPr/>
        </p:nvSpPr>
        <p:spPr>
          <a:xfrm>
            <a:off x="567000" y="1134000"/>
            <a:ext cx="3089880" cy="26460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pPr>
            <a:r>
              <a:rPr lang="en-US" sz="1050" b="1" u="none" strike="noStrike">
                <a:solidFill>
                  <a:srgbClr val="006D75"/>
                </a:solidFill>
                <a:effectLst/>
                <a:uFillTx/>
                <a:latin typeface="Calibri"/>
              </a:rPr>
              <a:t>PHASE 2 CONCEPTS - NOT FINAL SOLUTIONS</a:t>
            </a:r>
            <a:endParaRPr lang="en-IN" sz="1050" b="0" u="none" strike="noStrike">
              <a:solidFill>
                <a:srgbClr val="000000"/>
              </a:solidFill>
              <a:effectLst/>
              <a:uFillTx/>
              <a:latin typeface="Arial"/>
            </a:endParaRPr>
          </a:p>
        </p:txBody>
      </p:sp>
      <p:sp>
        <p:nvSpPr>
          <p:cNvPr id="482" name="Rounded Rectangle 17"/>
          <p:cNvSpPr/>
          <p:nvPr/>
        </p:nvSpPr>
        <p:spPr>
          <a:xfrm>
            <a:off x="530280" y="1581840"/>
            <a:ext cx="2760840" cy="1297800"/>
          </a:xfrm>
          <a:prstGeom prst="roundRect">
            <a:avLst>
              <a:gd name="adj" fmla="val 16667"/>
            </a:avLst>
          </a:prstGeom>
          <a:solidFill>
            <a:srgbClr val="FFFFFF"/>
          </a:solidFill>
          <a:ln w="12700">
            <a:solidFill>
              <a:srgbClr val="008C9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3" name="Oval 18"/>
          <p:cNvSpPr/>
          <p:nvPr/>
        </p:nvSpPr>
        <p:spPr>
          <a:xfrm>
            <a:off x="694800" y="1755720"/>
            <a:ext cx="401760" cy="401760"/>
          </a:xfrm>
          <a:prstGeom prst="ellipse">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4" name="TextBox 19"/>
          <p:cNvSpPr/>
          <p:nvPr/>
        </p:nvSpPr>
        <p:spPr>
          <a:xfrm>
            <a:off x="694800" y="1751040"/>
            <a:ext cx="401760" cy="40176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200" b="1" u="none" strike="noStrike">
                <a:solidFill>
                  <a:srgbClr val="FFFFFF"/>
                </a:solidFill>
                <a:effectLst/>
                <a:uFillTx/>
                <a:latin typeface="Calibri"/>
              </a:rPr>
              <a:t>A</a:t>
            </a:r>
            <a:endParaRPr lang="en-IN" sz="1200" b="0" u="none" strike="noStrike">
              <a:solidFill>
                <a:srgbClr val="000000"/>
              </a:solidFill>
              <a:effectLst/>
              <a:uFillTx/>
              <a:latin typeface="Arial"/>
            </a:endParaRPr>
          </a:p>
        </p:txBody>
      </p:sp>
      <p:sp>
        <p:nvSpPr>
          <p:cNvPr id="485" name="TextBox 20"/>
          <p:cNvSpPr/>
          <p:nvPr/>
        </p:nvSpPr>
        <p:spPr>
          <a:xfrm>
            <a:off x="1243440" y="1664280"/>
            <a:ext cx="1846440" cy="4381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100" b="1" u="none" strike="noStrike">
                <a:solidFill>
                  <a:srgbClr val="17324D"/>
                </a:solidFill>
                <a:effectLst/>
                <a:uFillTx/>
                <a:latin typeface="Calibri"/>
              </a:rPr>
              <a:t>Personal Cyber Safety Assistant</a:t>
            </a:r>
            <a:endParaRPr lang="en-IN" sz="1100" b="0" u="none" strike="noStrike">
              <a:solidFill>
                <a:srgbClr val="000000"/>
              </a:solidFill>
              <a:effectLst/>
              <a:uFillTx/>
              <a:latin typeface="Arial"/>
            </a:endParaRPr>
          </a:p>
        </p:txBody>
      </p:sp>
      <p:sp>
        <p:nvSpPr>
          <p:cNvPr id="486" name="TextBox 21"/>
          <p:cNvSpPr/>
          <p:nvPr/>
        </p:nvSpPr>
        <p:spPr>
          <a:xfrm>
            <a:off x="731520" y="2194560"/>
            <a:ext cx="235836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4F5B62"/>
                </a:solidFill>
                <a:effectLst/>
                <a:uFillTx/>
                <a:latin typeface="Calibri"/>
              </a:rPr>
              <a:t>Unified platform to monitor known data breaches, analyze suspicious links and QR codes, and guide users after an incident.</a:t>
            </a:r>
            <a:endParaRPr lang="en-IN" sz="1000" b="0" u="none" strike="noStrike">
              <a:solidFill>
                <a:srgbClr val="000000"/>
              </a:solidFill>
              <a:effectLst/>
              <a:uFillTx/>
              <a:latin typeface="Arial"/>
            </a:endParaRPr>
          </a:p>
        </p:txBody>
      </p:sp>
      <p:sp>
        <p:nvSpPr>
          <p:cNvPr id="487" name="Rounded Rectangle 22"/>
          <p:cNvSpPr/>
          <p:nvPr/>
        </p:nvSpPr>
        <p:spPr>
          <a:xfrm>
            <a:off x="3493080" y="1581840"/>
            <a:ext cx="2760840" cy="1297800"/>
          </a:xfrm>
          <a:prstGeom prst="roundRect">
            <a:avLst>
              <a:gd name="adj" fmla="val 16667"/>
            </a:avLst>
          </a:prstGeom>
          <a:solidFill>
            <a:srgbClr val="FFFFFF"/>
          </a:solidFill>
          <a:ln w="12700">
            <a:solidFill>
              <a:srgbClr val="008C9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8" name="Oval 23"/>
          <p:cNvSpPr/>
          <p:nvPr/>
        </p:nvSpPr>
        <p:spPr>
          <a:xfrm>
            <a:off x="3657600" y="1755720"/>
            <a:ext cx="401760" cy="401760"/>
          </a:xfrm>
          <a:prstGeom prst="ellipse">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9" name="TextBox 24"/>
          <p:cNvSpPr/>
          <p:nvPr/>
        </p:nvSpPr>
        <p:spPr>
          <a:xfrm>
            <a:off x="3657600" y="1751040"/>
            <a:ext cx="401760" cy="40176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200" b="1" u="none" strike="noStrike">
                <a:solidFill>
                  <a:srgbClr val="FFFFFF"/>
                </a:solidFill>
                <a:effectLst/>
                <a:uFillTx/>
                <a:latin typeface="Calibri"/>
              </a:rPr>
              <a:t>B</a:t>
            </a:r>
            <a:endParaRPr lang="en-IN" sz="1200" b="0" u="none" strike="noStrike">
              <a:solidFill>
                <a:srgbClr val="000000"/>
              </a:solidFill>
              <a:effectLst/>
              <a:uFillTx/>
              <a:latin typeface="Arial"/>
            </a:endParaRPr>
          </a:p>
        </p:txBody>
      </p:sp>
      <p:sp>
        <p:nvSpPr>
          <p:cNvPr id="490" name="TextBox 25"/>
          <p:cNvSpPr/>
          <p:nvPr/>
        </p:nvSpPr>
        <p:spPr>
          <a:xfrm>
            <a:off x="4206240" y="1664280"/>
            <a:ext cx="1846440" cy="4381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100" b="1" u="none" strike="noStrike">
                <a:solidFill>
                  <a:srgbClr val="17324D"/>
                </a:solidFill>
                <a:effectLst/>
                <a:uFillTx/>
                <a:latin typeface="Calibri"/>
              </a:rPr>
              <a:t>AI Cyber Incident Assistant</a:t>
            </a:r>
            <a:endParaRPr lang="en-IN" sz="1100" b="0" u="none" strike="noStrike">
              <a:solidFill>
                <a:srgbClr val="000000"/>
              </a:solidFill>
              <a:effectLst/>
              <a:uFillTx/>
              <a:latin typeface="Arial"/>
            </a:endParaRPr>
          </a:p>
        </p:txBody>
      </p:sp>
      <p:sp>
        <p:nvSpPr>
          <p:cNvPr id="491" name="TextBox 26"/>
          <p:cNvSpPr/>
          <p:nvPr/>
        </p:nvSpPr>
        <p:spPr>
          <a:xfrm>
            <a:off x="3694320" y="2194560"/>
            <a:ext cx="235836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4F5B62"/>
                </a:solidFill>
                <a:effectLst/>
                <a:uFillTx/>
                <a:latin typeface="Calibri"/>
              </a:rPr>
              <a:t>Helps users understand suspicious messages or calls and guides them toward safe response and reporting.</a:t>
            </a:r>
            <a:endParaRPr lang="en-IN" sz="1000" b="0" u="none" strike="noStrike">
              <a:solidFill>
                <a:srgbClr val="000000"/>
              </a:solidFill>
              <a:effectLst/>
              <a:uFillTx/>
              <a:latin typeface="Arial"/>
            </a:endParaRPr>
          </a:p>
        </p:txBody>
      </p:sp>
      <p:sp>
        <p:nvSpPr>
          <p:cNvPr id="492" name="Rounded Rectangle 27"/>
          <p:cNvSpPr/>
          <p:nvPr/>
        </p:nvSpPr>
        <p:spPr>
          <a:xfrm>
            <a:off x="6455520" y="1581840"/>
            <a:ext cx="2760840" cy="1297800"/>
          </a:xfrm>
          <a:prstGeom prst="roundRect">
            <a:avLst>
              <a:gd name="adj" fmla="val 16667"/>
            </a:avLst>
          </a:prstGeom>
          <a:solidFill>
            <a:srgbClr val="FFFFFF"/>
          </a:solidFill>
          <a:ln w="12700">
            <a:solidFill>
              <a:srgbClr val="008C9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93" name="Oval 28"/>
          <p:cNvSpPr/>
          <p:nvPr/>
        </p:nvSpPr>
        <p:spPr>
          <a:xfrm>
            <a:off x="6620400" y="1755720"/>
            <a:ext cx="401760" cy="401760"/>
          </a:xfrm>
          <a:prstGeom prst="ellipse">
            <a:avLst/>
          </a:prstGeom>
          <a:solidFill>
            <a:srgbClr val="008C9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94" name="TextBox 29"/>
          <p:cNvSpPr/>
          <p:nvPr/>
        </p:nvSpPr>
        <p:spPr>
          <a:xfrm>
            <a:off x="6620400" y="1751040"/>
            <a:ext cx="401760" cy="40176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200" b="1" u="none" strike="noStrike">
                <a:solidFill>
                  <a:srgbClr val="FFFFFF"/>
                </a:solidFill>
                <a:effectLst/>
                <a:uFillTx/>
                <a:latin typeface="Calibri"/>
              </a:rPr>
              <a:t>C</a:t>
            </a:r>
            <a:endParaRPr lang="en-IN" sz="1200" b="0" u="none" strike="noStrike">
              <a:solidFill>
                <a:srgbClr val="000000"/>
              </a:solidFill>
              <a:effectLst/>
              <a:uFillTx/>
              <a:latin typeface="Arial"/>
            </a:endParaRPr>
          </a:p>
        </p:txBody>
      </p:sp>
      <p:sp>
        <p:nvSpPr>
          <p:cNvPr id="495" name="TextBox 30"/>
          <p:cNvSpPr/>
          <p:nvPr/>
        </p:nvSpPr>
        <p:spPr>
          <a:xfrm>
            <a:off x="7169040" y="1664280"/>
            <a:ext cx="1846440" cy="4381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100" b="1" u="none" strike="noStrike">
                <a:solidFill>
                  <a:srgbClr val="17324D"/>
                </a:solidFill>
                <a:effectLst/>
                <a:uFillTx/>
                <a:latin typeface="Calibri"/>
              </a:rPr>
              <a:t>Cyber Threat Early-Warning System</a:t>
            </a:r>
            <a:endParaRPr lang="en-IN" sz="1100" b="0" u="none" strike="noStrike">
              <a:solidFill>
                <a:srgbClr val="000000"/>
              </a:solidFill>
              <a:effectLst/>
              <a:uFillTx/>
              <a:latin typeface="Arial"/>
            </a:endParaRPr>
          </a:p>
        </p:txBody>
      </p:sp>
      <p:sp>
        <p:nvSpPr>
          <p:cNvPr id="496" name="TextBox 31"/>
          <p:cNvSpPr/>
          <p:nvPr/>
        </p:nvSpPr>
        <p:spPr>
          <a:xfrm>
            <a:off x="6656760" y="2194560"/>
            <a:ext cx="2358360" cy="383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4F5B62"/>
                </a:solidFill>
                <a:effectLst/>
                <a:uFillTx/>
                <a:latin typeface="Calibri"/>
              </a:rPr>
              <a:t>Monitoring approach that notifies users about newly reported breaches and suspicious interactions.</a:t>
            </a:r>
            <a:endParaRPr lang="en-IN" sz="1000" b="0" u="none" strike="noStrike">
              <a:solidFill>
                <a:srgbClr val="000000"/>
              </a:solidFill>
              <a:effectLst/>
              <a:uFillTx/>
              <a:latin typeface="Arial"/>
            </a:endParaRPr>
          </a:p>
        </p:txBody>
      </p:sp>
      <p:sp>
        <p:nvSpPr>
          <p:cNvPr id="497" name="Rounded Rectangle 32"/>
          <p:cNvSpPr/>
          <p:nvPr/>
        </p:nvSpPr>
        <p:spPr>
          <a:xfrm>
            <a:off x="9436680" y="1581840"/>
            <a:ext cx="2248560" cy="1297800"/>
          </a:xfrm>
          <a:prstGeom prst="roundRect">
            <a:avLst>
              <a:gd name="adj" fmla="val 16667"/>
            </a:avLst>
          </a:prstGeom>
          <a:solidFill>
            <a:srgbClr val="FFF4DB"/>
          </a:solidFill>
          <a:ln w="12700">
            <a:solidFill>
              <a:srgbClr val="D9E0E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98" name="Rectangle 33"/>
          <p:cNvSpPr/>
          <p:nvPr/>
        </p:nvSpPr>
        <p:spPr>
          <a:xfrm>
            <a:off x="9436680" y="1581840"/>
            <a:ext cx="72360" cy="1297800"/>
          </a:xfrm>
          <a:prstGeom prst="rect">
            <a:avLst/>
          </a:prstGeom>
          <a:solidFill>
            <a:srgbClr val="F3A71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360" tIns="45000" rIns="36360" bIns="45000" anchor="ctr">
            <a:noAutofit/>
          </a:bodyPr>
          <a:p>
            <a:endParaRPr lang="en-US" sz="1800" b="0" u="none" strike="noStrike">
              <a:solidFill>
                <a:schemeClr val="lt1"/>
              </a:solidFill>
              <a:effectLst/>
              <a:uFillTx/>
              <a:latin typeface="Calibri"/>
            </a:endParaRPr>
          </a:p>
        </p:txBody>
      </p:sp>
      <p:sp>
        <p:nvSpPr>
          <p:cNvPr id="499" name="TextBox 34"/>
          <p:cNvSpPr/>
          <p:nvPr/>
        </p:nvSpPr>
        <p:spPr>
          <a:xfrm>
            <a:off x="9619560" y="1710000"/>
            <a:ext cx="1937880" cy="38340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070" b="1" u="none" strike="noStrike">
                <a:solidFill>
                  <a:srgbClr val="17324D"/>
                </a:solidFill>
                <a:effectLst/>
                <a:uFillTx/>
                <a:latin typeface="Calibri"/>
              </a:rPr>
              <a:t>CONCEPT REVIEWERS</a:t>
            </a:r>
            <a:endParaRPr lang="en-IN" sz="1070" b="0" u="none" strike="noStrike">
              <a:solidFill>
                <a:srgbClr val="000000"/>
              </a:solidFill>
              <a:effectLst/>
              <a:uFillTx/>
              <a:latin typeface="Arial"/>
            </a:endParaRPr>
          </a:p>
        </p:txBody>
      </p:sp>
      <p:sp>
        <p:nvSpPr>
          <p:cNvPr id="500" name="TextBox 35"/>
          <p:cNvSpPr/>
          <p:nvPr/>
        </p:nvSpPr>
        <p:spPr>
          <a:xfrm>
            <a:off x="9619560" y="2094120"/>
            <a:ext cx="1937880" cy="657720"/>
          </a:xfrm>
          <a:prstGeom prst="rect">
            <a:avLst/>
          </a:prstGeom>
          <a:noFill/>
          <a:ln w="0">
            <a:noFill/>
          </a:ln>
        </p:spPr>
        <p:style>
          <a:lnRef idx="0"/>
          <a:fillRef idx="0"/>
          <a:effectRef idx="0"/>
          <a:fontRef idx="minor"/>
        </p:style>
        <p:txBody>
          <a:bodyPr lIns="18360" tIns="18360" rIns="18360" bIns="18360" anchor="t">
            <a:spAutoFit/>
          </a:bodyPr>
          <a:p>
            <a:pPr defTabSz="457200">
              <a:lnSpc>
                <a:spcPct val="95000"/>
              </a:lnSpc>
            </a:pPr>
            <a:r>
              <a:rPr lang="en-US" sz="1000" b="0" u="none" strike="noStrike">
                <a:solidFill>
                  <a:srgbClr val="4F5B62"/>
                </a:solidFill>
                <a:effectLst/>
                <a:uFillTx/>
                <a:latin typeface="Calibri"/>
              </a:rPr>
              <a:t>Primary users: 5 students</a:t>
            </a:r>
            <a:endParaRPr lang="en-IN" sz="1000" b="0" u="none" strike="noStrike">
              <a:solidFill>
                <a:srgbClr val="000000"/>
              </a:solidFill>
              <a:effectLst/>
              <a:uFillTx/>
              <a:latin typeface="Arial"/>
            </a:endParaRPr>
          </a:p>
          <a:p>
            <a:pPr defTabSz="457200">
              <a:lnSpc>
                <a:spcPct val="95000"/>
              </a:lnSpc>
            </a:pPr>
            <a:r>
              <a:rPr lang="en-US" sz="1000" b="0" u="none" strike="noStrike">
                <a:solidFill>
                  <a:srgbClr val="4F5B62"/>
                </a:solidFill>
                <a:effectLst/>
                <a:uFillTx/>
                <a:latin typeface="Calibri"/>
              </a:rPr>
              <a:t>Approver / buyer: college IT head</a:t>
            </a:r>
            <a:endParaRPr lang="en-IN" sz="1000" b="0" u="none" strike="noStrike">
              <a:solidFill>
                <a:srgbClr val="000000"/>
              </a:solidFill>
              <a:effectLst/>
              <a:uFillTx/>
              <a:latin typeface="Arial"/>
            </a:endParaRPr>
          </a:p>
          <a:p>
            <a:pPr defTabSz="457200">
              <a:lnSpc>
                <a:spcPct val="95000"/>
              </a:lnSpc>
            </a:pPr>
            <a:r>
              <a:rPr lang="en-US" sz="1000" b="0" u="none" strike="noStrike">
                <a:solidFill>
                  <a:srgbClr val="4F5B62"/>
                </a:solidFill>
                <a:effectLst/>
                <a:uFillTx/>
                <a:latin typeface="Calibri"/>
              </a:rPr>
              <a:t>Cybersecurity specialist: 1 reviewer</a:t>
            </a:r>
            <a:endParaRPr lang="en-IN" sz="1000" b="0" u="none" strike="noStrike">
              <a:solidFill>
                <a:srgbClr val="000000"/>
              </a:solidFill>
              <a:effectLst/>
              <a:uFillTx/>
              <a:latin typeface="Arial"/>
            </a:endParaRPr>
          </a:p>
          <a:p>
            <a:pPr defTabSz="457200">
              <a:lnSpc>
                <a:spcPct val="95000"/>
              </a:lnSpc>
            </a:pPr>
            <a:r>
              <a:rPr lang="en-US" sz="1000" b="0" u="none" strike="noStrike">
                <a:solidFill>
                  <a:srgbClr val="4F5B62"/>
                </a:solidFill>
                <a:effectLst/>
                <a:uFillTx/>
                <a:latin typeface="Calibri"/>
              </a:rPr>
              <a:t>Number + date: 3 reviews, 10/10</a:t>
            </a:r>
            <a:endParaRPr lang="en-IN" sz="1000" b="0" u="none" strike="noStrike">
              <a:solidFill>
                <a:srgbClr val="000000"/>
              </a:solidFill>
              <a:effectLst/>
              <a:uFillTx/>
              <a:latin typeface="Arial"/>
            </a:endParaRPr>
          </a:p>
        </p:txBody>
      </p:sp>
      <p:sp>
        <p:nvSpPr>
          <p:cNvPr id="501" name="TextBox 36"/>
          <p:cNvSpPr/>
          <p:nvPr/>
        </p:nvSpPr>
        <p:spPr>
          <a:xfrm>
            <a:off x="530280" y="3218760"/>
            <a:ext cx="2056680" cy="282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50" b="1" u="none" strike="noStrike">
                <a:solidFill>
                  <a:srgbClr val="17324D"/>
                </a:solidFill>
                <a:effectLst/>
                <a:uFillTx/>
                <a:latin typeface="Calibri"/>
              </a:rPr>
              <a:t>Concept selection criteria</a:t>
            </a:r>
            <a:endParaRPr lang="en-IN" sz="1350" b="0" u="none" strike="noStrike">
              <a:solidFill>
                <a:srgbClr val="000000"/>
              </a:solidFill>
              <a:effectLst/>
              <a:uFillTx/>
              <a:latin typeface="Arial"/>
            </a:endParaRPr>
          </a:p>
        </p:txBody>
      </p:sp>
      <p:sp>
        <p:nvSpPr>
          <p:cNvPr id="502" name="Rounded Rectangle 37"/>
          <p:cNvSpPr/>
          <p:nvPr/>
        </p:nvSpPr>
        <p:spPr>
          <a:xfrm>
            <a:off x="530280" y="3602880"/>
            <a:ext cx="2029320" cy="529560"/>
          </a:xfrm>
          <a:prstGeom prst="roundRect">
            <a:avLst>
              <a:gd name="adj" fmla="val 16667"/>
            </a:avLst>
          </a:prstGeom>
          <a:solidFill>
            <a:srgbClr val="FFFFFF"/>
          </a:solidFill>
          <a:ln w="12700">
            <a:solidFill>
              <a:srgbClr val="008C9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03" name="TextBox 38"/>
          <p:cNvSpPr/>
          <p:nvPr/>
        </p:nvSpPr>
        <p:spPr>
          <a:xfrm>
            <a:off x="603360" y="3703320"/>
            <a:ext cx="1882800" cy="29196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930" b="1" u="none" strike="noStrike">
                <a:solidFill>
                  <a:srgbClr val="008C95"/>
                </a:solidFill>
                <a:effectLst/>
                <a:uFillTx/>
                <a:latin typeface="Calibri"/>
              </a:rPr>
              <a:t>Desirability</a:t>
            </a:r>
            <a:endParaRPr lang="en-IN" sz="930" b="0" u="none" strike="noStrike">
              <a:solidFill>
                <a:srgbClr val="000000"/>
              </a:solidFill>
              <a:effectLst/>
              <a:uFillTx/>
              <a:latin typeface="Arial"/>
            </a:endParaRPr>
          </a:p>
        </p:txBody>
      </p:sp>
      <p:sp>
        <p:nvSpPr>
          <p:cNvPr id="504" name="Rounded Rectangle 39"/>
          <p:cNvSpPr/>
          <p:nvPr/>
        </p:nvSpPr>
        <p:spPr>
          <a:xfrm>
            <a:off x="2743200" y="3602880"/>
            <a:ext cx="2029320" cy="529560"/>
          </a:xfrm>
          <a:prstGeom prst="roundRect">
            <a:avLst>
              <a:gd name="adj" fmla="val 16667"/>
            </a:avLst>
          </a:prstGeom>
          <a:solidFill>
            <a:srgbClr val="FFFFFF"/>
          </a:solidFill>
          <a:ln w="12700">
            <a:solidFill>
              <a:srgbClr val="3178C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05" name="TextBox 40"/>
          <p:cNvSpPr/>
          <p:nvPr/>
        </p:nvSpPr>
        <p:spPr>
          <a:xfrm>
            <a:off x="2816280" y="3703320"/>
            <a:ext cx="1882800" cy="29196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930" b="1" u="none" strike="noStrike">
                <a:solidFill>
                  <a:srgbClr val="3178C6"/>
                </a:solidFill>
                <a:effectLst/>
                <a:uFillTx/>
                <a:latin typeface="Calibri"/>
              </a:rPr>
              <a:t>Feasibility</a:t>
            </a:r>
            <a:endParaRPr lang="en-IN" sz="930" b="0" u="none" strike="noStrike">
              <a:solidFill>
                <a:srgbClr val="000000"/>
              </a:solidFill>
              <a:effectLst/>
              <a:uFillTx/>
              <a:latin typeface="Arial"/>
            </a:endParaRPr>
          </a:p>
        </p:txBody>
      </p:sp>
      <p:sp>
        <p:nvSpPr>
          <p:cNvPr id="506" name="Rounded Rectangle 41"/>
          <p:cNvSpPr/>
          <p:nvPr/>
        </p:nvSpPr>
        <p:spPr>
          <a:xfrm>
            <a:off x="4956120" y="3602880"/>
            <a:ext cx="2029320" cy="529560"/>
          </a:xfrm>
          <a:prstGeom prst="roundRect">
            <a:avLst>
              <a:gd name="adj" fmla="val 16667"/>
            </a:avLst>
          </a:prstGeom>
          <a:solidFill>
            <a:srgbClr val="FFFFFF"/>
          </a:solidFill>
          <a:ln w="12700">
            <a:solidFill>
              <a:srgbClr val="B23A4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07" name="TextBox 42"/>
          <p:cNvSpPr/>
          <p:nvPr/>
        </p:nvSpPr>
        <p:spPr>
          <a:xfrm>
            <a:off x="5029200" y="3703320"/>
            <a:ext cx="1882800" cy="29196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880" b="1" u="none" strike="noStrike">
                <a:solidFill>
                  <a:srgbClr val="B23A48"/>
                </a:solidFill>
                <a:effectLst/>
                <a:uFillTx/>
                <a:latin typeface="Calibri"/>
              </a:rPr>
              <a:t>Responsibility</a:t>
            </a:r>
            <a:endParaRPr lang="en-IN" sz="880" b="0" u="none" strike="noStrike">
              <a:solidFill>
                <a:srgbClr val="000000"/>
              </a:solidFill>
              <a:effectLst/>
              <a:uFillTx/>
              <a:latin typeface="Arial"/>
            </a:endParaRPr>
          </a:p>
        </p:txBody>
      </p:sp>
      <p:sp>
        <p:nvSpPr>
          <p:cNvPr id="508" name="Rounded Rectangle 43"/>
          <p:cNvSpPr/>
          <p:nvPr/>
        </p:nvSpPr>
        <p:spPr>
          <a:xfrm>
            <a:off x="7169040" y="3602880"/>
            <a:ext cx="2029320" cy="529560"/>
          </a:xfrm>
          <a:prstGeom prst="roundRect">
            <a:avLst>
              <a:gd name="adj" fmla="val 16667"/>
            </a:avLst>
          </a:prstGeom>
          <a:solidFill>
            <a:srgbClr val="FFFFFF"/>
          </a:solidFill>
          <a:ln w="12700">
            <a:solidFill>
              <a:srgbClr val="F3A71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09" name="TextBox 44"/>
          <p:cNvSpPr/>
          <p:nvPr/>
        </p:nvSpPr>
        <p:spPr>
          <a:xfrm>
            <a:off x="7242120" y="3703320"/>
            <a:ext cx="1882800" cy="29196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880" b="1" u="none" strike="noStrike">
                <a:solidFill>
                  <a:srgbClr val="F3A712"/>
                </a:solidFill>
                <a:effectLst/>
                <a:uFillTx/>
                <a:latin typeface="Calibri"/>
              </a:rPr>
              <a:t>Viability / value</a:t>
            </a:r>
            <a:endParaRPr lang="en-IN" sz="880" b="0" u="none" strike="noStrike">
              <a:solidFill>
                <a:srgbClr val="000000"/>
              </a:solidFill>
              <a:effectLst/>
              <a:uFillTx/>
              <a:latin typeface="Arial"/>
            </a:endParaRPr>
          </a:p>
        </p:txBody>
      </p:sp>
      <p:sp>
        <p:nvSpPr>
          <p:cNvPr id="510" name="Rounded Rectangle 45"/>
          <p:cNvSpPr/>
          <p:nvPr/>
        </p:nvSpPr>
        <p:spPr>
          <a:xfrm>
            <a:off x="9381600" y="3602880"/>
            <a:ext cx="2029320" cy="529560"/>
          </a:xfrm>
          <a:prstGeom prst="roundRect">
            <a:avLst>
              <a:gd name="adj" fmla="val 16667"/>
            </a:avLst>
          </a:prstGeom>
          <a:solidFill>
            <a:srgbClr val="FFFFFF"/>
          </a:solidFill>
          <a:ln w="12700">
            <a:solidFill>
              <a:srgbClr val="6E56C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11" name="TextBox 46"/>
          <p:cNvSpPr/>
          <p:nvPr/>
        </p:nvSpPr>
        <p:spPr>
          <a:xfrm>
            <a:off x="9455040" y="3703320"/>
            <a:ext cx="1882800" cy="29196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880" b="1" u="none" strike="noStrike">
                <a:solidFill>
                  <a:srgbClr val="6E56CF"/>
                </a:solidFill>
                <a:effectLst/>
                <a:uFillTx/>
                <a:latin typeface="Calibri"/>
              </a:rPr>
              <a:t>User evidence</a:t>
            </a:r>
            <a:endParaRPr lang="en-IN" sz="880" b="0" u="none" strike="noStrike">
              <a:solidFill>
                <a:srgbClr val="000000"/>
              </a:solidFill>
              <a:effectLst/>
              <a:uFillTx/>
              <a:latin typeface="Arial"/>
            </a:endParaRPr>
          </a:p>
        </p:txBody>
      </p:sp>
      <p:graphicFrame>
        <p:nvGraphicFramePr>
          <p:cNvPr id="512" name="Table 47"/>
          <p:cNvGraphicFramePr/>
          <p:nvPr/>
        </p:nvGraphicFramePr>
        <p:xfrm>
          <a:off x="530280" y="4489560"/>
          <a:ext cx="11155320" cy="1141920"/>
        </p:xfrm>
        <a:graphic>
          <a:graphicData uri="http://schemas.openxmlformats.org/drawingml/2006/table">
            <a:tbl>
              <a:tblPr/>
              <a:tblGrid>
                <a:gridCol w="3886200"/>
                <a:gridCol w="1417320"/>
                <a:gridCol w="1417320"/>
                <a:gridCol w="4434840"/>
              </a:tblGrid>
              <a:tr h="285480">
                <a:tc>
                  <a:txBody>
                    <a:bodyPr lIns="54720" tIns="36360" rIns="54720" bIns="36360" anchor="ctr">
                      <a:noAutofit/>
                    </a:bodyPr>
                    <a:p>
                      <a:pPr defTabSz="457200">
                        <a:lnSpc>
                          <a:spcPct val="90000"/>
                        </a:lnSpc>
                      </a:pPr>
                      <a:r>
                        <a:rPr lang="en-US" sz="1100" b="1" u="none" strike="noStrike">
                          <a:solidFill>
                            <a:srgbClr val="FFFFFF"/>
                          </a:solidFill>
                          <a:effectLst/>
                          <a:uFillTx/>
                          <a:latin typeface="Calibri"/>
                        </a:rPr>
                        <a:t>Next action</a:t>
                      </a:r>
                      <a:endParaRPr lang="en-IN" sz="1100" b="0" u="none" strike="noStrike">
                        <a:solidFill>
                          <a:srgbClr val="FFFFFF"/>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7324D"/>
                    </a:solidFill>
                  </a:tcPr>
                </a:tc>
                <a:tc>
                  <a:txBody>
                    <a:bodyPr lIns="54720" tIns="36360" rIns="54720" bIns="36360" anchor="ctr">
                      <a:noAutofit/>
                    </a:bodyPr>
                    <a:p>
                      <a:pPr defTabSz="457200">
                        <a:lnSpc>
                          <a:spcPct val="90000"/>
                        </a:lnSpc>
                      </a:pPr>
                      <a:r>
                        <a:rPr lang="en-US" sz="1100" b="1" u="none" strike="noStrike">
                          <a:solidFill>
                            <a:srgbClr val="FFFFFF"/>
                          </a:solidFill>
                          <a:effectLst/>
                          <a:uFillTx/>
                          <a:latin typeface="Calibri"/>
                        </a:rPr>
                        <a:t>Owner</a:t>
                      </a:r>
                      <a:endParaRPr lang="en-IN" sz="1100" b="0" u="none" strike="noStrike">
                        <a:solidFill>
                          <a:srgbClr val="FFFFFF"/>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7324D"/>
                    </a:solidFill>
                  </a:tcPr>
                </a:tc>
                <a:tc>
                  <a:txBody>
                    <a:bodyPr lIns="54720" tIns="36360" rIns="54720" bIns="36360" anchor="ctr">
                      <a:noAutofit/>
                    </a:bodyPr>
                    <a:p>
                      <a:pPr defTabSz="457200">
                        <a:lnSpc>
                          <a:spcPct val="90000"/>
                        </a:lnSpc>
                      </a:pPr>
                      <a:r>
                        <a:rPr lang="en-US" sz="1100" b="1" u="none" strike="noStrike">
                          <a:solidFill>
                            <a:srgbClr val="FFFFFF"/>
                          </a:solidFill>
                          <a:effectLst/>
                          <a:uFillTx/>
                          <a:latin typeface="Calibri"/>
                        </a:rPr>
                        <a:t>Due date</a:t>
                      </a:r>
                      <a:endParaRPr lang="en-IN" sz="1100" b="0" u="none" strike="noStrike">
                        <a:solidFill>
                          <a:srgbClr val="FFFFFF"/>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7324D"/>
                    </a:solidFill>
                  </a:tcPr>
                </a:tc>
                <a:tc>
                  <a:txBody>
                    <a:bodyPr lIns="54720" tIns="36360" rIns="54720" bIns="36360" anchor="ctr">
                      <a:noAutofit/>
                    </a:bodyPr>
                    <a:p>
                      <a:pPr defTabSz="457200">
                        <a:lnSpc>
                          <a:spcPct val="90000"/>
                        </a:lnSpc>
                      </a:pPr>
                      <a:r>
                        <a:rPr lang="en-US" sz="1100" b="1" u="none" strike="noStrike">
                          <a:solidFill>
                            <a:srgbClr val="FFFFFF"/>
                          </a:solidFill>
                          <a:effectLst/>
                          <a:uFillTx/>
                          <a:latin typeface="Calibri"/>
                        </a:rPr>
                        <a:t>Evidence / output</a:t>
                      </a:r>
                      <a:endParaRPr lang="en-IN" sz="1100" b="0" u="none" strike="noStrike">
                        <a:solidFill>
                          <a:srgbClr val="FFFFFF"/>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7324D"/>
                    </a:solidFill>
                  </a:tcPr>
                </a:tc>
              </a:tr>
              <a:tr h="285480">
                <a:tc>
                  <a:txBody>
                    <a:bodyPr lIns="54720" tIns="36360" rIns="54720" bIns="36360" anchor="ctr">
                      <a:noAutofit/>
                    </a:bodyPr>
                    <a:p>
                      <a:pPr defTabSz="457200">
                        <a:lnSpc>
                          <a:spcPct val="90000"/>
                        </a:lnSpc>
                      </a:pPr>
                      <a:r>
                        <a:rPr lang="en-US" sz="900" b="0" u="none" strike="noStrike">
                          <a:solidFill>
                            <a:srgbClr val="4F5B62"/>
                          </a:solidFill>
                          <a:effectLst/>
                          <a:uFillTx/>
                          <a:latin typeface="Calibri"/>
                        </a:rPr>
                        <a:t>Complete 6+ user conversations; identify the most significant validated pain point</a:t>
                      </a:r>
                      <a:endParaRPr lang="en-IN" sz="90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tIns="36360" rIns="54720" bIns="36360" anchor="ctr">
                      <a:noAutofit/>
                    </a:bodyPr>
                    <a:p>
                      <a:pPr defTabSz="457200">
                        <a:lnSpc>
                          <a:spcPct val="90000"/>
                        </a:lnSpc>
                      </a:pPr>
                      <a:r>
                        <a:rPr lang="en-US" sz="1070" b="0" u="none" strike="noStrike">
                          <a:solidFill>
                            <a:srgbClr val="4F5B62"/>
                          </a:solidFill>
                          <a:effectLst/>
                          <a:uFillTx/>
                          <a:latin typeface="Calibri"/>
                        </a:rPr>
                        <a:t>Mari</a:t>
                      </a:r>
                      <a:endParaRPr lang="en-IN" sz="107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tIns="36360" rIns="54720" bIns="36360" anchor="ctr">
                      <a:noAutofit/>
                    </a:bodyPr>
                    <a:p>
                      <a:pPr defTabSz="457200">
                        <a:lnSpc>
                          <a:spcPct val="90000"/>
                        </a:lnSpc>
                      </a:pPr>
                      <a:r>
                        <a:rPr lang="en-US" sz="1070" b="0" u="none" strike="noStrike">
                          <a:solidFill>
                            <a:srgbClr val="4F5B62"/>
                          </a:solidFill>
                          <a:effectLst/>
                          <a:uFillTx/>
                          <a:latin typeface="Calibri"/>
                        </a:rPr>
                        <a:t>07/10</a:t>
                      </a:r>
                      <a:endParaRPr lang="en-IN" sz="107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tIns="36360" rIns="54720" bIns="36360" anchor="ctr">
                      <a:noAutofit/>
                    </a:bodyPr>
                    <a:p>
                      <a:pPr defTabSz="457200">
                        <a:lnSpc>
                          <a:spcPct val="90000"/>
                        </a:lnSpc>
                      </a:pPr>
                      <a:r>
                        <a:rPr lang="en-US" sz="900" b="0" u="none" strike="noStrike">
                          <a:solidFill>
                            <a:srgbClr val="4F5B62"/>
                          </a:solidFill>
                          <a:effectLst/>
                          <a:uFillTx/>
                          <a:latin typeface="Calibri"/>
                        </a:rPr>
                        <a:t>Interview notes, pain-point summary</a:t>
                      </a:r>
                      <a:endParaRPr lang="en-IN" sz="90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285480">
                <a:tc>
                  <a:txBody>
                    <a:bodyPr lIns="54720" tIns="36360" rIns="54720" bIns="36360" anchor="ctr">
                      <a:noAutofit/>
                    </a:bodyPr>
                    <a:p>
                      <a:pPr defTabSz="457200">
                        <a:lnSpc>
                          <a:spcPct val="90000"/>
                        </a:lnSpc>
                      </a:pPr>
                      <a:r>
                        <a:rPr lang="en-US" sz="900" b="0" u="none" strike="noStrike">
                          <a:solidFill>
                            <a:srgbClr val="4F5B62"/>
                          </a:solidFill>
                          <a:effectLst/>
                          <a:uFillTx/>
                          <a:latin typeface="Calibri"/>
                        </a:rPr>
                        <a:t>Compare existing alternatives</a:t>
                      </a:r>
                      <a:endParaRPr lang="en-IN" sz="90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7F8"/>
                    </a:solidFill>
                  </a:tcPr>
                </a:tc>
                <a:tc>
                  <a:txBody>
                    <a:bodyPr lIns="54720" tIns="36360" rIns="54720" bIns="36360" anchor="ctr">
                      <a:noAutofit/>
                    </a:bodyPr>
                    <a:p>
                      <a:pPr defTabSz="457200">
                        <a:lnSpc>
                          <a:spcPct val="90000"/>
                        </a:lnSpc>
                      </a:pPr>
                      <a:r>
                        <a:rPr lang="en-US" sz="1070" b="0" u="none" strike="noStrike">
                          <a:solidFill>
                            <a:srgbClr val="4F5B62"/>
                          </a:solidFill>
                          <a:effectLst/>
                          <a:uFillTx/>
                          <a:latin typeface="Calibri"/>
                        </a:rPr>
                        <a:t>Giriswar</a:t>
                      </a:r>
                      <a:endParaRPr lang="en-IN" sz="107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7F8"/>
                    </a:solidFill>
                  </a:tcPr>
                </a:tc>
                <a:tc>
                  <a:txBody>
                    <a:bodyPr lIns="54720" tIns="36360" rIns="54720" bIns="36360" anchor="ctr">
                      <a:noAutofit/>
                    </a:bodyPr>
                    <a:p>
                      <a:pPr defTabSz="457200">
                        <a:lnSpc>
                          <a:spcPct val="90000"/>
                        </a:lnSpc>
                      </a:pPr>
                      <a:r>
                        <a:rPr lang="en-US" sz="1070" b="0" u="none" strike="noStrike">
                          <a:solidFill>
                            <a:srgbClr val="4F5B62"/>
                          </a:solidFill>
                          <a:effectLst/>
                          <a:uFillTx/>
                          <a:latin typeface="Calibri"/>
                        </a:rPr>
                        <a:t>12/10</a:t>
                      </a:r>
                      <a:endParaRPr lang="en-IN" sz="107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7F8"/>
                    </a:solidFill>
                  </a:tcPr>
                </a:tc>
                <a:tc>
                  <a:txBody>
                    <a:bodyPr lIns="54720" tIns="36360" rIns="54720" bIns="36360" anchor="ctr">
                      <a:noAutofit/>
                    </a:bodyPr>
                    <a:p>
                      <a:pPr defTabSz="457200">
                        <a:lnSpc>
                          <a:spcPct val="90000"/>
                        </a:lnSpc>
                      </a:pPr>
                      <a:r>
                        <a:rPr lang="en-US" sz="900" b="0" u="none" strike="noStrike">
                          <a:solidFill>
                            <a:srgbClr val="4F5B62"/>
                          </a:solidFill>
                          <a:effectLst/>
                          <a:uFillTx/>
                          <a:latin typeface="Calibri"/>
                        </a:rPr>
                        <a:t>Alternatives comparison</a:t>
                      </a:r>
                      <a:endParaRPr lang="en-IN" sz="90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7F8"/>
                    </a:solidFill>
                  </a:tcPr>
                </a:tc>
              </a:tr>
              <a:tr h="285480">
                <a:tc>
                  <a:txBody>
                    <a:bodyPr lIns="54720" tIns="36360" rIns="54720" bIns="36360" anchor="ctr">
                      <a:noAutofit/>
                    </a:bodyPr>
                    <a:p>
                      <a:pPr defTabSz="457200">
                        <a:lnSpc>
                          <a:spcPct val="90000"/>
                        </a:lnSpc>
                      </a:pPr>
                      <a:r>
                        <a:rPr lang="en-US" sz="900" b="0" u="none" strike="noStrike">
                          <a:solidFill>
                            <a:srgbClr val="4F5B62"/>
                          </a:solidFill>
                          <a:effectLst/>
                          <a:uFillTx/>
                          <a:latin typeface="Calibri"/>
                        </a:rPr>
                        <a:t>Test the three concepts with users; select one based on evidence</a:t>
                      </a:r>
                      <a:endParaRPr lang="en-IN" sz="90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tIns="36360" rIns="54720" bIns="36360" anchor="ctr">
                      <a:noAutofit/>
                    </a:bodyPr>
                    <a:p>
                      <a:pPr defTabSz="457200">
                        <a:lnSpc>
                          <a:spcPct val="90000"/>
                        </a:lnSpc>
                      </a:pPr>
                      <a:r>
                        <a:rPr lang="en-US" sz="1070" b="0" u="none" strike="noStrike">
                          <a:solidFill>
                            <a:srgbClr val="4F5B62"/>
                          </a:solidFill>
                          <a:effectLst/>
                          <a:uFillTx/>
                          <a:latin typeface="Calibri"/>
                        </a:rPr>
                        <a:t>Anas</a:t>
                      </a:r>
                      <a:endParaRPr lang="en-IN" sz="107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tIns="36360" rIns="54720" bIns="36360" anchor="ctr">
                      <a:noAutofit/>
                    </a:bodyPr>
                    <a:p>
                      <a:pPr defTabSz="457200">
                        <a:lnSpc>
                          <a:spcPct val="90000"/>
                        </a:lnSpc>
                      </a:pPr>
                      <a:r>
                        <a:rPr lang="en-US" sz="1070" b="0" u="none" strike="noStrike">
                          <a:solidFill>
                            <a:srgbClr val="4F5B62"/>
                          </a:solidFill>
                          <a:effectLst/>
                          <a:uFillTx/>
                          <a:latin typeface="Calibri"/>
                        </a:rPr>
                        <a:t>15/10</a:t>
                      </a:r>
                      <a:endParaRPr lang="en-IN" sz="107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tIns="36360" rIns="54720" bIns="36360" anchor="ctr">
                      <a:noAutofit/>
                    </a:bodyPr>
                    <a:p>
                      <a:pPr defTabSz="457200">
                        <a:lnSpc>
                          <a:spcPct val="90000"/>
                        </a:lnSpc>
                      </a:pPr>
                      <a:r>
                        <a:rPr lang="en-US" sz="900" b="0" u="none" strike="noStrike">
                          <a:solidFill>
                            <a:srgbClr val="4F5B62"/>
                          </a:solidFill>
                          <a:effectLst/>
                          <a:uFillTx/>
                          <a:latin typeface="Calibri"/>
                        </a:rPr>
                        <a:t>Concept feedback, selection matrix</a:t>
                      </a:r>
                      <a:endParaRPr lang="en-IN" sz="900" b="0" u="none" strike="noStrike">
                        <a:solidFill>
                          <a:srgbClr val="000000"/>
                        </a:solidFill>
                        <a:effectLst/>
                        <a:uFillTx/>
                        <a:latin typeface="Arial"/>
                      </a:endParaRPr>
                    </a:p>
                  </a:txBody>
                  <a:tcPr anchor="ctr" marL="54720" marR="5472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513" name="TextBox 48"/>
          <p:cNvSpPr/>
          <p:nvPr/>
        </p:nvSpPr>
        <p:spPr>
          <a:xfrm>
            <a:off x="530280" y="5870520"/>
            <a:ext cx="11154960" cy="124920"/>
          </a:xfrm>
          <a:prstGeom prst="rect">
            <a:avLst/>
          </a:prstGeom>
          <a:noFill/>
          <a:ln w="0">
            <a:noFill/>
          </a:ln>
        </p:spPr>
        <p:style>
          <a:lnRef idx="0"/>
          <a:fillRef idx="0"/>
          <a:effectRef idx="0"/>
          <a:fontRef idx="minor"/>
        </p:style>
        <p:txBody>
          <a:bodyPr lIns="0" tIns="0" rIns="0" bIns="0" anchor="t">
            <a:spAutoFit/>
          </a:bodyPr>
          <a:p>
            <a:endParaRPr lang="en-IN" sz="1800" b="0" u="none" strike="noStrike">
              <a:solidFill>
                <a:srgbClr val="000000"/>
              </a:solidFill>
              <a:effectLst/>
              <a:uFillTx/>
              <a:latin typeface="Arial"/>
            </a:endParaRPr>
          </a:p>
        </p:txBody>
      </p:sp>
      <p:sp>
        <p:nvSpPr>
          <p:cNvPr id="514" name="TextBox 49"/>
          <p:cNvSpPr/>
          <p:nvPr/>
        </p:nvSpPr>
        <p:spPr>
          <a:xfrm>
            <a:off x="621720" y="6144840"/>
            <a:ext cx="10880640" cy="255240"/>
          </a:xfrm>
          <a:prstGeom prst="rect">
            <a:avLst/>
          </a:prstGeom>
          <a:noFill/>
          <a:ln w="0">
            <a:noFill/>
          </a:ln>
        </p:spPr>
        <p:style>
          <a:lnRef idx="0"/>
          <a:fillRef idx="0"/>
          <a:effectRef idx="0"/>
          <a:fontRef idx="minor"/>
        </p:style>
        <p:txBody>
          <a:bodyPr wrap="none" lIns="18360" tIns="0" rIns="18360" bIns="0" anchor="t">
            <a:spAutoFit/>
          </a:bodyPr>
          <a:p>
            <a:pPr defTabSz="457200">
              <a:lnSpc>
                <a:spcPct val="100000"/>
              </a:lnSpc>
            </a:pPr>
            <a:r>
              <a:rPr lang="en-US" sz="680" b="0" u="none" strike="noStrike">
                <a:solidFill>
                  <a:srgbClr val="6B2E2E"/>
                </a:solidFill>
                <a:effectLst/>
                <a:uFillTx/>
                <a:latin typeface="Aptos"/>
              </a:rPr>
              <a:t>Official assessment and gate decision are completed by reviewers in the separate SoI Assessment Workbook; students do not self-approve.</a:t>
            </a:r>
            <a:endParaRPr lang="en-IN" sz="6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9FE0E13DD1E8D4290B307E444056CF7" ma:contentTypeVersion="0" ma:contentTypeDescription="Create a new document." ma:contentTypeScope="" ma:versionID="172226a31a0962dd1529b2cfd80f211c">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68DB874-7F88-456A-AAA8-C1B5C6ECBEC2}"/>
</file>

<file path=customXml/itemProps2.xml><?xml version="1.0" encoding="utf-8"?>
<ds:datastoreItem xmlns:ds="http://schemas.openxmlformats.org/officeDocument/2006/customXml" ds:itemID="{BB0420EF-CBF3-4C31-AC1F-BE85716BDE87}"/>
</file>

<file path=customXml/itemProps3.xml><?xml version="1.0" encoding="utf-8"?>
<ds:datastoreItem xmlns:ds="http://schemas.openxmlformats.org/officeDocument/2006/customXml" ds:itemID="{D18ED46B-2A55-4866-A9C9-EE6A90BC7064}"/>
</file>

<file path=docProps/app.xml><?xml version="1.0" encoding="utf-8"?>
<Properties xmlns="http://schemas.openxmlformats.org/officeDocument/2006/extended-properties" xmlns:vt="http://schemas.openxmlformats.org/officeDocument/2006/docPropsVTypes">
  <Template/>
  <TotalTime>6</TotalTime>
  <Application>LibreOffice/26.2.6.1$Windows_X86_64 LibreOffice_project/d1ee4fa77ef37aa4cfa80ea6fd156dcae5d60263</Application>
  <AppVersion>15.0000</AppVersion>
  <Words>2174</Words>
  <Paragraphs>307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Thiruvaazhi Uloli</dc:creator>
  <dc:description>generated using python-pptx</dc:description>
  <cp:keywords>SoI AY2026-27 Phase 1 customer validation innovation project</cp:keywords>
  <dc:language>en-IN</dc:language>
  <cp:lastModifiedBy/>
  <dcterms:modified xsi:type="dcterms:W3CDTF">2026-09-30T18:26:32Z</dcterms:modified>
  <cp:revision>4</cp:revision>
  <dc:subject>SoI Innovation Projects AY2026-27 - Phase 1</dc:subject>
  <dc:title>SoI Phase 1 Balanced 11-Slide Template AY2026-27</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0x010100E9FE0E13DD1E8D4290B307E444056CF7</vt:lpwstr>
  </property>
  <property fmtid="{D5CDD505-2E9C-101B-9397-08002B2CF9AE}" pid="3" name="PresentationFormat">
    <vt:lpwstr>Widescreen</vt:lpwstr>
  </property>
  <property fmtid="{D5CDD505-2E9C-101B-9397-08002B2CF9AE}" pid="4" name="Slides">
    <vt:i4>10</vt:i4>
  </property>
</Properties>
</file>